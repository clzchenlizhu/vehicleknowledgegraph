
<file path=[Content_Types].xml><?xml version="1.0" encoding="utf-8"?>
<Types xmlns="http://schemas.openxmlformats.org/package/2006/content-types">
  <Default Extension="png" ContentType="image/png"/>
  <Default Extension="jpeg" ContentType="image/jpeg"/>
  <Default Extension="JPG" ContentType="image/.jp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 id="2147483662" r:id="rId4"/>
    <p:sldMasterId id="2147483664" r:id="rId5"/>
  </p:sldMasterIdLst>
  <p:notesMasterIdLst>
    <p:notesMasterId r:id="rId7"/>
  </p:notesMasterIdLst>
  <p:sldIdLst>
    <p:sldId id="256" r:id="rId6"/>
    <p:sldId id="257" r:id="rId8"/>
    <p:sldId id="258" r:id="rId9"/>
    <p:sldId id="259" r:id="rId10"/>
    <p:sldId id="260" r:id="rId11"/>
    <p:sldId id="261" r:id="rId12"/>
    <p:sldId id="263" r:id="rId13"/>
    <p:sldId id="264" r:id="rId14"/>
    <p:sldId id="265" r:id="rId15"/>
    <p:sldId id="267" r:id="rId16"/>
    <p:sldId id="268" r:id="rId17"/>
    <p:sldId id="269" r:id="rId18"/>
    <p:sldId id="270" r:id="rId19"/>
    <p:sldId id="279" r:id="rId20"/>
    <p:sldId id="271" r:id="rId21"/>
    <p:sldId id="272" r:id="rId22"/>
    <p:sldId id="273" r:id="rId23"/>
    <p:sldId id="274" r:id="rId24"/>
    <p:sldId id="275" r:id="rId25"/>
    <p:sldId id="280" r:id="rId26"/>
    <p:sldId id="277" r:id="rId27"/>
    <p:sldId id="278" r:id="rId2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700" userDrawn="1">
          <p15:clr>
            <a:srgbClr val="747775"/>
          </p15:clr>
        </p15:guide>
        <p15:guide id="2" pos="2884"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700"/>
        <p:guide pos="2884"/>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3.xml"/><Relationship Id="rId8" Type="http://schemas.openxmlformats.org/officeDocument/2006/relationships/slide" Target="slides/slide2.xml"/><Relationship Id="rId7" Type="http://schemas.openxmlformats.org/officeDocument/2006/relationships/notesMaster" Target="notesMasters/notesMaster1.xml"/><Relationship Id="rId6" Type="http://schemas.openxmlformats.org/officeDocument/2006/relationships/slide" Target="slides/slide1.xml"/><Relationship Id="rId5" Type="http://schemas.openxmlformats.org/officeDocument/2006/relationships/slideMaster" Target="slideMasters/slideMaster4.xml"/><Relationship Id="rId4" Type="http://schemas.openxmlformats.org/officeDocument/2006/relationships/slideMaster" Target="slideMasters/slideMaster3.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Master" Target="slideMasters/slideMaster2.xml"/><Relationship Id="rId29" Type="http://schemas.openxmlformats.org/officeDocument/2006/relationships/presProps" Target="presProps.xml"/><Relationship Id="rId28" Type="http://schemas.openxmlformats.org/officeDocument/2006/relationships/slide" Target="slides/slide22.xml"/><Relationship Id="rId27" Type="http://schemas.openxmlformats.org/officeDocument/2006/relationships/slide" Target="slides/slide21.xml"/><Relationship Id="rId26" Type="http://schemas.openxmlformats.org/officeDocument/2006/relationships/slide" Target="slides/slide20.xml"/><Relationship Id="rId25" Type="http://schemas.openxmlformats.org/officeDocument/2006/relationships/slide" Target="slides/slide19.xml"/><Relationship Id="rId24" Type="http://schemas.openxmlformats.org/officeDocument/2006/relationships/slide" Target="slides/slide18.xml"/><Relationship Id="rId23" Type="http://schemas.openxmlformats.org/officeDocument/2006/relationships/slide" Target="slides/slide17.xml"/><Relationship Id="rId22" Type="http://schemas.openxmlformats.org/officeDocument/2006/relationships/slide" Target="slides/slide16.xml"/><Relationship Id="rId21" Type="http://schemas.openxmlformats.org/officeDocument/2006/relationships/slide" Target="slides/slide15.xml"/><Relationship Id="rId20" Type="http://schemas.openxmlformats.org/officeDocument/2006/relationships/slide" Target="slides/slide14.xml"/><Relationship Id="rId2" Type="http://schemas.openxmlformats.org/officeDocument/2006/relationships/theme" Target="theme/theme1.xml"/><Relationship Id="rId19" Type="http://schemas.openxmlformats.org/officeDocument/2006/relationships/slide" Target="slides/slide13.xml"/><Relationship Id="rId18" Type="http://schemas.openxmlformats.org/officeDocument/2006/relationships/slide" Target="slides/slide12.xml"/><Relationship Id="rId17" Type="http://schemas.openxmlformats.org/officeDocument/2006/relationships/slide" Target="slides/slide11.xml"/><Relationship Id="rId16" Type="http://schemas.openxmlformats.org/officeDocument/2006/relationships/slide" Target="slides/slide10.xml"/><Relationship Id="rId15" Type="http://schemas.openxmlformats.org/officeDocument/2006/relationships/slide" Target="slides/slide9.xml"/><Relationship Id="rId14" Type="http://schemas.openxmlformats.org/officeDocument/2006/relationships/slide" Target="slides/slide8.xml"/><Relationship Id="rId13" Type="http://schemas.openxmlformats.org/officeDocument/2006/relationships/slide" Target="slides/slide7.xml"/><Relationship Id="rId12" Type="http://schemas.openxmlformats.org/officeDocument/2006/relationships/slide" Target="slides/slide6.xml"/><Relationship Id="rId11" Type="http://schemas.openxmlformats.org/officeDocument/2006/relationships/slide" Target="slides/slide5.xml"/><Relationship Id="rId10" Type="http://schemas.openxmlformats.org/officeDocument/2006/relationships/slide" Target="slides/slide4.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尊敬的各位评委老师，下午好！我是通信工程专业的陈李柱。我的毕业设计题目是“基于STM32的农业大棚检测系统的设计与实现”。在文乙茹老师的悉心指导下，我完成了本次设计。接下来，我将从研究背景、系统设计、软硬件实现、测试验证和总结展望五个方面，向各位老师汇报我的研究成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答辩将围绕五个核心部分展开。首先，我会介绍本课题的研究背景与意义。其次，阐述系统的总体方案设计。接着，详细说明硬件电路和软件流程的具体设计。然后，展示系统的测试过程与实验结果。最后，对整个课题进行总结，并对未来的改进方向进行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首先，我们进入第一部分：绪论背景。在这一部分，我将阐述为什么要做这个课题，以及它的研究意义和当前的研究现状。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传统的农业大棚管理主要依赖人工巡检，这种方式效率低下且精度不高。而现有的智能监测设备又普遍存在成本高、操作复杂的问题，难以在中小农户中推广。幸运的是，随着嵌入式技术的发展，特别是STM32这类高性能微控制器的普及，为我们开发一款低成本、高可靠性的监测系统提供了可能。</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本课题的研究意义主要体现在三个方面。理论上，它验证了单总线技术在环境监测中的应用。实践上，它为中小农户提供了一个低成本、易操作的解决方案，能够有效提升大棚管理效率。推广意义上，其模块化的设计思想也使其具备了作为教学案例或二次开发基础的潜力。</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目前，国外的农业监测系统功能全面，但价格昂贵，难以适应中国的小农经济模式。反观国内，主流的监测方案多以低成本的“本地屏显”为主，虽然价格亲民，但普遍存在功能单一、无法个性化设置阈值、长期运行稳定性不足以及数据无法回溯等问题。这些市场上的痛点与空白，正是我们本次设计想要重点解决的问题。</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接下来，我们进入第二部分，系统总体方案设计。我将介绍系统需要实现的功能、整体的架构以及关键器件的选型依据。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本系统的核心功能需求包括四个方面：首先是实时采集和显示温湿度数据；其次是支持用户设置并保存报警阈值；再次是在数据越限时能自动发出声光报警；最后是保证整个系统能够长期稳定可靠地运行。</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我们系统的总体架构图。整个系统以STM32F103C8T6为主控核心。输入部分包括DHT11传感器和按键。输出部分包括LCD1602显示屏和蜂鸣器。此外，还有用于驱动蜂鸣器的三极管和电源模块。各模块分工明确，协同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第三部分，我将详细介绍系统的硬件电路设计和软件程序流程。这是整个设计的核心实现部分。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rPr>
              <a:t>硬件设计方面，我们围绕STM32最小系统，设计了温湿度采集、显示、按键和报警等模块的电路。例如，DHT11连接到PA0口，LCD1602通过并行接口连接到PB口。所有电路都集成在这块自制的PCB板上，采用模块化布局，增强了系统的稳定性和抗干扰能力。</a:t>
            </a:r>
            <a:endParaRPr lang="en-US" sz="1200" b="0" i="0" u="none" strike="noStrike">
              <a:solidFill>
                <a:srgbClr val="000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软件方面，我们采用主程序轮询的结构。系统上电后首先进行初始化，然后进入一个循环：采集数据、刷新显示、扫描按键、判断是否越限并报警。这个流程逻辑清晰，确保了系统功能的稳定实现。其中，单总线协议的实现和阈值的Flash读写是软件设计的关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第四部分，我们将通过一系列测试来验证系统的功能和性能。这包括仿真验证、实物测试以及数据分析。</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测试阶段，我们首先通过Proteus仿真验证了系统逻辑的正确性。随后制作了实物，进行上电测试，系统能够正常启动并实时显示数据。最关键的是按键与报警测试，我们设定一个阈值，通过加热传感器成功触发了报警，并且在温度恢复后报警自动解除，证明了系统核心功能的可靠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测试阶段，我们首先通过Proteus仿真验证了系统逻辑的正确性。随后制作了实物，进行上电测试，系统能够正常启动并实时显示数据。最关键的是按键与报警测试，我们设定一个阈值，通过加热传感器成功触发了报警，并且在温度恢复后报警自动解除，证明了系统核心功能的可靠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评估系统的精度，我们进行了对比实验。结果显示，系统测量的温度最大偏差仅为±0.2℃，湿度为±0.5%RH，这远优于传感器手册的标称精度。这表明我们的软硬件设计具有良好的稳定性和准确性，完全满足农业大棚监测的需求。</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最后，我们对整个课题进行总结，并对未来的改进方向进行展望。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总结来说，本次设计成功实现了预定的所有核心功能，包括数据采集、显示、阈值设置、掉电保存和报警。系统运行稳定，精度优于预期，最终达成了低成本、易操作的设计目标。</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本设计的亮点在于实现了实用的掉电存储功能，并且实测精度很高，同时保持了高性价比。当然，也存在一些不足，比如目前还仅限于本地监控，缺少远程访问和历史数据回溯功能，这也是未来需要改进的方向。</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展望未来，我们可以从三个方面对系统进行升级。一是功能升级，比如更换更高精度的传感器和引入操作系统。二是联网扩展，集成Wi-Fi模块，实现远程监控。三是开发手机APP，提供更便捷的交互方式。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在此，我要衷心感谢我的指导老师文乙茹讲师，感谢学院提供的实验平台，也感谢同学们的帮助。没有你们的支持，我无法顺利完成这次设计。</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我的汇报到此结束。恳请各位评委老师批评指正。谢谢大家！</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3"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5"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2.xml"/><Relationship Id="rId12" Type="http://schemas.openxmlformats.org/officeDocument/2006/relationships/slideLayout" Target="../slideLayouts/slideLayout12.xml"/><Relationship Id="rId11" Type="http://schemas.openxmlformats.org/officeDocument/2006/relationships/image" Target="../media/image2.png"/><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3.png"/></Relationships>
</file>

<file path=ppt/slides/_rels/slide8.xml.rels><?xml version="1.0" encoding="UTF-8" standalone="yes"?>
<Relationships xmlns="http://schemas.openxmlformats.org/package/2006/relationships"><Relationship Id="rId9" Type="http://schemas.openxmlformats.org/officeDocument/2006/relationships/tags" Target="../tags/tag19.xml"/><Relationship Id="rId8" Type="http://schemas.openxmlformats.org/officeDocument/2006/relationships/tags" Target="../tags/tag18.xml"/><Relationship Id="rId7" Type="http://schemas.openxmlformats.org/officeDocument/2006/relationships/tags" Target="../tags/tag17.xml"/><Relationship Id="rId6" Type="http://schemas.openxmlformats.org/officeDocument/2006/relationships/tags" Target="../tags/tag16.xml"/><Relationship Id="rId5" Type="http://schemas.openxmlformats.org/officeDocument/2006/relationships/tags" Target="../tags/tag15.xml"/><Relationship Id="rId4" Type="http://schemas.openxmlformats.org/officeDocument/2006/relationships/tags" Target="../tags/tag14.xml"/><Relationship Id="rId3" Type="http://schemas.openxmlformats.org/officeDocument/2006/relationships/tags" Target="../tags/tag13.xml"/><Relationship Id="rId2" Type="http://schemas.openxmlformats.org/officeDocument/2006/relationships/tags" Target="../tags/tag12.xml"/><Relationship Id="rId15" Type="http://schemas.openxmlformats.org/officeDocument/2006/relationships/notesSlide" Target="../notesSlides/notesSlide8.xml"/><Relationship Id="rId14" Type="http://schemas.openxmlformats.org/officeDocument/2006/relationships/slideLayout" Target="../slideLayouts/slideLayout12.xml"/><Relationship Id="rId13" Type="http://schemas.openxmlformats.org/officeDocument/2006/relationships/image" Target="../media/image2.png"/><Relationship Id="rId12" Type="http://schemas.openxmlformats.org/officeDocument/2006/relationships/tags" Target="../tags/tag22.xml"/><Relationship Id="rId11" Type="http://schemas.openxmlformats.org/officeDocument/2006/relationships/tags" Target="../tags/tag21.xml"/><Relationship Id="rId10" Type="http://schemas.openxmlformats.org/officeDocument/2006/relationships/tags" Target="../tags/tag20.xml"/><Relationship Id="rId1" Type="http://schemas.openxmlformats.org/officeDocument/2006/relationships/tags" Target="../tags/tag11.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image" Target="../media/image2.png"/><Relationship Id="rId3" Type="http://schemas.openxmlformats.org/officeDocument/2006/relationships/tags" Target="../tags/tag25.xml"/><Relationship Id="rId2" Type="http://schemas.openxmlformats.org/officeDocument/2006/relationships/tags" Target="../tags/tag24.xml"/><Relationship Id="rId1" Type="http://schemas.openxmlformats.org/officeDocument/2006/relationships/tags" Target="../tags/tag23.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9" Type="http://schemas.openxmlformats.org/officeDocument/2006/relationships/tags" Target="../tags/tag36.xml"/><Relationship Id="rId8" Type="http://schemas.openxmlformats.org/officeDocument/2006/relationships/tags" Target="../tags/tag35.xml"/><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4" Type="http://schemas.openxmlformats.org/officeDocument/2006/relationships/notesSlide" Target="../notesSlides/notesSlide11.xml"/><Relationship Id="rId13" Type="http://schemas.openxmlformats.org/officeDocument/2006/relationships/slideLayout" Target="../slideLayouts/slideLayout12.xml"/><Relationship Id="rId12" Type="http://schemas.openxmlformats.org/officeDocument/2006/relationships/image" Target="../media/image4.emf"/><Relationship Id="rId11" Type="http://schemas.openxmlformats.org/officeDocument/2006/relationships/tags" Target="../tags/tag37.xml"/><Relationship Id="rId10" Type="http://schemas.openxmlformats.org/officeDocument/2006/relationships/image" Target="../media/image2.png"/><Relationship Id="rId1" Type="http://schemas.openxmlformats.org/officeDocument/2006/relationships/tags" Target="../tags/tag28.xml"/></Relationships>
</file>

<file path=ppt/slides/_rels/slide12.xml.rels><?xml version="1.0" encoding="UTF-8" standalone="yes"?>
<Relationships xmlns="http://schemas.openxmlformats.org/package/2006/relationships"><Relationship Id="rId9" Type="http://schemas.openxmlformats.org/officeDocument/2006/relationships/tags" Target="../tags/tag46.xml"/><Relationship Id="rId8" Type="http://schemas.openxmlformats.org/officeDocument/2006/relationships/tags" Target="../tags/tag45.xml"/><Relationship Id="rId7" Type="http://schemas.openxmlformats.org/officeDocument/2006/relationships/tags" Target="../tags/tag44.xml"/><Relationship Id="rId6" Type="http://schemas.openxmlformats.org/officeDocument/2006/relationships/tags" Target="../tags/tag43.xml"/><Relationship Id="rId5" Type="http://schemas.openxmlformats.org/officeDocument/2006/relationships/tags" Target="../tags/tag42.xml"/><Relationship Id="rId4" Type="http://schemas.openxmlformats.org/officeDocument/2006/relationships/tags" Target="../tags/tag41.xml"/><Relationship Id="rId3" Type="http://schemas.openxmlformats.org/officeDocument/2006/relationships/tags" Target="../tags/tag40.xml"/><Relationship Id="rId23" Type="http://schemas.openxmlformats.org/officeDocument/2006/relationships/notesSlide" Target="../notesSlides/notesSlide12.xml"/><Relationship Id="rId22" Type="http://schemas.openxmlformats.org/officeDocument/2006/relationships/slideLayout" Target="../slideLayouts/slideLayout12.xml"/><Relationship Id="rId21" Type="http://schemas.openxmlformats.org/officeDocument/2006/relationships/image" Target="../media/image2.png"/><Relationship Id="rId20" Type="http://schemas.openxmlformats.org/officeDocument/2006/relationships/tags" Target="../tags/tag57.xml"/><Relationship Id="rId2" Type="http://schemas.openxmlformats.org/officeDocument/2006/relationships/tags" Target="../tags/tag39.xml"/><Relationship Id="rId19" Type="http://schemas.openxmlformats.org/officeDocument/2006/relationships/tags" Target="../tags/tag56.xml"/><Relationship Id="rId18" Type="http://schemas.openxmlformats.org/officeDocument/2006/relationships/tags" Target="../tags/tag55.xml"/><Relationship Id="rId17" Type="http://schemas.openxmlformats.org/officeDocument/2006/relationships/tags" Target="../tags/tag54.xml"/><Relationship Id="rId16" Type="http://schemas.openxmlformats.org/officeDocument/2006/relationships/tags" Target="../tags/tag53.xml"/><Relationship Id="rId15" Type="http://schemas.openxmlformats.org/officeDocument/2006/relationships/tags" Target="../tags/tag52.xml"/><Relationship Id="rId14" Type="http://schemas.openxmlformats.org/officeDocument/2006/relationships/tags" Target="../tags/tag51.xml"/><Relationship Id="rId13" Type="http://schemas.openxmlformats.org/officeDocument/2006/relationships/tags" Target="../tags/tag50.xml"/><Relationship Id="rId12" Type="http://schemas.openxmlformats.org/officeDocument/2006/relationships/tags" Target="../tags/tag49.xml"/><Relationship Id="rId11" Type="http://schemas.openxmlformats.org/officeDocument/2006/relationships/tags" Target="../tags/tag48.xml"/><Relationship Id="rId10" Type="http://schemas.openxmlformats.org/officeDocument/2006/relationships/tags" Target="../tags/tag47.xml"/><Relationship Id="rId1" Type="http://schemas.openxmlformats.org/officeDocument/2006/relationships/tags" Target="../tags/tag38.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14.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tags" Target="../tags/tag59.xml"/><Relationship Id="rId2" Type="http://schemas.openxmlformats.org/officeDocument/2006/relationships/tags" Target="../tags/tag58.xml"/><Relationship Id="rId19" Type="http://schemas.openxmlformats.org/officeDocument/2006/relationships/notesSlide" Target="../notesSlides/notesSlide14.xml"/><Relationship Id="rId18" Type="http://schemas.openxmlformats.org/officeDocument/2006/relationships/slideLayout" Target="../slideLayouts/slideLayout13.xml"/><Relationship Id="rId17" Type="http://schemas.openxmlformats.org/officeDocument/2006/relationships/image" Target="../media/image12.jpeg"/><Relationship Id="rId16" Type="http://schemas.openxmlformats.org/officeDocument/2006/relationships/image" Target="../media/image11.png"/><Relationship Id="rId15" Type="http://schemas.openxmlformats.org/officeDocument/2006/relationships/image" Target="../media/image10.svg"/><Relationship Id="rId14" Type="http://schemas.openxmlformats.org/officeDocument/2006/relationships/image" Target="../media/image9.png"/><Relationship Id="rId13" Type="http://schemas.openxmlformats.org/officeDocument/2006/relationships/tags" Target="../tags/tag65.xml"/><Relationship Id="rId12" Type="http://schemas.openxmlformats.org/officeDocument/2006/relationships/tags" Target="../tags/tag64.xml"/><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9" Type="http://schemas.openxmlformats.org/officeDocument/2006/relationships/image" Target="../media/image20.svg"/><Relationship Id="rId8" Type="http://schemas.openxmlformats.org/officeDocument/2006/relationships/image" Target="../media/image19.png"/><Relationship Id="rId7" Type="http://schemas.openxmlformats.org/officeDocument/2006/relationships/image" Target="../media/image18.svg"/><Relationship Id="rId6" Type="http://schemas.openxmlformats.org/officeDocument/2006/relationships/image" Target="../media/image17.png"/><Relationship Id="rId5" Type="http://schemas.openxmlformats.org/officeDocument/2006/relationships/image" Target="../media/image16.svg"/><Relationship Id="rId4" Type="http://schemas.openxmlformats.org/officeDocument/2006/relationships/image" Target="../media/image15.png"/><Relationship Id="rId3" Type="http://schemas.openxmlformats.org/officeDocument/2006/relationships/image" Target="../media/image14.svg"/><Relationship Id="rId2" Type="http://schemas.openxmlformats.org/officeDocument/2006/relationships/image" Target="../media/image13.png"/><Relationship Id="rId14" Type="http://schemas.openxmlformats.org/officeDocument/2006/relationships/notesSlide" Target="../notesSlides/notesSlide15.xml"/><Relationship Id="rId13" Type="http://schemas.openxmlformats.org/officeDocument/2006/relationships/slideLayout" Target="../slideLayouts/slideLayout12.xml"/><Relationship Id="rId12" Type="http://schemas.openxmlformats.org/officeDocument/2006/relationships/tags" Target="../tags/tag66.xml"/><Relationship Id="rId11" Type="http://schemas.openxmlformats.org/officeDocument/2006/relationships/image" Target="../media/image22.svg"/><Relationship Id="rId10" Type="http://schemas.openxmlformats.org/officeDocument/2006/relationships/image" Target="../media/image21.png"/><Relationship Id="rId1" Type="http://schemas.openxmlformats.org/officeDocument/2006/relationships/image" Target="../media/image2.png"/></Relationships>
</file>

<file path=ppt/slides/_rels/slide16.xml.rels><?xml version="1.0" encoding="UTF-8" standalone="yes"?>
<Relationships xmlns="http://schemas.openxmlformats.org/package/2006/relationships"><Relationship Id="rId9" Type="http://schemas.openxmlformats.org/officeDocument/2006/relationships/image" Target="../media/image25.png"/><Relationship Id="rId8" Type="http://schemas.openxmlformats.org/officeDocument/2006/relationships/tags" Target="../tags/tag71.xml"/><Relationship Id="rId7" Type="http://schemas.openxmlformats.org/officeDocument/2006/relationships/tags" Target="../tags/tag70.xml"/><Relationship Id="rId6" Type="http://schemas.openxmlformats.org/officeDocument/2006/relationships/tags" Target="../tags/tag69.xml"/><Relationship Id="rId5" Type="http://schemas.openxmlformats.org/officeDocument/2006/relationships/image" Target="../media/image24.svg"/><Relationship Id="rId4" Type="http://schemas.openxmlformats.org/officeDocument/2006/relationships/image" Target="../media/image23.png"/><Relationship Id="rId3" Type="http://schemas.openxmlformats.org/officeDocument/2006/relationships/tags" Target="../tags/tag68.xml"/><Relationship Id="rId2" Type="http://schemas.openxmlformats.org/officeDocument/2006/relationships/tags" Target="../tags/tag67.xml"/><Relationship Id="rId18" Type="http://schemas.openxmlformats.org/officeDocument/2006/relationships/notesSlide" Target="../notesSlides/notesSlide16.xml"/><Relationship Id="rId17" Type="http://schemas.openxmlformats.org/officeDocument/2006/relationships/slideLayout" Target="../slideLayouts/slideLayout12.xml"/><Relationship Id="rId16" Type="http://schemas.openxmlformats.org/officeDocument/2006/relationships/tags" Target="../tags/tag75.xml"/><Relationship Id="rId15" Type="http://schemas.openxmlformats.org/officeDocument/2006/relationships/image" Target="../media/image28.svg"/><Relationship Id="rId14" Type="http://schemas.openxmlformats.org/officeDocument/2006/relationships/image" Target="../media/image27.png"/><Relationship Id="rId13" Type="http://schemas.openxmlformats.org/officeDocument/2006/relationships/tags" Target="../tags/tag74.xml"/><Relationship Id="rId12" Type="http://schemas.openxmlformats.org/officeDocument/2006/relationships/tags" Target="../tags/tag73.xml"/><Relationship Id="rId11" Type="http://schemas.openxmlformats.org/officeDocument/2006/relationships/tags" Target="../tags/tag72.xml"/><Relationship Id="rId10" Type="http://schemas.openxmlformats.org/officeDocument/2006/relationships/image" Target="../media/image26.svg"/><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2.xml"/><Relationship Id="rId2" Type="http://schemas.openxmlformats.org/officeDocument/2006/relationships/image" Target="../media/image3.png"/><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20.xml.rels><?xml version="1.0" encoding="UTF-8" standalone="yes"?>
<Relationships xmlns="http://schemas.openxmlformats.org/package/2006/relationships"><Relationship Id="rId9" Type="http://schemas.openxmlformats.org/officeDocument/2006/relationships/tags" Target="../tags/tag83.xml"/><Relationship Id="rId8" Type="http://schemas.openxmlformats.org/officeDocument/2006/relationships/tags" Target="../tags/tag82.xml"/><Relationship Id="rId7" Type="http://schemas.openxmlformats.org/officeDocument/2006/relationships/tags" Target="../tags/tag81.xml"/><Relationship Id="rId6" Type="http://schemas.openxmlformats.org/officeDocument/2006/relationships/tags" Target="../tags/tag80.xml"/><Relationship Id="rId5" Type="http://schemas.openxmlformats.org/officeDocument/2006/relationships/tags" Target="../tags/tag79.xml"/><Relationship Id="rId4" Type="http://schemas.openxmlformats.org/officeDocument/2006/relationships/tags" Target="../tags/tag78.xml"/><Relationship Id="rId3" Type="http://schemas.openxmlformats.org/officeDocument/2006/relationships/tags" Target="../tags/tag77.xml"/><Relationship Id="rId20" Type="http://schemas.openxmlformats.org/officeDocument/2006/relationships/notesSlide" Target="../notesSlides/notesSlide20.xml"/><Relationship Id="rId2" Type="http://schemas.openxmlformats.org/officeDocument/2006/relationships/tags" Target="../tags/tag76.xml"/><Relationship Id="rId19" Type="http://schemas.openxmlformats.org/officeDocument/2006/relationships/slideLayout" Target="../slideLayouts/slideLayout14.xml"/><Relationship Id="rId18" Type="http://schemas.openxmlformats.org/officeDocument/2006/relationships/tags" Target="../tags/tag92.xml"/><Relationship Id="rId17" Type="http://schemas.openxmlformats.org/officeDocument/2006/relationships/tags" Target="../tags/tag91.xml"/><Relationship Id="rId16" Type="http://schemas.openxmlformats.org/officeDocument/2006/relationships/tags" Target="../tags/tag90.xml"/><Relationship Id="rId15" Type="http://schemas.openxmlformats.org/officeDocument/2006/relationships/tags" Target="../tags/tag89.xml"/><Relationship Id="rId14" Type="http://schemas.openxmlformats.org/officeDocument/2006/relationships/tags" Target="../tags/tag88.xml"/><Relationship Id="rId13" Type="http://schemas.openxmlformats.org/officeDocument/2006/relationships/tags" Target="../tags/tag87.xml"/><Relationship Id="rId12" Type="http://schemas.openxmlformats.org/officeDocument/2006/relationships/tags" Target="../tags/tag86.xml"/><Relationship Id="rId11" Type="http://schemas.openxmlformats.org/officeDocument/2006/relationships/tags" Target="../tags/tag85.xml"/><Relationship Id="rId10" Type="http://schemas.openxmlformats.org/officeDocument/2006/relationships/tags" Target="../tags/tag84.xml"/><Relationship Id="rId1"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2.xml"/><Relationship Id="rId2" Type="http://schemas.openxmlformats.org/officeDocument/2006/relationships/image" Target="../media/image2.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l="52173"/>
          <a:stretch>
            <a:fillRect/>
          </a:stretch>
        </p:blipFill>
        <p:spPr>
          <a:xfrm rot="-5400000" flipV="1">
            <a:off x="6019800" y="-3035300"/>
            <a:ext cx="139700" cy="10452100"/>
          </a:xfrm>
          <a:prstGeom prst="rect">
            <a:avLst/>
          </a:prstGeom>
          <a:noFill/>
          <a:ln w="25400" cap="flat" cmpd="sng">
            <a:noFill/>
            <a:prstDash val="solid"/>
            <a:round/>
          </a:ln>
        </p:spPr>
      </p:pic>
      <p:pic>
        <p:nvPicPr>
          <p:cNvPr id="4" name="Picture 4"/>
          <p:cNvPicPr>
            <a:picLocks noChangeAspect="1"/>
          </p:cNvPicPr>
          <p:nvPr/>
        </p:nvPicPr>
        <p:blipFill>
          <a:blip r:embed="rId1"/>
          <a:srcRect r="52173"/>
          <a:stretch>
            <a:fillRect/>
          </a:stretch>
        </p:blipFill>
        <p:spPr>
          <a:xfrm rot="5400000">
            <a:off x="6019800" y="-127000"/>
            <a:ext cx="139700" cy="10452100"/>
          </a:xfrm>
          <a:prstGeom prst="rect">
            <a:avLst/>
          </a:prstGeom>
          <a:noFill/>
          <a:ln w="25400" cap="flat" cmpd="sng">
            <a:noFill/>
            <a:prstDash val="solid"/>
            <a:round/>
          </a:ln>
        </p:spPr>
      </p:pic>
      <p:sp>
        <p:nvSpPr>
          <p:cNvPr id="5" name="AutoShape 5"/>
          <p:cNvSpPr/>
          <p:nvPr/>
        </p:nvSpPr>
        <p:spPr>
          <a:xfrm>
            <a:off x="0" y="2209800"/>
            <a:ext cx="12192000" cy="28575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667000"/>
            <a:ext cx="10160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基于STM32的农业大棚检测系统的设计与实现</a:t>
            </a:r>
            <a:endParaRPr lang="en-US" sz="1100"/>
          </a:p>
        </p:txBody>
      </p:sp>
      <p:sp>
        <p:nvSpPr>
          <p:cNvPr id="7" name="AutoShape 7"/>
          <p:cNvSpPr/>
          <p:nvPr/>
        </p:nvSpPr>
        <p:spPr>
          <a:xfrm>
            <a:off x="1016000" y="4064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F2F2F2"/>
                </a:solidFill>
                <a:latin typeface="微软雅黑" panose="020B0503020204020204" charset="-122"/>
                <a:ea typeface="微软雅黑" panose="020B0503020204020204" charset="-122"/>
                <a:cs typeface="微软雅黑" panose="020B0503020204020204" charset="-122"/>
                <a:sym typeface="微软雅黑" panose="020B0503020204020204" charset="-122"/>
              </a:rPr>
              <a:t>电子信息与光电技术学院 | 通信工程</a:t>
            </a:r>
            <a:endParaRPr lang="en-US" sz="1100"/>
          </a:p>
        </p:txBody>
      </p:sp>
      <p:sp>
        <p:nvSpPr>
          <p:cNvPr id="8" name="Freeform 8"/>
          <p:cNvSpPr/>
          <p:nvPr/>
        </p:nvSpPr>
        <p:spPr>
          <a:xfrm>
            <a:off x="3556000" y="5588000"/>
            <a:ext cx="462900" cy="466244"/>
          </a:xfrm>
          <a:custGeom>
            <a:avLst/>
            <a:gdLst/>
            <a:ahLst/>
            <a:cxnLst/>
            <a:rect l="l" t="t" r="r" b="b"/>
            <a:pathLst>
              <a:path w="462900" h="466244">
                <a:moveTo>
                  <a:pt x="338470" y="237501"/>
                </a:moveTo>
                <a:lnTo>
                  <a:pt x="338470" y="174648"/>
                </a:lnTo>
                <a:cubicBezTo>
                  <a:pt x="338470" y="156616"/>
                  <a:pt x="309795" y="156616"/>
                  <a:pt x="309795" y="174648"/>
                </a:cubicBezTo>
                <a:lnTo>
                  <a:pt x="309795" y="237501"/>
                </a:lnTo>
                <a:cubicBezTo>
                  <a:pt x="309795" y="279747"/>
                  <a:pt x="275487" y="314264"/>
                  <a:pt x="233498" y="314264"/>
                </a:cubicBezTo>
                <a:cubicBezTo>
                  <a:pt x="232987" y="314264"/>
                  <a:pt x="232474" y="314264"/>
                  <a:pt x="231962" y="314264"/>
                </a:cubicBezTo>
                <a:lnTo>
                  <a:pt x="231450" y="314264"/>
                </a:lnTo>
                <a:lnTo>
                  <a:pt x="230938" y="314264"/>
                </a:lnTo>
                <a:cubicBezTo>
                  <a:pt x="230426" y="314264"/>
                  <a:pt x="229914" y="314264"/>
                  <a:pt x="229401" y="314264"/>
                </a:cubicBezTo>
                <a:cubicBezTo>
                  <a:pt x="187413" y="314264"/>
                  <a:pt x="153105" y="279747"/>
                  <a:pt x="153105" y="237501"/>
                </a:cubicBezTo>
                <a:lnTo>
                  <a:pt x="153105" y="174648"/>
                </a:lnTo>
                <a:cubicBezTo>
                  <a:pt x="153105" y="156616"/>
                  <a:pt x="124943" y="156616"/>
                  <a:pt x="124943" y="174648"/>
                </a:cubicBezTo>
                <a:cubicBezTo>
                  <a:pt x="124943" y="182891"/>
                  <a:pt x="124943" y="237501"/>
                  <a:pt x="124943" y="237501"/>
                </a:cubicBezTo>
                <a:cubicBezTo>
                  <a:pt x="124943" y="290566"/>
                  <a:pt x="163858" y="334871"/>
                  <a:pt x="214553" y="342083"/>
                </a:cubicBezTo>
                <a:lnTo>
                  <a:pt x="214553" y="387420"/>
                </a:lnTo>
                <a:lnTo>
                  <a:pt x="151056" y="405453"/>
                </a:lnTo>
                <a:lnTo>
                  <a:pt x="312355" y="405453"/>
                </a:lnTo>
                <a:lnTo>
                  <a:pt x="247835" y="386906"/>
                </a:lnTo>
                <a:lnTo>
                  <a:pt x="247835" y="342083"/>
                </a:lnTo>
                <a:cubicBezTo>
                  <a:pt x="299042" y="334871"/>
                  <a:pt x="338470" y="290566"/>
                  <a:pt x="338470" y="237501"/>
                </a:cubicBezTo>
                <a:close/>
                <a:moveTo>
                  <a:pt x="230426" y="287475"/>
                </a:moveTo>
                <a:cubicBezTo>
                  <a:pt x="230938" y="287475"/>
                  <a:pt x="230938" y="287475"/>
                  <a:pt x="231450" y="287475"/>
                </a:cubicBezTo>
                <a:cubicBezTo>
                  <a:pt x="231962" y="287475"/>
                  <a:pt x="231962" y="287475"/>
                  <a:pt x="232474" y="287475"/>
                </a:cubicBezTo>
                <a:cubicBezTo>
                  <a:pt x="260637" y="287475"/>
                  <a:pt x="283680" y="264806"/>
                  <a:pt x="283680" y="236470"/>
                </a:cubicBezTo>
                <a:lnTo>
                  <a:pt x="283680" y="112311"/>
                </a:lnTo>
                <a:cubicBezTo>
                  <a:pt x="283680" y="83975"/>
                  <a:pt x="260637" y="60792"/>
                  <a:pt x="232474" y="60792"/>
                </a:cubicBezTo>
                <a:cubicBezTo>
                  <a:pt x="231962" y="60792"/>
                  <a:pt x="231962" y="60792"/>
                  <a:pt x="231450" y="60792"/>
                </a:cubicBezTo>
                <a:cubicBezTo>
                  <a:pt x="231450" y="60792"/>
                  <a:pt x="230938" y="60792"/>
                  <a:pt x="230426" y="60792"/>
                </a:cubicBezTo>
                <a:cubicBezTo>
                  <a:pt x="202263" y="60792"/>
                  <a:pt x="179732" y="83975"/>
                  <a:pt x="179732" y="112311"/>
                </a:cubicBezTo>
                <a:lnTo>
                  <a:pt x="179732" y="236470"/>
                </a:lnTo>
                <a:cubicBezTo>
                  <a:pt x="179732" y="264806"/>
                  <a:pt x="202263" y="287475"/>
                  <a:pt x="230426" y="287475"/>
                </a:cubicBezTo>
                <a:close/>
                <a:moveTo>
                  <a:pt x="231450" y="0"/>
                </a:moveTo>
                <a:cubicBezTo>
                  <a:pt x="359465" y="0"/>
                  <a:pt x="462900" y="104583"/>
                  <a:pt x="462900" y="233379"/>
                </a:cubicBezTo>
                <a:cubicBezTo>
                  <a:pt x="462900" y="361662"/>
                  <a:pt x="359465" y="466244"/>
                  <a:pt x="231450" y="466244"/>
                </a:cubicBezTo>
                <a:cubicBezTo>
                  <a:pt x="103435" y="466244"/>
                  <a:pt x="0" y="361662"/>
                  <a:pt x="0" y="233379"/>
                </a:cubicBezTo>
                <a:cubicBezTo>
                  <a:pt x="0" y="104583"/>
                  <a:pt x="103435" y="0"/>
                  <a:pt x="231450" y="0"/>
                </a:cubicBezTo>
                <a:close/>
              </a:path>
            </a:pathLst>
          </a:cu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4191000" y="5562600"/>
            <a:ext cx="2286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答辩人：</a:t>
            </a:r>
            <a:r>
              <a:rPr lang="en-US" sz="18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陈李柱</a:t>
            </a:r>
            <a:endParaRPr lang="en-US" sz="1100"/>
          </a:p>
        </p:txBody>
      </p:sp>
      <p:sp>
        <p:nvSpPr>
          <p:cNvPr id="10" name="Freeform 10"/>
          <p:cNvSpPr/>
          <p:nvPr/>
        </p:nvSpPr>
        <p:spPr>
          <a:xfrm>
            <a:off x="6604000" y="5588000"/>
            <a:ext cx="464288" cy="466246"/>
          </a:xfrm>
          <a:custGeom>
            <a:avLst/>
            <a:gdLst/>
            <a:ahLst/>
            <a:cxnLst/>
            <a:rect l="l" t="t" r="r" b="b"/>
            <a:pathLst>
              <a:path w="464288" h="466246">
                <a:moveTo>
                  <a:pt x="232145" y="0"/>
                </a:moveTo>
                <a:cubicBezTo>
                  <a:pt x="359768" y="0"/>
                  <a:pt x="464288" y="103856"/>
                  <a:pt x="464288" y="233122"/>
                </a:cubicBezTo>
                <a:cubicBezTo>
                  <a:pt x="464288" y="361286"/>
                  <a:pt x="359768" y="466246"/>
                  <a:pt x="232145" y="466246"/>
                </a:cubicBezTo>
                <a:cubicBezTo>
                  <a:pt x="103420" y="466246"/>
                  <a:pt x="0" y="361286"/>
                  <a:pt x="0" y="233122"/>
                </a:cubicBezTo>
                <a:cubicBezTo>
                  <a:pt x="0" y="103856"/>
                  <a:pt x="103420" y="0"/>
                  <a:pt x="232145" y="0"/>
                </a:cubicBezTo>
                <a:close/>
                <a:moveTo>
                  <a:pt x="374071" y="129267"/>
                </a:moveTo>
                <a:cubicBezTo>
                  <a:pt x="375171" y="129267"/>
                  <a:pt x="377372" y="130372"/>
                  <a:pt x="378471" y="131477"/>
                </a:cubicBezTo>
                <a:cubicBezTo>
                  <a:pt x="379573" y="132582"/>
                  <a:pt x="379573" y="133687"/>
                  <a:pt x="379573" y="135896"/>
                </a:cubicBezTo>
                <a:lnTo>
                  <a:pt x="379573" y="245276"/>
                </a:lnTo>
                <a:cubicBezTo>
                  <a:pt x="379573" y="246381"/>
                  <a:pt x="379573" y="248591"/>
                  <a:pt x="378471" y="249696"/>
                </a:cubicBezTo>
                <a:lnTo>
                  <a:pt x="378471" y="249696"/>
                </a:lnTo>
                <a:cubicBezTo>
                  <a:pt x="377372" y="250801"/>
                  <a:pt x="375171" y="250801"/>
                  <a:pt x="374071" y="250801"/>
                </a:cubicBezTo>
                <a:lnTo>
                  <a:pt x="242045" y="250801"/>
                </a:lnTo>
                <a:cubicBezTo>
                  <a:pt x="240946" y="250801"/>
                  <a:pt x="239846" y="250801"/>
                  <a:pt x="238745" y="249696"/>
                </a:cubicBezTo>
                <a:lnTo>
                  <a:pt x="238745" y="249696"/>
                </a:lnTo>
                <a:cubicBezTo>
                  <a:pt x="237645" y="248591"/>
                  <a:pt x="236545" y="246381"/>
                  <a:pt x="236545" y="245276"/>
                </a:cubicBezTo>
                <a:lnTo>
                  <a:pt x="236545" y="197768"/>
                </a:lnTo>
                <a:lnTo>
                  <a:pt x="314659" y="181195"/>
                </a:lnTo>
                <a:lnTo>
                  <a:pt x="314659" y="178985"/>
                </a:lnTo>
                <a:lnTo>
                  <a:pt x="236545" y="188929"/>
                </a:lnTo>
                <a:lnTo>
                  <a:pt x="236545" y="135896"/>
                </a:lnTo>
                <a:cubicBezTo>
                  <a:pt x="236545" y="133687"/>
                  <a:pt x="237645" y="132582"/>
                  <a:pt x="238745" y="131477"/>
                </a:cubicBezTo>
                <a:lnTo>
                  <a:pt x="238745" y="131477"/>
                </a:lnTo>
                <a:cubicBezTo>
                  <a:pt x="239846" y="130372"/>
                  <a:pt x="240946" y="129267"/>
                  <a:pt x="242045" y="129267"/>
                </a:cubicBezTo>
                <a:lnTo>
                  <a:pt x="374071" y="129267"/>
                </a:lnTo>
                <a:close/>
                <a:moveTo>
                  <a:pt x="242045" y="106065"/>
                </a:moveTo>
                <a:cubicBezTo>
                  <a:pt x="234344" y="106065"/>
                  <a:pt x="226643" y="109380"/>
                  <a:pt x="222242" y="114905"/>
                </a:cubicBezTo>
                <a:lnTo>
                  <a:pt x="222242" y="114905"/>
                </a:lnTo>
                <a:cubicBezTo>
                  <a:pt x="216741" y="120429"/>
                  <a:pt x="213440" y="127057"/>
                  <a:pt x="213440" y="135896"/>
                </a:cubicBezTo>
                <a:lnTo>
                  <a:pt x="213440" y="192244"/>
                </a:lnTo>
                <a:lnTo>
                  <a:pt x="204639" y="193349"/>
                </a:lnTo>
                <a:lnTo>
                  <a:pt x="204639" y="183405"/>
                </a:lnTo>
                <a:lnTo>
                  <a:pt x="178234" y="183405"/>
                </a:lnTo>
                <a:lnTo>
                  <a:pt x="150729" y="166832"/>
                </a:lnTo>
                <a:lnTo>
                  <a:pt x="84717" y="166832"/>
                </a:lnTo>
                <a:cubicBezTo>
                  <a:pt x="70414" y="166832"/>
                  <a:pt x="59412" y="177880"/>
                  <a:pt x="59412" y="191139"/>
                </a:cubicBezTo>
                <a:lnTo>
                  <a:pt x="59412" y="268478"/>
                </a:lnTo>
                <a:lnTo>
                  <a:pt x="84717" y="268478"/>
                </a:lnTo>
                <a:lnTo>
                  <a:pt x="84717" y="212131"/>
                </a:lnTo>
                <a:lnTo>
                  <a:pt x="89117" y="212131"/>
                </a:lnTo>
                <a:lnTo>
                  <a:pt x="89117" y="268478"/>
                </a:lnTo>
                <a:lnTo>
                  <a:pt x="89117" y="282842"/>
                </a:lnTo>
                <a:lnTo>
                  <a:pt x="89117" y="386697"/>
                </a:lnTo>
                <a:lnTo>
                  <a:pt x="116622" y="386697"/>
                </a:lnTo>
                <a:lnTo>
                  <a:pt x="116622" y="300519"/>
                </a:lnTo>
                <a:lnTo>
                  <a:pt x="123223" y="300519"/>
                </a:lnTo>
                <a:lnTo>
                  <a:pt x="123223" y="386697"/>
                </a:lnTo>
                <a:lnTo>
                  <a:pt x="150729" y="386697"/>
                </a:lnTo>
                <a:lnTo>
                  <a:pt x="150729" y="371229"/>
                </a:lnTo>
                <a:lnTo>
                  <a:pt x="150729" y="282842"/>
                </a:lnTo>
                <a:lnTo>
                  <a:pt x="150729" y="268478"/>
                </a:lnTo>
                <a:lnTo>
                  <a:pt x="150729" y="212131"/>
                </a:lnTo>
                <a:lnTo>
                  <a:pt x="150729" y="195558"/>
                </a:lnTo>
                <a:lnTo>
                  <a:pt x="178234" y="212131"/>
                </a:lnTo>
                <a:lnTo>
                  <a:pt x="204639" y="212131"/>
                </a:lnTo>
                <a:lnTo>
                  <a:pt x="204639" y="204396"/>
                </a:lnTo>
                <a:lnTo>
                  <a:pt x="213440" y="203293"/>
                </a:lnTo>
                <a:lnTo>
                  <a:pt x="213440" y="245276"/>
                </a:lnTo>
                <a:cubicBezTo>
                  <a:pt x="213440" y="253011"/>
                  <a:pt x="216741" y="260744"/>
                  <a:pt x="222242" y="265163"/>
                </a:cubicBezTo>
                <a:lnTo>
                  <a:pt x="222242" y="265163"/>
                </a:lnTo>
                <a:lnTo>
                  <a:pt x="222242" y="266268"/>
                </a:lnTo>
                <a:cubicBezTo>
                  <a:pt x="227743" y="270688"/>
                  <a:pt x="234344" y="274002"/>
                  <a:pt x="242045" y="274002"/>
                </a:cubicBezTo>
                <a:lnTo>
                  <a:pt x="374071" y="274002"/>
                </a:lnTo>
                <a:cubicBezTo>
                  <a:pt x="381772" y="274002"/>
                  <a:pt x="389473" y="270688"/>
                  <a:pt x="394975" y="265163"/>
                </a:cubicBezTo>
                <a:lnTo>
                  <a:pt x="394975" y="266268"/>
                </a:lnTo>
                <a:cubicBezTo>
                  <a:pt x="399376" y="260744"/>
                  <a:pt x="402676" y="253011"/>
                  <a:pt x="402676" y="245276"/>
                </a:cubicBezTo>
                <a:lnTo>
                  <a:pt x="402676" y="135896"/>
                </a:lnTo>
                <a:cubicBezTo>
                  <a:pt x="402676" y="127057"/>
                  <a:pt x="399376" y="120429"/>
                  <a:pt x="394975" y="114905"/>
                </a:cubicBezTo>
                <a:cubicBezTo>
                  <a:pt x="389473" y="109380"/>
                  <a:pt x="381772" y="106065"/>
                  <a:pt x="374071" y="106065"/>
                </a:cubicBezTo>
                <a:lnTo>
                  <a:pt x="242045" y="106065"/>
                </a:lnTo>
                <a:close/>
                <a:moveTo>
                  <a:pt x="378471" y="280632"/>
                </a:moveTo>
                <a:lnTo>
                  <a:pt x="378471" y="306043"/>
                </a:lnTo>
                <a:lnTo>
                  <a:pt x="357567" y="306043"/>
                </a:lnTo>
                <a:lnTo>
                  <a:pt x="380672" y="387802"/>
                </a:lnTo>
                <a:lnTo>
                  <a:pt x="350967" y="387802"/>
                </a:lnTo>
                <a:lnTo>
                  <a:pt x="327862" y="306043"/>
                </a:lnTo>
                <a:lnTo>
                  <a:pt x="298157" y="306043"/>
                </a:lnTo>
                <a:lnTo>
                  <a:pt x="275052" y="387802"/>
                </a:lnTo>
                <a:lnTo>
                  <a:pt x="245346" y="387802"/>
                </a:lnTo>
                <a:lnTo>
                  <a:pt x="268451" y="306043"/>
                </a:lnTo>
                <a:lnTo>
                  <a:pt x="243147" y="306043"/>
                </a:lnTo>
                <a:lnTo>
                  <a:pt x="243147" y="280632"/>
                </a:lnTo>
                <a:lnTo>
                  <a:pt x="378471" y="280632"/>
                </a:lnTo>
                <a:close/>
                <a:moveTo>
                  <a:pt x="119922" y="82864"/>
                </a:moveTo>
                <a:cubicBezTo>
                  <a:pt x="141926" y="82864"/>
                  <a:pt x="159530" y="100541"/>
                  <a:pt x="159530" y="122638"/>
                </a:cubicBezTo>
                <a:cubicBezTo>
                  <a:pt x="159530" y="143631"/>
                  <a:pt x="141926" y="161308"/>
                  <a:pt x="119922" y="161308"/>
                </a:cubicBezTo>
                <a:cubicBezTo>
                  <a:pt x="99019" y="161308"/>
                  <a:pt x="81416" y="143631"/>
                  <a:pt x="81416" y="122638"/>
                </a:cubicBezTo>
                <a:cubicBezTo>
                  <a:pt x="81416" y="100541"/>
                  <a:pt x="99019" y="82864"/>
                  <a:pt x="119922" y="82864"/>
                </a:cubicBezTo>
                <a:close/>
              </a:path>
            </a:pathLst>
          </a:cu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7239000" y="55626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指导老师：</a:t>
            </a:r>
            <a:r>
              <a:rPr lang="en-US" sz="18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文乙茹 讲师</a:t>
            </a:r>
            <a:endParaRPr lang="en-US" sz="1100"/>
          </a:p>
        </p:txBody>
      </p:sp>
      <p:pic>
        <p:nvPicPr>
          <p:cNvPr id="87" name="图片 1" descr="lQLPDhrGSL3Q8RPNAUXNB_Gw-UljzDPDeBW9Elf1rMOXFg_2033_325"/>
          <p:cNvPicPr>
            <a:picLocks noChangeAspect="1"/>
          </p:cNvPicPr>
          <p:nvPr/>
        </p:nvPicPr>
        <p:blipFill>
          <a:blip r:embed="rId2"/>
          <a:stretch>
            <a:fillRect/>
          </a:stretch>
        </p:blipFill>
        <p:spPr>
          <a:xfrm>
            <a:off x="2806700" y="699135"/>
            <a:ext cx="6272530" cy="101536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212090" y="-70485"/>
            <a:ext cx="12325350" cy="6928485"/>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790700" y="1892300"/>
            <a:ext cx="5651500" cy="3073400"/>
          </a:xfrm>
          <a:prstGeom prst="roundRect">
            <a:avLst>
              <a:gd name="adj" fmla="val 50000"/>
            </a:avLst>
          </a:prstGeom>
          <a:solidFill>
            <a:srgbClr val="9CC5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562100" y="1993900"/>
            <a:ext cx="5257800" cy="2857500"/>
          </a:xfrm>
          <a:prstGeom prst="roundRect">
            <a:avLst>
              <a:gd name="adj" fmla="val 50222"/>
            </a:avLst>
          </a:prstGeom>
          <a:solidFill>
            <a:srgbClr val="7030A0"/>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custDataLst>
              <p:tags r:id="rId1"/>
            </p:custDataLst>
          </p:nvPr>
        </p:nvSpPr>
        <p:spPr>
          <a:xfrm>
            <a:off x="5638800" y="1206500"/>
            <a:ext cx="914400" cy="571500"/>
          </a:xfrm>
          <a:prstGeom prst="roundRect">
            <a:avLst>
              <a:gd name="adj" fmla="val 51111"/>
            </a:avLst>
          </a:prstGeom>
          <a:solidFill>
            <a:srgbClr val="0070C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01</a:t>
            </a:r>
            <a:endParaRPr lang="en-US" sz="1100"/>
          </a:p>
        </p:txBody>
      </p:sp>
      <p:sp>
        <p:nvSpPr>
          <p:cNvPr id="7" name="AutoShape 7"/>
          <p:cNvSpPr/>
          <p:nvPr>
            <p:custDataLst>
              <p:tags r:id="rId2"/>
            </p:custDataLst>
          </p:nvPr>
        </p:nvSpPr>
        <p:spPr>
          <a:xfrm>
            <a:off x="5638800" y="2171700"/>
            <a:ext cx="914400" cy="571500"/>
          </a:xfrm>
          <a:prstGeom prst="roundRect">
            <a:avLst>
              <a:gd name="adj" fmla="val 51111"/>
            </a:avLst>
          </a:prstGeom>
          <a:solidFill>
            <a:srgbClr val="0070C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02</a:t>
            </a:r>
            <a:endParaRPr lang="en-US" sz="1100"/>
          </a:p>
        </p:txBody>
      </p:sp>
      <p:sp>
        <p:nvSpPr>
          <p:cNvPr id="8" name="AutoShape 8"/>
          <p:cNvSpPr/>
          <p:nvPr>
            <p:custDataLst>
              <p:tags r:id="rId3"/>
            </p:custDataLst>
          </p:nvPr>
        </p:nvSpPr>
        <p:spPr>
          <a:xfrm>
            <a:off x="5638800" y="3136900"/>
            <a:ext cx="914400" cy="571500"/>
          </a:xfrm>
          <a:prstGeom prst="roundRect">
            <a:avLst>
              <a:gd name="adj" fmla="val 51111"/>
            </a:avLst>
          </a:prstGeom>
          <a:solidFill>
            <a:srgbClr val="0070C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03</a:t>
            </a:r>
            <a:endParaRPr lang="en-US" sz="1100"/>
          </a:p>
        </p:txBody>
      </p:sp>
      <p:sp>
        <p:nvSpPr>
          <p:cNvPr id="9" name="AutoShape 9"/>
          <p:cNvSpPr/>
          <p:nvPr>
            <p:custDataLst>
              <p:tags r:id="rId4"/>
            </p:custDataLst>
          </p:nvPr>
        </p:nvSpPr>
        <p:spPr>
          <a:xfrm>
            <a:off x="5638800" y="4108450"/>
            <a:ext cx="914400" cy="571500"/>
          </a:xfrm>
          <a:prstGeom prst="roundRect">
            <a:avLst>
              <a:gd name="adj" fmla="val 51111"/>
            </a:avLst>
          </a:prstGeom>
          <a:solidFill>
            <a:srgbClr val="0070C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04</a:t>
            </a:r>
            <a:endParaRPr lang="en-US" sz="1100"/>
          </a:p>
        </p:txBody>
      </p:sp>
      <p:sp>
        <p:nvSpPr>
          <p:cNvPr id="10" name="AutoShape 10"/>
          <p:cNvSpPr/>
          <p:nvPr>
            <p:custDataLst>
              <p:tags r:id="rId5"/>
            </p:custDataLst>
          </p:nvPr>
        </p:nvSpPr>
        <p:spPr>
          <a:xfrm>
            <a:off x="5638800" y="5080000"/>
            <a:ext cx="914400" cy="571500"/>
          </a:xfrm>
          <a:prstGeom prst="roundRect">
            <a:avLst>
              <a:gd name="adj" fmla="val 51111"/>
            </a:avLst>
          </a:prstGeom>
          <a:solidFill>
            <a:srgbClr val="0070C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18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05</a:t>
            </a:r>
            <a:endParaRPr lang="en-US" sz="1100"/>
          </a:p>
        </p:txBody>
      </p:sp>
      <p:sp>
        <p:nvSpPr>
          <p:cNvPr id="11" name="AutoShape 11"/>
          <p:cNvSpPr/>
          <p:nvPr>
            <p:custDataLst>
              <p:tags r:id="rId6"/>
            </p:custDataLst>
          </p:nvPr>
        </p:nvSpPr>
        <p:spPr>
          <a:xfrm>
            <a:off x="6743700" y="1206500"/>
            <a:ext cx="3479800" cy="571500"/>
          </a:xfrm>
          <a:prstGeom prst="roundRect">
            <a:avLst>
              <a:gd name="adj" fmla="val 51111"/>
            </a:avLst>
          </a:prstGeom>
          <a:solidFill>
            <a:srgbClr val="00B0F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绪论背景</a:t>
            </a:r>
            <a:endParaRPr lang="en-US" sz="1100"/>
          </a:p>
        </p:txBody>
      </p:sp>
      <p:sp>
        <p:nvSpPr>
          <p:cNvPr id="12" name="AutoShape 12"/>
          <p:cNvSpPr/>
          <p:nvPr>
            <p:custDataLst>
              <p:tags r:id="rId7"/>
            </p:custDataLst>
          </p:nvPr>
        </p:nvSpPr>
        <p:spPr>
          <a:xfrm>
            <a:off x="6743700" y="2171700"/>
            <a:ext cx="3479800" cy="571500"/>
          </a:xfrm>
          <a:prstGeom prst="roundRect">
            <a:avLst>
              <a:gd name="adj" fmla="val 51111"/>
            </a:avLst>
          </a:prstGeom>
          <a:solidFill>
            <a:srgbClr val="00B0F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系统总体方案设计</a:t>
            </a:r>
            <a:endParaRPr lang="en-US" sz="1100"/>
          </a:p>
        </p:txBody>
      </p:sp>
      <p:sp>
        <p:nvSpPr>
          <p:cNvPr id="13" name="AutoShape 13"/>
          <p:cNvSpPr/>
          <p:nvPr>
            <p:custDataLst>
              <p:tags r:id="rId8"/>
            </p:custDataLst>
          </p:nvPr>
        </p:nvSpPr>
        <p:spPr>
          <a:xfrm>
            <a:off x="6743700" y="3136900"/>
            <a:ext cx="3479800" cy="571500"/>
          </a:xfrm>
          <a:prstGeom prst="roundRect">
            <a:avLst>
              <a:gd name="adj" fmla="val 51111"/>
            </a:avLst>
          </a:prstGeom>
          <a:solidFill>
            <a:srgbClr val="00B0F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系统硬件与软件设计</a:t>
            </a:r>
            <a:endParaRPr lang="en-US" sz="1100"/>
          </a:p>
        </p:txBody>
      </p:sp>
      <p:sp>
        <p:nvSpPr>
          <p:cNvPr id="14" name="AutoShape 14"/>
          <p:cNvSpPr/>
          <p:nvPr>
            <p:custDataLst>
              <p:tags r:id="rId9"/>
            </p:custDataLst>
          </p:nvPr>
        </p:nvSpPr>
        <p:spPr>
          <a:xfrm>
            <a:off x="6743700" y="4102100"/>
            <a:ext cx="3479800" cy="571500"/>
          </a:xfrm>
          <a:prstGeom prst="roundRect">
            <a:avLst>
              <a:gd name="adj" fmla="val 51111"/>
            </a:avLst>
          </a:prstGeom>
          <a:solidFill>
            <a:srgbClr val="00B0F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系统测试与验证</a:t>
            </a:r>
            <a:endParaRPr lang="en-US" sz="1100"/>
          </a:p>
        </p:txBody>
      </p:sp>
      <p:sp>
        <p:nvSpPr>
          <p:cNvPr id="15" name="AutoShape 15"/>
          <p:cNvSpPr/>
          <p:nvPr>
            <p:custDataLst>
              <p:tags r:id="rId10"/>
            </p:custDataLst>
          </p:nvPr>
        </p:nvSpPr>
        <p:spPr>
          <a:xfrm>
            <a:off x="6743700" y="5080000"/>
            <a:ext cx="3479800" cy="571500"/>
          </a:xfrm>
          <a:prstGeom prst="roundRect">
            <a:avLst>
              <a:gd name="adj" fmla="val 51111"/>
            </a:avLst>
          </a:prstGeom>
          <a:solidFill>
            <a:srgbClr val="00B0F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论文</a:t>
            </a:r>
            <a:r>
              <a:rPr lang="zh-CN" altLang="en-US" sz="20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展望</a:t>
            </a:r>
            <a:endParaRPr lang="zh-CN" altLang="en-US" sz="20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16" name="AutoShape 16"/>
          <p:cNvSpPr/>
          <p:nvPr/>
        </p:nvSpPr>
        <p:spPr>
          <a:xfrm>
            <a:off x="571500" y="3733800"/>
            <a:ext cx="2057400" cy="5080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2700" b="1" i="0" u="none" strike="noStrike">
                <a:solidFill>
                  <a:srgbClr val="FFFFFF"/>
                </a:solidFill>
                <a:latin typeface="Impact MT Std"/>
                <a:ea typeface="Impact MT Std"/>
                <a:cs typeface="Impact MT Std"/>
                <a:sym typeface="Impact MT Std"/>
              </a:rPr>
              <a:t>CONTENTS</a:t>
            </a:r>
            <a:endParaRPr lang="en-US" sz="1100"/>
          </a:p>
        </p:txBody>
      </p:sp>
      <p:sp>
        <p:nvSpPr>
          <p:cNvPr id="17" name="AutoShape 17"/>
          <p:cNvSpPr/>
          <p:nvPr/>
        </p:nvSpPr>
        <p:spPr>
          <a:xfrm>
            <a:off x="635000" y="2679700"/>
            <a:ext cx="1917700" cy="990600"/>
          </a:xfrm>
          <a:prstGeom prst="rect">
            <a:avLst/>
          </a:prstGeom>
          <a:noFill/>
          <a:ln w="12700" cap="flat" cmpd="sng">
            <a:noFill/>
            <a:prstDash val="solid"/>
            <a:round/>
          </a:ln>
        </p:spPr>
        <p:txBody>
          <a:bodyPr vert="horz" wrap="none" lIns="88900" tIns="50800" rIns="88900" bIns="50800" rtlCol="0" anchor="t" anchorCtr="0"/>
          <a:lstStyle/>
          <a:p>
            <a:pPr indent="0" algn="ctr">
              <a:lnSpc>
                <a:spcPct val="100000"/>
              </a:lnSpc>
              <a:defRPr/>
            </a:pPr>
            <a:r>
              <a:rPr lang="en-US" sz="59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目 录</a:t>
            </a:r>
            <a:endParaRPr lang="en-US" sz="1100"/>
          </a:p>
        </p:txBody>
      </p:sp>
      <p:pic>
        <p:nvPicPr>
          <p:cNvPr id="87" name="图片 1" descr="lQLPDhrGSL3Q8RPNAUXNB_Gw-UljzDPDeBW9Elf1rMOXFg_2033_325"/>
          <p:cNvPicPr>
            <a:picLocks noChangeAspect="1"/>
          </p:cNvPicPr>
          <p:nvPr/>
        </p:nvPicPr>
        <p:blipFill>
          <a:blip r:embed="rId11"/>
          <a:stretch>
            <a:fillRect/>
          </a:stretch>
        </p:blipFill>
        <p:spPr>
          <a:xfrm>
            <a:off x="4161155" y="6214745"/>
            <a:ext cx="3110865" cy="50355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chemeClr val="bg1">
              <a:lumMod val="95000"/>
            </a:scheme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5400000">
            <a:off x="4229100" y="-4229100"/>
            <a:ext cx="3733800" cy="12192000"/>
          </a:xfrm>
          <a:prstGeom prst="roundRect">
            <a:avLst>
              <a:gd name="adj" fmla="val 0"/>
            </a:avLst>
          </a:prstGeom>
          <a:solidFill>
            <a:schemeClr val="accent1">
              <a:lumMod val="60000"/>
              <a:lumOff val="40000"/>
            </a:scheme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5321300" y="3048000"/>
            <a:ext cx="1549400" cy="1378900"/>
          </a:xfrm>
          <a:custGeom>
            <a:avLst/>
            <a:gdLst/>
            <a:ahLst/>
            <a:cxnLst/>
            <a:rect l="l" t="t" r="r" b="b"/>
            <a:pathLst>
              <a:path w="1549400" h="1378900">
                <a:moveTo>
                  <a:pt x="455144" y="0"/>
                </a:moveTo>
                <a:lnTo>
                  <a:pt x="682201" y="0"/>
                </a:lnTo>
                <a:lnTo>
                  <a:pt x="867199" y="0"/>
                </a:lnTo>
                <a:lnTo>
                  <a:pt x="1094256" y="0"/>
                </a:lnTo>
                <a:cubicBezTo>
                  <a:pt x="1138385" y="0"/>
                  <a:pt x="1193828" y="31699"/>
                  <a:pt x="1216458" y="70190"/>
                </a:cubicBezTo>
                <a:cubicBezTo>
                  <a:pt x="1533276" y="619260"/>
                  <a:pt x="1533276" y="619260"/>
                  <a:pt x="1533276" y="619260"/>
                </a:cubicBezTo>
                <a:cubicBezTo>
                  <a:pt x="1544025" y="638505"/>
                  <a:pt x="1549400" y="663978"/>
                  <a:pt x="1549400" y="689450"/>
                </a:cubicBezTo>
                <a:cubicBezTo>
                  <a:pt x="1549400" y="714922"/>
                  <a:pt x="1544025" y="740395"/>
                  <a:pt x="1533276" y="759640"/>
                </a:cubicBezTo>
                <a:cubicBezTo>
                  <a:pt x="1216458" y="1308710"/>
                  <a:pt x="1216458" y="1308710"/>
                  <a:pt x="1216458" y="1308710"/>
                </a:cubicBezTo>
                <a:cubicBezTo>
                  <a:pt x="1193828" y="1347202"/>
                  <a:pt x="1138385" y="1378900"/>
                  <a:pt x="1094256" y="1378900"/>
                </a:cubicBezTo>
                <a:cubicBezTo>
                  <a:pt x="1015053" y="1378900"/>
                  <a:pt x="945747" y="1378900"/>
                  <a:pt x="885107" y="1378900"/>
                </a:cubicBezTo>
                <a:lnTo>
                  <a:pt x="867199" y="1378900"/>
                </a:lnTo>
                <a:lnTo>
                  <a:pt x="821465" y="1378900"/>
                </a:lnTo>
                <a:lnTo>
                  <a:pt x="800487" y="1378900"/>
                </a:lnTo>
                <a:lnTo>
                  <a:pt x="748913" y="1378900"/>
                </a:lnTo>
                <a:lnTo>
                  <a:pt x="727935" y="1378900"/>
                </a:lnTo>
                <a:lnTo>
                  <a:pt x="682201" y="1378900"/>
                </a:lnTo>
                <a:lnTo>
                  <a:pt x="664293" y="1378900"/>
                </a:lnTo>
                <a:cubicBezTo>
                  <a:pt x="603653" y="1378900"/>
                  <a:pt x="534347" y="1378900"/>
                  <a:pt x="455144" y="1378900"/>
                </a:cubicBezTo>
                <a:cubicBezTo>
                  <a:pt x="411015" y="1378900"/>
                  <a:pt x="355572" y="1347202"/>
                  <a:pt x="332942" y="1308710"/>
                </a:cubicBezTo>
                <a:cubicBezTo>
                  <a:pt x="332942" y="1308710"/>
                  <a:pt x="332942" y="1308710"/>
                  <a:pt x="16124" y="759640"/>
                </a:cubicBezTo>
                <a:cubicBezTo>
                  <a:pt x="5375" y="740395"/>
                  <a:pt x="0" y="714922"/>
                  <a:pt x="0" y="689450"/>
                </a:cubicBezTo>
                <a:cubicBezTo>
                  <a:pt x="0" y="663978"/>
                  <a:pt x="5375" y="638505"/>
                  <a:pt x="16124" y="619260"/>
                </a:cubicBezTo>
                <a:cubicBezTo>
                  <a:pt x="16124" y="619260"/>
                  <a:pt x="16124" y="619260"/>
                  <a:pt x="332942" y="70190"/>
                </a:cubicBezTo>
                <a:cubicBezTo>
                  <a:pt x="355572" y="31699"/>
                  <a:pt x="411015" y="0"/>
                  <a:pt x="455144" y="0"/>
                </a:cubicBezTo>
                <a:close/>
              </a:path>
            </a:pathLst>
          </a:custGeom>
          <a:solidFill>
            <a:srgbClr val="FFFFFF">
              <a:alpha val="100000"/>
            </a:srgbClr>
          </a:solidFill>
          <a:ln w="25400" cap="flat" cmpd="sng">
            <a:noFill/>
            <a:prstDash val="solid"/>
            <a:round/>
          </a:ln>
          <a:effectLst>
            <a:outerShdw blurRad="63500" algn="ctr" rotWithShape="0">
              <a:srgbClr val="000000">
                <a:alpha val="40000"/>
              </a:srgbClr>
            </a:outerShdw>
          </a:effectLst>
        </p:spPr>
        <p:txBody>
          <a:bodyPr vert="horz" wrap="square" lIns="63500" tIns="63500" rIns="63500" bIns="63500" rtlCol="0" anchor="ctr"/>
          <a:lstStyle/>
          <a:p>
            <a:pPr algn="ctr">
              <a:defRPr/>
            </a:pPr>
          </a:p>
        </p:txBody>
      </p:sp>
      <p:sp>
        <p:nvSpPr>
          <p:cNvPr id="5" name="Freeform 5"/>
          <p:cNvSpPr/>
          <p:nvPr/>
        </p:nvSpPr>
        <p:spPr>
          <a:xfrm>
            <a:off x="5422900" y="3136900"/>
            <a:ext cx="1342415" cy="1194692"/>
          </a:xfrm>
          <a:custGeom>
            <a:avLst/>
            <a:gdLst/>
            <a:ahLst/>
            <a:cxnLst/>
            <a:rect l="l" t="t" r="r" b="b"/>
            <a:pathLst>
              <a:path w="1342415" h="1194692">
                <a:moveTo>
                  <a:pt x="394341" y="0"/>
                </a:moveTo>
                <a:lnTo>
                  <a:pt x="591066" y="0"/>
                </a:lnTo>
                <a:lnTo>
                  <a:pt x="751351" y="0"/>
                </a:lnTo>
                <a:lnTo>
                  <a:pt x="948075" y="0"/>
                </a:lnTo>
                <a:cubicBezTo>
                  <a:pt x="986309" y="0"/>
                  <a:pt x="1034345" y="27465"/>
                  <a:pt x="1053951" y="60814"/>
                </a:cubicBezTo>
                <a:cubicBezTo>
                  <a:pt x="1328447" y="536532"/>
                  <a:pt x="1328447" y="536532"/>
                  <a:pt x="1328447" y="536532"/>
                </a:cubicBezTo>
                <a:cubicBezTo>
                  <a:pt x="1337760" y="553207"/>
                  <a:pt x="1342415" y="575277"/>
                  <a:pt x="1342415" y="597346"/>
                </a:cubicBezTo>
                <a:cubicBezTo>
                  <a:pt x="1342415" y="619416"/>
                  <a:pt x="1337760" y="641486"/>
                  <a:pt x="1328447" y="658160"/>
                </a:cubicBezTo>
                <a:cubicBezTo>
                  <a:pt x="1053951" y="1133879"/>
                  <a:pt x="1053951" y="1133879"/>
                  <a:pt x="1053951" y="1133879"/>
                </a:cubicBezTo>
                <a:cubicBezTo>
                  <a:pt x="1034345" y="1167228"/>
                  <a:pt x="986309" y="1194692"/>
                  <a:pt x="948075" y="1194692"/>
                </a:cubicBezTo>
                <a:cubicBezTo>
                  <a:pt x="879451" y="1194692"/>
                  <a:pt x="819405" y="1194692"/>
                  <a:pt x="766865" y="1194692"/>
                </a:cubicBezTo>
                <a:lnTo>
                  <a:pt x="751351" y="1194692"/>
                </a:lnTo>
                <a:lnTo>
                  <a:pt x="711726" y="1194692"/>
                </a:lnTo>
                <a:lnTo>
                  <a:pt x="693551" y="1194692"/>
                </a:lnTo>
                <a:lnTo>
                  <a:pt x="648866" y="1194692"/>
                </a:lnTo>
                <a:lnTo>
                  <a:pt x="630690" y="1194692"/>
                </a:lnTo>
                <a:lnTo>
                  <a:pt x="591066" y="1194692"/>
                </a:lnTo>
                <a:lnTo>
                  <a:pt x="575550" y="1194692"/>
                </a:lnTo>
                <a:cubicBezTo>
                  <a:pt x="523011" y="1194692"/>
                  <a:pt x="462965" y="1194692"/>
                  <a:pt x="394341" y="1194692"/>
                </a:cubicBezTo>
                <a:cubicBezTo>
                  <a:pt x="356107" y="1194692"/>
                  <a:pt x="308072" y="1167228"/>
                  <a:pt x="288465" y="1133879"/>
                </a:cubicBezTo>
                <a:cubicBezTo>
                  <a:pt x="288465" y="1133879"/>
                  <a:pt x="288465" y="1133879"/>
                  <a:pt x="13970" y="658160"/>
                </a:cubicBezTo>
                <a:cubicBezTo>
                  <a:pt x="4657" y="641486"/>
                  <a:pt x="0" y="619416"/>
                  <a:pt x="0" y="597346"/>
                </a:cubicBezTo>
                <a:cubicBezTo>
                  <a:pt x="0" y="575277"/>
                  <a:pt x="4657" y="553207"/>
                  <a:pt x="13970" y="536532"/>
                </a:cubicBezTo>
                <a:cubicBezTo>
                  <a:pt x="13970" y="536532"/>
                  <a:pt x="13970" y="536532"/>
                  <a:pt x="288465" y="60814"/>
                </a:cubicBezTo>
                <a:cubicBezTo>
                  <a:pt x="308072" y="27465"/>
                  <a:pt x="356107" y="0"/>
                  <a:pt x="394341" y="0"/>
                </a:cubicBezTo>
                <a:close/>
              </a:path>
            </a:pathLst>
          </a:custGeom>
          <a:solidFill>
            <a:srgbClr val="9CC5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486400" y="3505200"/>
            <a:ext cx="1206500" cy="457200"/>
          </a:xfrm>
          <a:prstGeom prst="rect">
            <a:avLst/>
          </a:prstGeom>
          <a:noFill/>
          <a:ln w="12700" cap="flat" cmpd="sng">
            <a:noFill/>
            <a:prstDash val="solid"/>
            <a:round/>
          </a:ln>
        </p:spPr>
        <p:txBody>
          <a:bodyPr vert="horz" wrap="square" lIns="88900" tIns="50800" rIns="88900" bIns="50800" rtlCol="0" anchor="t" anchorCtr="0"/>
          <a:lstStyle/>
          <a:p>
            <a:pPr indent="0" algn="l">
              <a:lnSpc>
                <a:spcPct val="100000"/>
              </a:lnSpc>
              <a:defRPr/>
            </a:pPr>
            <a:r>
              <a:rPr lang="en-US" sz="2400" b="0"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Part.01</a:t>
            </a:r>
            <a:endParaRPr lang="en-US" sz="1100"/>
          </a:p>
        </p:txBody>
      </p:sp>
      <p:sp>
        <p:nvSpPr>
          <p:cNvPr id="7" name="AutoShape 7"/>
          <p:cNvSpPr/>
          <p:nvPr/>
        </p:nvSpPr>
        <p:spPr>
          <a:xfrm>
            <a:off x="3327400" y="4787900"/>
            <a:ext cx="5537200" cy="7112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4000" b="1" i="0" u="none" strike="noStrike" spc="600">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2346325" y="1125220"/>
            <a:ext cx="7310755" cy="1183640"/>
          </a:xfrm>
          <a:prstGeom prst="rect">
            <a:avLst/>
          </a:prstGeom>
          <a:noFill/>
          <a:ln>
            <a:noFill/>
          </a:ln>
        </p:spPr>
      </p:pic>
      <p:pic>
        <p:nvPicPr>
          <p:cNvPr id="9" name="Picture 9"/>
          <p:cNvPicPr>
            <a:picLocks noChangeAspect="1"/>
          </p:cNvPicPr>
          <p:nvPr/>
        </p:nvPicPr>
        <p:blipFill>
          <a:blip r:embed="rId2"/>
          <a:srcRect t="34" b="34"/>
          <a:stretch>
            <a:fillRect/>
          </a:stretch>
        </p:blipFill>
        <p:spPr>
          <a:xfrm>
            <a:off x="10020300" y="165100"/>
            <a:ext cx="1905000" cy="1879600"/>
          </a:xfrm>
          <a:prstGeom prst="rect">
            <a:avLst/>
          </a:prstGeom>
          <a:noFill/>
          <a:ln w="25400" cap="flat" cmpd="sng">
            <a:noFill/>
            <a:prstDash val="solid"/>
            <a:round/>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4" name="Connector 4"/>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5"/>
          <p:cNvSpPr/>
          <p:nvPr/>
        </p:nvSpPr>
        <p:spPr>
          <a:xfrm>
            <a:off x="3225800" y="0"/>
            <a:ext cx="1663700" cy="7874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p>
        </p:txBody>
      </p:sp>
      <p:cxnSp>
        <p:nvCxnSpPr>
          <p:cNvPr id="6" name="Connector 6"/>
          <p:cNvCxnSpPr/>
          <p:nvPr/>
        </p:nvCxnSpPr>
        <p:spPr>
          <a:xfrm rot="5056725">
            <a:off x="988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7" name="AutoShape 7"/>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8"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sp>
        <p:nvSpPr>
          <p:cNvPr id="9"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10" name="AutoShape 10"/>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cxnSp>
        <p:nvCxnSpPr>
          <p:cNvPr id="12" name="Connector 12"/>
          <p:cNvCxnSpPr/>
          <p:nvPr/>
        </p:nvCxnSpPr>
        <p:spPr>
          <a:xfrm rot="5056725">
            <a:off x="64831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4" name="Connector 14"/>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5" name="AutoShape 15"/>
          <p:cNvSpPr/>
          <p:nvPr/>
        </p:nvSpPr>
        <p:spPr>
          <a:xfrm>
            <a:off x="571500" y="1104900"/>
            <a:ext cx="2032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研究背景</a:t>
            </a:r>
            <a:endParaRPr lang="en-US" sz="1100"/>
          </a:p>
        </p:txBody>
      </p:sp>
      <p:sp>
        <p:nvSpPr>
          <p:cNvPr id="16" name="AutoShape 16"/>
          <p:cNvSpPr/>
          <p:nvPr/>
        </p:nvSpPr>
        <p:spPr>
          <a:xfrm>
            <a:off x="965200" y="1968500"/>
            <a:ext cx="10223500" cy="787400"/>
          </a:xfrm>
          <a:prstGeom prst="roundRect">
            <a:avLst>
              <a:gd name="adj" fmla="val 0"/>
            </a:avLst>
          </a:prstGeom>
          <a:solidFill>
            <a:srgbClr val="7030A0"/>
          </a:solidFill>
          <a:ln w="12700" cap="flat" cmpd="sng">
            <a:solidFill>
              <a:srgbClr val="448AD7">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农业大棚智能监测系统 研究背景</a:t>
            </a: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和</a:t>
            </a: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目的</a:t>
            </a:r>
            <a:endPar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7" name="AutoShape 17"/>
          <p:cNvSpPr/>
          <p:nvPr/>
        </p:nvSpPr>
        <p:spPr>
          <a:xfrm>
            <a:off x="965200" y="2882900"/>
            <a:ext cx="3314700" cy="3454400"/>
          </a:xfrm>
          <a:prstGeom prst="roundRect">
            <a:avLst>
              <a:gd name="adj" fmla="val 0"/>
            </a:avLst>
          </a:prstGeom>
          <a:solidFill>
            <a:srgbClr val="FFFFFF">
              <a:alpha val="100000"/>
            </a:srgbClr>
          </a:solidFill>
          <a:ln w="12700" cap="flat" cmpd="sng">
            <a:solidFill>
              <a:srgbClr val="448AD7">
                <a:alpha val="100000"/>
              </a:srgbClr>
            </a:solidFill>
            <a:prstDash val="sysDot"/>
            <a:miter lim="10000000"/>
          </a:ln>
        </p:spPr>
        <p:txBody>
          <a:bodyPr vert="horz" wrap="square" lIns="63500" tIns="63500" rIns="63500" bIns="63500" rtlCol="0" anchor="ctr"/>
          <a:lstStyle/>
          <a:p>
            <a:pPr algn="ctr">
              <a:defRPr/>
            </a:pPr>
          </a:p>
        </p:txBody>
      </p:sp>
      <p:sp>
        <p:nvSpPr>
          <p:cNvPr id="18" name="AutoShape 18"/>
          <p:cNvSpPr/>
          <p:nvPr/>
        </p:nvSpPr>
        <p:spPr>
          <a:xfrm>
            <a:off x="4419600" y="2882900"/>
            <a:ext cx="3314700" cy="3454400"/>
          </a:xfrm>
          <a:prstGeom prst="roundRect">
            <a:avLst>
              <a:gd name="adj" fmla="val 0"/>
            </a:avLst>
          </a:prstGeom>
          <a:solidFill>
            <a:srgbClr val="FFFFFF">
              <a:alpha val="100000"/>
            </a:srgbClr>
          </a:solidFill>
          <a:ln w="12700" cap="flat" cmpd="sng">
            <a:solidFill>
              <a:srgbClr val="448AD7">
                <a:alpha val="100000"/>
              </a:srgbClr>
            </a:solidFill>
            <a:prstDash val="sysDot"/>
            <a:miter lim="10000000"/>
          </a:ln>
        </p:spPr>
        <p:txBody>
          <a:bodyPr vert="horz" wrap="square" lIns="63500" tIns="63500" rIns="63500" bIns="63500" rtlCol="0" anchor="ctr"/>
          <a:lstStyle/>
          <a:p>
            <a:pPr algn="ctr">
              <a:defRPr/>
            </a:pPr>
          </a:p>
        </p:txBody>
      </p:sp>
      <p:sp>
        <p:nvSpPr>
          <p:cNvPr id="19" name="AutoShape 19"/>
          <p:cNvSpPr/>
          <p:nvPr/>
        </p:nvSpPr>
        <p:spPr>
          <a:xfrm>
            <a:off x="7874000" y="2882900"/>
            <a:ext cx="3314700" cy="3454400"/>
          </a:xfrm>
          <a:prstGeom prst="roundRect">
            <a:avLst>
              <a:gd name="adj" fmla="val 0"/>
            </a:avLst>
          </a:prstGeom>
          <a:solidFill>
            <a:srgbClr val="FFFFFF">
              <a:alpha val="100000"/>
            </a:srgbClr>
          </a:solidFill>
          <a:ln w="12700" cap="flat" cmpd="sng">
            <a:solidFill>
              <a:srgbClr val="448AD7">
                <a:alpha val="100000"/>
              </a:srgbClr>
            </a:solidFill>
            <a:prstDash val="sysDot"/>
            <a:miter lim="10000000"/>
          </a:ln>
        </p:spPr>
        <p:txBody>
          <a:bodyPr vert="horz" wrap="square" lIns="63500" tIns="63500" rIns="63500" bIns="63500" rtlCol="0" anchor="ctr"/>
          <a:lstStyle/>
          <a:p>
            <a:pPr algn="ctr">
              <a:defRPr/>
            </a:pPr>
          </a:p>
        </p:txBody>
      </p:sp>
      <p:sp>
        <p:nvSpPr>
          <p:cNvPr id="20" name="AutoShape 20"/>
          <p:cNvSpPr/>
          <p:nvPr/>
        </p:nvSpPr>
        <p:spPr>
          <a:xfrm>
            <a:off x="1168400" y="3187700"/>
            <a:ext cx="2908300" cy="2794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2000" b="1">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01</a:t>
            </a:r>
            <a:endParaRPr lang="en-US" sz="2000"/>
          </a:p>
          <a:p>
            <a:pPr indent="0" algn="ctr">
              <a:lnSpc>
                <a:spcPct val="125000"/>
              </a:lnSpc>
            </a:pPr>
            <a:r>
              <a:rPr lang="en-US" sz="2000" b="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传统大棚痛点</a:t>
            </a:r>
            <a:endParaRPr lang="en-US" sz="20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17000"/>
              </a:lnSpc>
              <a:buSzTx/>
            </a:pPr>
            <a:r>
              <a:rPr lang="en-US" sz="1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人工巡检效率低、精度差，无法实现24小时不间断监控，严重依赖人力，难以满足现代化农业生产的精细化管理需求。</a:t>
            </a:r>
            <a:endParaRPr lang="en-US" sz="18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AutoShape 21"/>
          <p:cNvSpPr/>
          <p:nvPr/>
        </p:nvSpPr>
        <p:spPr>
          <a:xfrm>
            <a:off x="4622800" y="3187700"/>
            <a:ext cx="2908300" cy="2794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2000" b="1">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02</a:t>
            </a:r>
            <a:endParaRPr lang="en-US" sz="2000"/>
          </a:p>
          <a:p>
            <a:pPr indent="0" algn="ctr">
              <a:lnSpc>
                <a:spcPct val="125000"/>
              </a:lnSpc>
            </a:pPr>
            <a:r>
              <a:rPr lang="en-US" sz="2000" b="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现有设备问题</a:t>
            </a:r>
            <a:endParaRPr lang="en-US" sz="20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17000"/>
              </a:lnSpc>
              <a:buSzTx/>
            </a:pPr>
            <a:r>
              <a:rPr lang="en-US" sz="1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市面上的智能监测系统普遍成本高昂，且操作流程复杂，对于广大中小型农户而言，经济负担重，技术门槛高，难以大规模普及和应用。</a:t>
            </a:r>
            <a:endParaRPr lang="en-US" sz="18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AutoShape 22"/>
          <p:cNvSpPr/>
          <p:nvPr/>
        </p:nvSpPr>
        <p:spPr>
          <a:xfrm>
            <a:off x="8077200" y="3187700"/>
            <a:ext cx="2908300" cy="2794000"/>
          </a:xfrm>
          <a:prstGeom prst="rect">
            <a:avLst/>
          </a:prstGeom>
          <a:noFill/>
          <a:ln w="12700" cap="flat" cmpd="sng">
            <a:noFill/>
            <a:prstDash val="solid"/>
            <a:round/>
          </a:ln>
        </p:spPr>
        <p:txBody>
          <a:bodyPr vert="horz" wrap="square" lIns="0" tIns="0" rIns="0" bIns="0" rtlCol="0" anchor="t" anchorCtr="0"/>
          <a:lstStyle/>
          <a:p>
            <a:pPr indent="0" algn="ctr">
              <a:lnSpc>
                <a:spcPct val="108000"/>
              </a:lnSpc>
              <a:defRPr/>
            </a:pPr>
            <a:r>
              <a:rPr lang="en-US" sz="2000" b="1">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03</a:t>
            </a:r>
            <a:endParaRPr lang="en-US" sz="2000"/>
          </a:p>
          <a:p>
            <a:pPr indent="0" algn="ctr">
              <a:lnSpc>
                <a:spcPct val="125000"/>
              </a:lnSpc>
            </a:pPr>
            <a:r>
              <a:rPr lang="en-US" sz="2000" b="1">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本设计目的</a:t>
            </a:r>
            <a:endParaRPr lang="en-US" sz="2000" b="1"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just">
              <a:lnSpc>
                <a:spcPct val="117000"/>
              </a:lnSpc>
              <a:buSzTx/>
            </a:pPr>
            <a:r>
              <a:rPr lang="en-US" sz="18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旨在开发一款低成本、易操作、支持用户自定义报警阈值的本地监测系统，切实降低使用门槛，解决中小农户的实际需求。</a:t>
            </a:r>
            <a:endParaRPr lang="en-US" sz="18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7" name="图片 1" descr="lQLPDhrGSL3Q8RPNAUXNB_Gw-UljzDPDeBW9Elf1rMOXFg_2033_325"/>
          <p:cNvPicPr>
            <a:picLocks noChangeAspect="1"/>
          </p:cNvPicPr>
          <p:nvPr/>
        </p:nvPicPr>
        <p:blipFill>
          <a:blip r:embed="rId1"/>
          <a:stretch>
            <a:fillRect/>
          </a:stretch>
        </p:blipFill>
        <p:spPr>
          <a:xfrm>
            <a:off x="109220" y="165100"/>
            <a:ext cx="3018790" cy="488950"/>
          </a:xfrm>
          <a:prstGeom prst="rect">
            <a:avLst/>
          </a:prstGeom>
          <a:noFill/>
          <a:ln>
            <a:noFill/>
          </a:ln>
        </p:spPr>
      </p:pic>
      <p:sp>
        <p:nvSpPr>
          <p:cNvPr id="13"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4" name="Connector 4"/>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5"/>
          <p:cNvSpPr/>
          <p:nvPr/>
        </p:nvSpPr>
        <p:spPr>
          <a:xfrm>
            <a:off x="3225800" y="0"/>
            <a:ext cx="1663700" cy="7874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p>
        </p:txBody>
      </p:sp>
      <p:cxnSp>
        <p:nvCxnSpPr>
          <p:cNvPr id="6" name="Connector 6"/>
          <p:cNvCxnSpPr/>
          <p:nvPr/>
        </p:nvCxnSpPr>
        <p:spPr>
          <a:xfrm rot="5056725">
            <a:off x="988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7" name="AutoShape 7"/>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cxnSp>
        <p:nvCxnSpPr>
          <p:cNvPr id="12" name="Connector 12"/>
          <p:cNvCxnSpPr/>
          <p:nvPr/>
        </p:nvCxnSpPr>
        <p:spPr>
          <a:xfrm rot="5056725">
            <a:off x="64831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4" name="Connector 14"/>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5" name="AutoShape 15"/>
          <p:cNvSpPr/>
          <p:nvPr/>
        </p:nvSpPr>
        <p:spPr>
          <a:xfrm>
            <a:off x="812800" y="1104900"/>
            <a:ext cx="16256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研究意义</a:t>
            </a:r>
            <a:endParaRPr lang="en-US" sz="1100"/>
          </a:p>
        </p:txBody>
      </p:sp>
      <p:sp>
        <p:nvSpPr>
          <p:cNvPr id="16" name="AutoShape 16"/>
          <p:cNvSpPr/>
          <p:nvPr/>
        </p:nvSpPr>
        <p:spPr>
          <a:xfrm rot="5400000">
            <a:off x="1765300" y="1727200"/>
            <a:ext cx="1282700" cy="1282700"/>
          </a:xfrm>
          <a:prstGeom prst="blockArc">
            <a:avLst>
              <a:gd name="adj1" fmla="val 10800000"/>
              <a:gd name="adj2" fmla="val 149699"/>
              <a:gd name="adj3" fmla="val 6982"/>
            </a:avLst>
          </a:pr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rot="5400000" flipV="1">
            <a:off x="1765300" y="2921000"/>
            <a:ext cx="1282700" cy="1282700"/>
          </a:xfrm>
          <a:prstGeom prst="blockArc">
            <a:avLst>
              <a:gd name="adj1" fmla="val 10800000"/>
              <a:gd name="adj2" fmla="val 149699"/>
              <a:gd name="adj3" fmla="val 6982"/>
            </a:avLst>
          </a:pr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rot="5400000">
            <a:off x="1765300" y="4114800"/>
            <a:ext cx="1282700" cy="1282700"/>
          </a:xfrm>
          <a:prstGeom prst="blockArc">
            <a:avLst>
              <a:gd name="adj1" fmla="val 10800000"/>
              <a:gd name="adj2" fmla="val 149699"/>
              <a:gd name="adj3" fmla="val 6982"/>
            </a:avLst>
          </a:pr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5400000" flipV="1">
            <a:off x="1765300" y="5308600"/>
            <a:ext cx="1282700" cy="1282700"/>
          </a:xfrm>
          <a:prstGeom prst="blockArc">
            <a:avLst>
              <a:gd name="adj1" fmla="val 10800000"/>
              <a:gd name="adj2" fmla="val 149699"/>
              <a:gd name="adj3" fmla="val 6982"/>
            </a:avLst>
          </a:pr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943100" y="1930400"/>
            <a:ext cx="914400" cy="914400"/>
          </a:xfrm>
          <a:prstGeom prst="ellipse">
            <a:avLst/>
          </a:prstGeom>
          <a:solidFill>
            <a:srgbClr val="7030A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A.</a:t>
            </a:r>
            <a:endParaRPr lang="en-US" sz="1100"/>
          </a:p>
        </p:txBody>
      </p:sp>
      <p:sp>
        <p:nvSpPr>
          <p:cNvPr id="21" name="AutoShape 21"/>
          <p:cNvSpPr/>
          <p:nvPr/>
        </p:nvSpPr>
        <p:spPr>
          <a:xfrm>
            <a:off x="1943100" y="3111500"/>
            <a:ext cx="914400" cy="914400"/>
          </a:xfrm>
          <a:prstGeom prst="ellipse">
            <a:avLst/>
          </a:prstGeom>
          <a:solidFill>
            <a:srgbClr val="7030A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B.</a:t>
            </a:r>
            <a:endParaRPr lang="en-US" sz="1100"/>
          </a:p>
        </p:txBody>
      </p:sp>
      <p:sp>
        <p:nvSpPr>
          <p:cNvPr id="22" name="AutoShape 22"/>
          <p:cNvSpPr/>
          <p:nvPr/>
        </p:nvSpPr>
        <p:spPr>
          <a:xfrm>
            <a:off x="1943100" y="4305300"/>
            <a:ext cx="914400" cy="914400"/>
          </a:xfrm>
          <a:prstGeom prst="ellipse">
            <a:avLst/>
          </a:prstGeom>
          <a:solidFill>
            <a:srgbClr val="7030A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C.</a:t>
            </a:r>
            <a:endParaRPr lang="en-US" sz="1100"/>
          </a:p>
        </p:txBody>
      </p:sp>
      <p:sp>
        <p:nvSpPr>
          <p:cNvPr id="24" name="AutoShape 24"/>
          <p:cNvSpPr/>
          <p:nvPr/>
        </p:nvSpPr>
        <p:spPr>
          <a:xfrm>
            <a:off x="3390900" y="1803400"/>
            <a:ext cx="75692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理论意义</a:t>
            </a:r>
            <a:endParaRPr lang="en-US" sz="1100"/>
          </a:p>
          <a:p>
            <a:pPr indent="0" algn="l">
              <a:lnSpc>
                <a:spcPct val="117000"/>
              </a:lnSpc>
            </a:pP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探索并验证单总线通信技术在农业环境监测领域的应用效果和可靠性，为嵌入式系统设计提供实践案例。</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AutoShape 25"/>
          <p:cNvSpPr/>
          <p:nvPr/>
        </p:nvSpPr>
        <p:spPr>
          <a:xfrm>
            <a:off x="3390900" y="2984500"/>
            <a:ext cx="75692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实践意义</a:t>
            </a:r>
            <a:endParaRPr lang="en-US" sz="1100"/>
          </a:p>
          <a:p>
            <a:pPr indent="0" algn="l">
              <a:lnSpc>
                <a:spcPct val="117000"/>
              </a:lnSpc>
            </a:pP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为中小型农业大棚提供一种经济实惠、易于部署的本地温湿度监测与报警方案，提升管理效率。</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 name="AutoShape 26"/>
          <p:cNvSpPr/>
          <p:nvPr/>
        </p:nvSpPr>
        <p:spPr>
          <a:xfrm>
            <a:off x="3390900" y="4191000"/>
            <a:ext cx="75692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推广意义</a:t>
            </a:r>
            <a:endParaRPr lang="en-US" sz="1100"/>
          </a:p>
          <a:p>
            <a:pPr indent="0" algn="l">
              <a:lnSpc>
                <a:spcPct val="117000"/>
              </a:lnSpc>
            </a:pP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采用模块化设计，便于维护、升级和二次开发，可作为高校相关课程的教学案例。</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7" name="图片 1" descr="lQLPDhrGSL3Q8RPNAUXNB_Gw-UljzDPDeBW9Elf1rMOXFg_2033_325"/>
          <p:cNvPicPr>
            <a:picLocks noChangeAspect="1"/>
          </p:cNvPicPr>
          <p:nvPr/>
        </p:nvPicPr>
        <p:blipFill>
          <a:blip r:embed="rId1"/>
          <a:stretch>
            <a:fillRect/>
          </a:stretch>
        </p:blipFill>
        <p:spPr>
          <a:xfrm>
            <a:off x="90805" y="137160"/>
            <a:ext cx="2995295" cy="485140"/>
          </a:xfrm>
          <a:prstGeom prst="rect">
            <a:avLst/>
          </a:prstGeom>
          <a:noFill/>
          <a:ln>
            <a:noFill/>
          </a:ln>
        </p:spPr>
      </p:pic>
      <p:sp>
        <p:nvSpPr>
          <p:cNvPr id="13" name="AutoShape 22"/>
          <p:cNvSpPr/>
          <p:nvPr/>
        </p:nvSpPr>
        <p:spPr>
          <a:xfrm>
            <a:off x="1943100" y="5486400"/>
            <a:ext cx="914400" cy="914400"/>
          </a:xfrm>
          <a:prstGeom prst="ellipse">
            <a:avLst/>
          </a:prstGeom>
          <a:solidFill>
            <a:srgbClr val="7030A0"/>
          </a:solidFill>
          <a:ln w="25400" cap="flat" cmpd="sng">
            <a:noFill/>
            <a:prstDash val="solid"/>
            <a:round/>
          </a:ln>
        </p:spPr>
        <p:txBody>
          <a:bodyPr vert="horz" wrap="square" lIns="88900" tIns="50800" rIns="88900" bIns="50800" rtlCol="0" anchor="ctr" anchorCtr="0"/>
          <a:lstStyle/>
          <a:p>
            <a:pPr indent="0" algn="ctr">
              <a:lnSpc>
                <a:spcPct val="100000"/>
              </a:lnSpc>
              <a:defRPr/>
            </a:pPr>
            <a:r>
              <a:rPr lang="en-US" sz="32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D.</a:t>
            </a:r>
            <a:endParaRPr lang="en-US" sz="1100"/>
          </a:p>
        </p:txBody>
      </p:sp>
      <p:sp>
        <p:nvSpPr>
          <p:cNvPr id="28" name="AutoShape 26"/>
          <p:cNvSpPr/>
          <p:nvPr/>
        </p:nvSpPr>
        <p:spPr>
          <a:xfrm>
            <a:off x="3378200" y="5486400"/>
            <a:ext cx="7569200" cy="1016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zh-CN" alt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教学</a:t>
            </a: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意义</a:t>
            </a:r>
            <a:endParaRPr lang="en-US" sz="1100"/>
          </a:p>
          <a:p>
            <a:pPr indent="0" algn="l">
              <a:lnSpc>
                <a:spcPct val="117000"/>
              </a:lnSpc>
            </a:pPr>
            <a:r>
              <a:rPr lang="zh-CN" alt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通过复现这个项目，可以把单总线通信协议、</a:t>
            </a:r>
            <a:r>
              <a:rPr lang="en-US" altLang="zh-CN"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LCD</a:t>
            </a:r>
            <a:r>
              <a:rPr lang="zh-CN" alt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显示驱动、</a:t>
            </a:r>
            <a:r>
              <a:rPr lang="en-US" altLang="zh-CN"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Flash</a:t>
            </a:r>
            <a:r>
              <a:rPr lang="zh-CN" alt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存储读写这些核心知识点串起来，真正把课堂上学到的理论知识转换成具体的工程实践能力。</a:t>
            </a:r>
            <a:endParaRPr lang="zh-CN" alt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sp>
        <p:nvSpPr>
          <p:cNvPr id="27"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9" name="AutoShape 10"/>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sp>
        <p:nvSpPr>
          <p:cNvPr id="9"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4" name="Connector 4"/>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5"/>
          <p:cNvSpPr/>
          <p:nvPr/>
        </p:nvSpPr>
        <p:spPr>
          <a:xfrm>
            <a:off x="3225800" y="0"/>
            <a:ext cx="1663700" cy="7874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p>
        </p:txBody>
      </p:sp>
      <p:cxnSp>
        <p:nvCxnSpPr>
          <p:cNvPr id="6" name="Connector 6"/>
          <p:cNvCxnSpPr/>
          <p:nvPr/>
        </p:nvCxnSpPr>
        <p:spPr>
          <a:xfrm rot="5056725">
            <a:off x="988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7" name="AutoShape 7"/>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cxnSp>
        <p:nvCxnSpPr>
          <p:cNvPr id="12" name="Connector 12"/>
          <p:cNvCxnSpPr/>
          <p:nvPr/>
        </p:nvCxnSpPr>
        <p:spPr>
          <a:xfrm rot="5056725">
            <a:off x="64831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4" name="Connector 14"/>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5" name="AutoShape 15"/>
          <p:cNvSpPr/>
          <p:nvPr/>
        </p:nvSpPr>
        <p:spPr>
          <a:xfrm>
            <a:off x="444500" y="1104900"/>
            <a:ext cx="2286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研究现状与不足</a:t>
            </a:r>
            <a:endParaRPr lang="en-US" sz="1100"/>
          </a:p>
        </p:txBody>
      </p:sp>
      <p:sp>
        <p:nvSpPr>
          <p:cNvPr id="16" name="AutoShape 16"/>
          <p:cNvSpPr/>
          <p:nvPr/>
        </p:nvSpPr>
        <p:spPr>
          <a:xfrm>
            <a:off x="1282700" y="2692400"/>
            <a:ext cx="825500" cy="2857500"/>
          </a:xfrm>
          <a:prstGeom prst="roundRect">
            <a:avLst>
              <a:gd name="adj" fmla="val 0"/>
            </a:avLst>
          </a:prstGeom>
          <a:solidFill>
            <a:srgbClr val="0070C0">
              <a:alpha val="100000"/>
            </a:srgbClr>
          </a:solidFill>
          <a:ln w="12700" cap="flat" cmpd="sng">
            <a:solidFill>
              <a:schemeClr val="accent1">
                <a:alpha val="100000"/>
              </a:schemeClr>
            </a:solidFill>
            <a:prstDash val="solid"/>
            <a:miter lim="10000000"/>
          </a:ln>
        </p:spPr>
        <p:txBody>
          <a:bodyPr vert="eaVert" wrap="square" lIns="88900" tIns="50800" rIns="88900" bIns="50800" rtlCol="0" anchor="ctr" anchorCtr="0"/>
          <a:lstStyle/>
          <a:p>
            <a:pPr indent="0" algn="ctr">
              <a:lnSpc>
                <a:spcPct val="100000"/>
              </a:lnSpc>
              <a:defRPr/>
            </a:pPr>
            <a:r>
              <a:rPr lang="en-US" sz="2400" b="0" i="0" u="none" strike="noStrike" spc="3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国内外现状分析</a:t>
            </a:r>
            <a:endParaRPr lang="en-US" sz="1100"/>
          </a:p>
        </p:txBody>
      </p:sp>
      <p:sp>
        <p:nvSpPr>
          <p:cNvPr id="18" name="AutoShape 18"/>
          <p:cNvSpPr/>
          <p:nvPr/>
        </p:nvSpPr>
        <p:spPr>
          <a:xfrm>
            <a:off x="2717800" y="2159000"/>
            <a:ext cx="2019300" cy="508000"/>
          </a:xfrm>
          <a:prstGeom prst="roundRect">
            <a:avLst>
              <a:gd name="adj" fmla="val 0"/>
            </a:avLst>
          </a:prstGeom>
          <a:solidFill>
            <a:srgbClr val="00B0F0">
              <a:alpha val="100000"/>
            </a:srgbClr>
          </a:solidFill>
          <a:ln w="12700" cap="flat" cmpd="sng">
            <a:solidFill>
              <a:schemeClr val="accent1">
                <a:alpha val="100000"/>
              </a:schemeClr>
            </a:solidFill>
            <a:prstDash val="solid"/>
            <a:miter lim="10000000"/>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国外研究现状</a:t>
            </a:r>
            <a:endParaRPr lang="en-US" sz="1100"/>
          </a:p>
        </p:txBody>
      </p:sp>
      <p:sp>
        <p:nvSpPr>
          <p:cNvPr id="19" name="AutoShape 19"/>
          <p:cNvSpPr/>
          <p:nvPr/>
        </p:nvSpPr>
        <p:spPr>
          <a:xfrm>
            <a:off x="2717800" y="3822700"/>
            <a:ext cx="2019300" cy="508000"/>
          </a:xfrm>
          <a:prstGeom prst="roundRect">
            <a:avLst>
              <a:gd name="adj" fmla="val 0"/>
            </a:avLst>
          </a:prstGeom>
          <a:solidFill>
            <a:srgbClr val="00B0F0">
              <a:alpha val="100000"/>
            </a:srgbClr>
          </a:solidFill>
          <a:ln w="12700" cap="flat" cmpd="sng">
            <a:solidFill>
              <a:schemeClr val="accent1">
                <a:alpha val="100000"/>
              </a:schemeClr>
            </a:solidFill>
            <a:prstDash val="solid"/>
            <a:miter lim="10000000"/>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国内主流方案</a:t>
            </a:r>
            <a:endParaRPr lang="en-US" sz="1100"/>
          </a:p>
        </p:txBody>
      </p:sp>
      <p:sp>
        <p:nvSpPr>
          <p:cNvPr id="20" name="AutoShape 20"/>
          <p:cNvSpPr/>
          <p:nvPr/>
        </p:nvSpPr>
        <p:spPr>
          <a:xfrm>
            <a:off x="2717800" y="5499100"/>
            <a:ext cx="2019300" cy="508000"/>
          </a:xfrm>
          <a:prstGeom prst="roundRect">
            <a:avLst>
              <a:gd name="adj" fmla="val 0"/>
            </a:avLst>
          </a:prstGeom>
          <a:solidFill>
            <a:srgbClr val="00B0F0"/>
          </a:solidFill>
          <a:ln w="12700" cap="flat" cmpd="sng">
            <a:solidFill>
              <a:schemeClr val="accent1">
                <a:alpha val="100000"/>
              </a:schemeClr>
            </a:solidFill>
            <a:prstDash val="solid"/>
            <a:miter lim="10000000"/>
          </a:ln>
        </p:spPr>
        <p:txBody>
          <a:bodyPr vert="horz" wrap="square" lIns="88900" tIns="50800" rIns="88900" bIns="50800" rtlCol="0" anchor="ctr" anchorCtr="0"/>
          <a:lstStyle/>
          <a:p>
            <a:pPr indent="0" algn="ctr">
              <a:lnSpc>
                <a:spcPct val="100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存在不足与痛点</a:t>
            </a:r>
            <a:endParaRPr lang="en-US" sz="1100"/>
          </a:p>
        </p:txBody>
      </p:sp>
      <p:sp>
        <p:nvSpPr>
          <p:cNvPr id="24" name="AutoShape 24"/>
          <p:cNvSpPr/>
          <p:nvPr/>
        </p:nvSpPr>
        <p:spPr>
          <a:xfrm>
            <a:off x="5130800" y="1790700"/>
            <a:ext cx="5791200" cy="1282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4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功能全面：</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集成多种传感器，支持数据采集、传输与远程监控，技术相对成熟。</a:t>
            </a:r>
            <a:endParaRPr lang="en-US" sz="1100"/>
          </a:p>
          <a:p>
            <a:pPr indent="0" algn="l">
              <a:lnSpc>
                <a:spcPct val="117000"/>
              </a:lnSpc>
            </a:pPr>
            <a:r>
              <a:rPr lang="en-US" sz="14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主要问题：</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整套设备与配套服务价格昂贵，不适合中国国情下的中小农户进行大规模推广与应用。</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AutoShape 25"/>
          <p:cNvSpPr/>
          <p:nvPr/>
        </p:nvSpPr>
        <p:spPr>
          <a:xfrm>
            <a:off x="5130800" y="3492500"/>
            <a:ext cx="5791200" cy="12827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4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主流架构：</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多采用“环境传感器 + 单片机(MCU) + 本地显示屏”的一体化设计方案。</a:t>
            </a:r>
            <a:endParaRPr lang="en-US" sz="1100"/>
          </a:p>
          <a:p>
            <a:pPr indent="0" algn="l">
              <a:lnSpc>
                <a:spcPct val="117000"/>
              </a:lnSpc>
            </a:pPr>
            <a:r>
              <a:rPr lang="en-US" sz="14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方案特点：</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结构简单，部署成本相对较低，可满足基础的现场查看需求。</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 name="AutoShape 26"/>
          <p:cNvSpPr/>
          <p:nvPr/>
        </p:nvSpPr>
        <p:spPr>
          <a:xfrm>
            <a:off x="5130800" y="5372735"/>
            <a:ext cx="5650865" cy="920115"/>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4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核心痛点：</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功能较为单一，用户通常无法自主灵活设置告警阈值；系统长期运行稳定性待提升；且普遍缺少云端数据存储与历史回溯功能。</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73025" y="146050"/>
            <a:ext cx="3029585" cy="490855"/>
          </a:xfrm>
          <a:prstGeom prst="rect">
            <a:avLst/>
          </a:prstGeom>
          <a:noFill/>
          <a:ln>
            <a:noFill/>
          </a:ln>
        </p:spPr>
      </p:pic>
      <p:sp>
        <p:nvSpPr>
          <p:cNvPr id="13" name="左大括号 12"/>
          <p:cNvSpPr/>
          <p:nvPr/>
        </p:nvSpPr>
        <p:spPr>
          <a:xfrm>
            <a:off x="4812665" y="5247640"/>
            <a:ext cx="344805" cy="83566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7" name="左大括号 26"/>
          <p:cNvSpPr/>
          <p:nvPr/>
        </p:nvSpPr>
        <p:spPr>
          <a:xfrm>
            <a:off x="4812665" y="3578860"/>
            <a:ext cx="344805" cy="835660"/>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8" name="左大括号 27"/>
          <p:cNvSpPr/>
          <p:nvPr/>
        </p:nvSpPr>
        <p:spPr>
          <a:xfrm>
            <a:off x="4761865" y="1910080"/>
            <a:ext cx="344805" cy="835660"/>
          </a:xfrm>
          <a:prstGeom prst="leftBrace">
            <a:avLst/>
          </a:prstGeom>
          <a:ln>
            <a:gradFill>
              <a:gsLst>
                <a:gs pos="50000">
                  <a:srgbClr val="1F5FBF"/>
                </a:gs>
                <a:gs pos="0">
                  <a:srgbClr val="1486CB"/>
                </a:gs>
                <a:gs pos="100000">
                  <a:srgbClr val="2A34B2"/>
                </a:gs>
              </a:gsLst>
              <a:lin ang="5400000" scaled="0"/>
              <a:tileRect r="-100000" b="-100000"/>
            </a:gra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9" name="左大括号 28"/>
          <p:cNvSpPr/>
          <p:nvPr/>
        </p:nvSpPr>
        <p:spPr>
          <a:xfrm>
            <a:off x="2240280" y="1969135"/>
            <a:ext cx="344805" cy="4170045"/>
          </a:xfrm>
          <a:prstGeom prst="leftBrace">
            <a:avLst/>
          </a:prstGeom>
        </p:spPr>
        <p:style>
          <a:lnRef idx="2">
            <a:schemeClr val="accent1"/>
          </a:lnRef>
          <a:fillRef idx="0">
            <a:srgbClr val="FFFFFF"/>
          </a:fillRef>
          <a:effectRef idx="0">
            <a:srgbClr val="FFFFFF"/>
          </a:effectRef>
          <a:fontRef idx="minor">
            <a:schemeClr val="tx1"/>
          </a:fontRef>
        </p:style>
        <p:txBody>
          <a:bodyPr rtlCol="0" anchor="ctr"/>
          <a:p>
            <a:pPr algn="ctr"/>
            <a:endParaRPr lang="zh-CN" altLang="en-US"/>
          </a:p>
        </p:txBody>
      </p:sp>
      <p:sp>
        <p:nvSpPr>
          <p:cNvPr id="23"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sp>
        <p:nvSpPr>
          <p:cNvPr id="17"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1" name="AutoShape 10"/>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sp>
        <p:nvSpPr>
          <p:cNvPr id="9"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5400000">
            <a:off x="4229100" y="-4229100"/>
            <a:ext cx="3733800" cy="12192000"/>
          </a:xfrm>
          <a:prstGeom prst="roundRect">
            <a:avLst>
              <a:gd name="adj" fmla="val 0"/>
            </a:avLst>
          </a:prstGeom>
          <a:solidFill>
            <a:schemeClr val="accent1">
              <a:lumMod val="40000"/>
              <a:lumOff val="60000"/>
            </a:scheme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5321300" y="3048000"/>
            <a:ext cx="1549400" cy="1378900"/>
          </a:xfrm>
          <a:custGeom>
            <a:avLst/>
            <a:gdLst/>
            <a:ahLst/>
            <a:cxnLst/>
            <a:rect l="l" t="t" r="r" b="b"/>
            <a:pathLst>
              <a:path w="1549400" h="1378900">
                <a:moveTo>
                  <a:pt x="455144" y="0"/>
                </a:moveTo>
                <a:lnTo>
                  <a:pt x="682201" y="0"/>
                </a:lnTo>
                <a:lnTo>
                  <a:pt x="867199" y="0"/>
                </a:lnTo>
                <a:lnTo>
                  <a:pt x="1094256" y="0"/>
                </a:lnTo>
                <a:cubicBezTo>
                  <a:pt x="1138385" y="0"/>
                  <a:pt x="1193828" y="31699"/>
                  <a:pt x="1216458" y="70190"/>
                </a:cubicBezTo>
                <a:cubicBezTo>
                  <a:pt x="1533276" y="619260"/>
                  <a:pt x="1533276" y="619260"/>
                  <a:pt x="1533276" y="619260"/>
                </a:cubicBezTo>
                <a:cubicBezTo>
                  <a:pt x="1544025" y="638505"/>
                  <a:pt x="1549400" y="663978"/>
                  <a:pt x="1549400" y="689450"/>
                </a:cubicBezTo>
                <a:cubicBezTo>
                  <a:pt x="1549400" y="714922"/>
                  <a:pt x="1544025" y="740395"/>
                  <a:pt x="1533276" y="759640"/>
                </a:cubicBezTo>
                <a:cubicBezTo>
                  <a:pt x="1216458" y="1308710"/>
                  <a:pt x="1216458" y="1308710"/>
                  <a:pt x="1216458" y="1308710"/>
                </a:cubicBezTo>
                <a:cubicBezTo>
                  <a:pt x="1193828" y="1347202"/>
                  <a:pt x="1138385" y="1378900"/>
                  <a:pt x="1094256" y="1378900"/>
                </a:cubicBezTo>
                <a:cubicBezTo>
                  <a:pt x="1015053" y="1378900"/>
                  <a:pt x="945747" y="1378900"/>
                  <a:pt x="885107" y="1378900"/>
                </a:cubicBezTo>
                <a:lnTo>
                  <a:pt x="867199" y="1378900"/>
                </a:lnTo>
                <a:lnTo>
                  <a:pt x="821465" y="1378900"/>
                </a:lnTo>
                <a:lnTo>
                  <a:pt x="800487" y="1378900"/>
                </a:lnTo>
                <a:lnTo>
                  <a:pt x="748913" y="1378900"/>
                </a:lnTo>
                <a:lnTo>
                  <a:pt x="727935" y="1378900"/>
                </a:lnTo>
                <a:lnTo>
                  <a:pt x="682201" y="1378900"/>
                </a:lnTo>
                <a:lnTo>
                  <a:pt x="664293" y="1378900"/>
                </a:lnTo>
                <a:cubicBezTo>
                  <a:pt x="603653" y="1378900"/>
                  <a:pt x="534347" y="1378900"/>
                  <a:pt x="455144" y="1378900"/>
                </a:cubicBezTo>
                <a:cubicBezTo>
                  <a:pt x="411015" y="1378900"/>
                  <a:pt x="355572" y="1347202"/>
                  <a:pt x="332942" y="1308710"/>
                </a:cubicBezTo>
                <a:cubicBezTo>
                  <a:pt x="332942" y="1308710"/>
                  <a:pt x="332942" y="1308710"/>
                  <a:pt x="16124" y="759640"/>
                </a:cubicBezTo>
                <a:cubicBezTo>
                  <a:pt x="5375" y="740395"/>
                  <a:pt x="0" y="714922"/>
                  <a:pt x="0" y="689450"/>
                </a:cubicBezTo>
                <a:cubicBezTo>
                  <a:pt x="0" y="663978"/>
                  <a:pt x="5375" y="638505"/>
                  <a:pt x="16124" y="619260"/>
                </a:cubicBezTo>
                <a:cubicBezTo>
                  <a:pt x="16124" y="619260"/>
                  <a:pt x="16124" y="619260"/>
                  <a:pt x="332942" y="70190"/>
                </a:cubicBezTo>
                <a:cubicBezTo>
                  <a:pt x="355572" y="31699"/>
                  <a:pt x="411015" y="0"/>
                  <a:pt x="455144" y="0"/>
                </a:cubicBezTo>
                <a:close/>
              </a:path>
            </a:pathLst>
          </a:cu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Freeform 5"/>
          <p:cNvSpPr/>
          <p:nvPr/>
        </p:nvSpPr>
        <p:spPr>
          <a:xfrm>
            <a:off x="5422900" y="3136900"/>
            <a:ext cx="1342415" cy="1194692"/>
          </a:xfrm>
          <a:custGeom>
            <a:avLst/>
            <a:gdLst/>
            <a:ahLst/>
            <a:cxnLst/>
            <a:rect l="l" t="t" r="r" b="b"/>
            <a:pathLst>
              <a:path w="1342415" h="1194692">
                <a:moveTo>
                  <a:pt x="394341" y="0"/>
                </a:moveTo>
                <a:lnTo>
                  <a:pt x="591066" y="0"/>
                </a:lnTo>
                <a:lnTo>
                  <a:pt x="751351" y="0"/>
                </a:lnTo>
                <a:lnTo>
                  <a:pt x="948075" y="0"/>
                </a:lnTo>
                <a:cubicBezTo>
                  <a:pt x="986309" y="0"/>
                  <a:pt x="1034345" y="27465"/>
                  <a:pt x="1053951" y="60814"/>
                </a:cubicBezTo>
                <a:cubicBezTo>
                  <a:pt x="1328447" y="536532"/>
                  <a:pt x="1328447" y="536532"/>
                  <a:pt x="1328447" y="536532"/>
                </a:cubicBezTo>
                <a:cubicBezTo>
                  <a:pt x="1337760" y="553207"/>
                  <a:pt x="1342415" y="575277"/>
                  <a:pt x="1342415" y="597346"/>
                </a:cubicBezTo>
                <a:cubicBezTo>
                  <a:pt x="1342415" y="619416"/>
                  <a:pt x="1337760" y="641486"/>
                  <a:pt x="1328447" y="658160"/>
                </a:cubicBezTo>
                <a:cubicBezTo>
                  <a:pt x="1053951" y="1133879"/>
                  <a:pt x="1053951" y="1133879"/>
                  <a:pt x="1053951" y="1133879"/>
                </a:cubicBezTo>
                <a:cubicBezTo>
                  <a:pt x="1034345" y="1167228"/>
                  <a:pt x="986309" y="1194692"/>
                  <a:pt x="948075" y="1194692"/>
                </a:cubicBezTo>
                <a:cubicBezTo>
                  <a:pt x="879451" y="1194692"/>
                  <a:pt x="819405" y="1194692"/>
                  <a:pt x="766865" y="1194692"/>
                </a:cubicBezTo>
                <a:lnTo>
                  <a:pt x="751351" y="1194692"/>
                </a:lnTo>
                <a:lnTo>
                  <a:pt x="711726" y="1194692"/>
                </a:lnTo>
                <a:lnTo>
                  <a:pt x="693551" y="1194692"/>
                </a:lnTo>
                <a:lnTo>
                  <a:pt x="648866" y="1194692"/>
                </a:lnTo>
                <a:lnTo>
                  <a:pt x="630690" y="1194692"/>
                </a:lnTo>
                <a:lnTo>
                  <a:pt x="591066" y="1194692"/>
                </a:lnTo>
                <a:lnTo>
                  <a:pt x="575550" y="1194692"/>
                </a:lnTo>
                <a:cubicBezTo>
                  <a:pt x="523011" y="1194692"/>
                  <a:pt x="462965" y="1194692"/>
                  <a:pt x="394341" y="1194692"/>
                </a:cubicBezTo>
                <a:cubicBezTo>
                  <a:pt x="356107" y="1194692"/>
                  <a:pt x="308072" y="1167228"/>
                  <a:pt x="288465" y="1133879"/>
                </a:cubicBezTo>
                <a:cubicBezTo>
                  <a:pt x="288465" y="1133879"/>
                  <a:pt x="288465" y="1133879"/>
                  <a:pt x="13970" y="658160"/>
                </a:cubicBezTo>
                <a:cubicBezTo>
                  <a:pt x="4657" y="641486"/>
                  <a:pt x="0" y="619416"/>
                  <a:pt x="0" y="597346"/>
                </a:cubicBezTo>
                <a:cubicBezTo>
                  <a:pt x="0" y="575277"/>
                  <a:pt x="4657" y="553207"/>
                  <a:pt x="13970" y="536532"/>
                </a:cubicBezTo>
                <a:cubicBezTo>
                  <a:pt x="13970" y="536532"/>
                  <a:pt x="13970" y="536532"/>
                  <a:pt x="288465" y="60814"/>
                </a:cubicBezTo>
                <a:cubicBezTo>
                  <a:pt x="308072" y="27465"/>
                  <a:pt x="356107" y="0"/>
                  <a:pt x="394341" y="0"/>
                </a:cubicBezTo>
                <a:close/>
              </a:path>
            </a:pathLst>
          </a:custGeom>
          <a:solidFill>
            <a:srgbClr val="9CC5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486400" y="3505200"/>
            <a:ext cx="12065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0"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Part.02</a:t>
            </a:r>
            <a:endParaRPr lang="en-US" sz="1100"/>
          </a:p>
        </p:txBody>
      </p:sp>
      <p:sp>
        <p:nvSpPr>
          <p:cNvPr id="7" name="AutoShape 7"/>
          <p:cNvSpPr/>
          <p:nvPr/>
        </p:nvSpPr>
        <p:spPr>
          <a:xfrm>
            <a:off x="3327400" y="4787900"/>
            <a:ext cx="5537200" cy="1016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4000" b="1" i="0" u="none" strike="noStrike" spc="600">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系统总体方案设计</a:t>
            </a:r>
            <a:endParaRPr lang="en-US" sz="1100"/>
          </a:p>
        </p:txBody>
      </p:sp>
      <p:pic>
        <p:nvPicPr>
          <p:cNvPr id="9" name="Picture 9"/>
          <p:cNvPicPr>
            <a:picLocks noChangeAspect="1"/>
          </p:cNvPicPr>
          <p:nvPr/>
        </p:nvPicPr>
        <p:blipFill>
          <a:blip r:embed="rId1"/>
          <a:srcRect t="34" b="34"/>
          <a:stretch>
            <a:fillRect/>
          </a:stretch>
        </p:blipFill>
        <p:spPr>
          <a:xfrm>
            <a:off x="10020300" y="165100"/>
            <a:ext cx="1905000" cy="1879600"/>
          </a:xfrm>
          <a:prstGeom prst="rect">
            <a:avLst/>
          </a:prstGeom>
          <a:noFill/>
          <a:ln w="25400" cap="flat" cmpd="sng">
            <a:noFill/>
            <a:prstDash val="solid"/>
            <a:round/>
          </a:ln>
        </p:spPr>
      </p:pic>
      <p:pic>
        <p:nvPicPr>
          <p:cNvPr id="87" name="图片 1" descr="lQLPDhrGSL3Q8RPNAUXNB_Gw-UljzDPDeBW9Elf1rMOXFg_2033_325"/>
          <p:cNvPicPr>
            <a:picLocks noChangeAspect="1"/>
          </p:cNvPicPr>
          <p:nvPr/>
        </p:nvPicPr>
        <p:blipFill>
          <a:blip r:embed="rId2"/>
          <a:stretch>
            <a:fillRect/>
          </a:stretch>
        </p:blipFill>
        <p:spPr>
          <a:xfrm>
            <a:off x="2367915" y="1019810"/>
            <a:ext cx="7456805" cy="120713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4" name="Connector 4"/>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5" name="AutoShape 5"/>
          <p:cNvSpPr/>
          <p:nvPr/>
        </p:nvSpPr>
        <p:spPr>
          <a:xfrm>
            <a:off x="4927600" y="0"/>
            <a:ext cx="1663700" cy="7874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p>
        </p:txBody>
      </p:sp>
      <p:cxnSp>
        <p:nvCxnSpPr>
          <p:cNvPr id="6" name="Connector 6"/>
          <p:cNvCxnSpPr/>
          <p:nvPr/>
        </p:nvCxnSpPr>
        <p:spPr>
          <a:xfrm rot="5056725">
            <a:off x="988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7" name="AutoShape 7"/>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cxnSp>
        <p:nvCxnSpPr>
          <p:cNvPr id="12" name="Connector 12"/>
          <p:cNvCxnSpPr/>
          <p:nvPr/>
        </p:nvCxnSpPr>
        <p:spPr>
          <a:xfrm rot="5056725">
            <a:off x="64831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4" name="Connector 14"/>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5" name="AutoShape 15"/>
          <p:cNvSpPr/>
          <p:nvPr/>
        </p:nvSpPr>
        <p:spPr>
          <a:xfrm>
            <a:off x="495300" y="1104900"/>
            <a:ext cx="2286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系统功能需求</a:t>
            </a:r>
            <a:endParaRPr lang="en-US" sz="1100"/>
          </a:p>
        </p:txBody>
      </p:sp>
      <p:cxnSp>
        <p:nvCxnSpPr>
          <p:cNvPr id="16" name="Connector 16"/>
          <p:cNvCxnSpPr/>
          <p:nvPr/>
        </p:nvCxnSpPr>
        <p:spPr>
          <a:xfrm rot="5056725">
            <a:off x="310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7" name="Freeform 17"/>
          <p:cNvSpPr/>
          <p:nvPr>
            <p:custDataLst>
              <p:tags r:id="rId1"/>
            </p:custDataLst>
          </p:nvPr>
        </p:nvSpPr>
        <p:spPr>
          <a:xfrm>
            <a:off x="4356100" y="2362200"/>
            <a:ext cx="1981200" cy="2061633"/>
          </a:xfrm>
          <a:custGeom>
            <a:avLst/>
            <a:gdLst/>
            <a:ahLst/>
            <a:cxnLst/>
            <a:rect l="l" t="t" r="r" b="b"/>
            <a:pathLst>
              <a:path w="1981200" h="2061633">
                <a:moveTo>
                  <a:pt x="1213689" y="2061633"/>
                </a:moveTo>
                <a:cubicBezTo>
                  <a:pt x="1213689" y="2061633"/>
                  <a:pt x="0" y="1648488"/>
                  <a:pt x="290631" y="0"/>
                </a:cubicBezTo>
                <a:cubicBezTo>
                  <a:pt x="290631" y="0"/>
                  <a:pt x="1981200" y="380421"/>
                  <a:pt x="1373332" y="1957324"/>
                </a:cubicBezTo>
                <a:cubicBezTo>
                  <a:pt x="1373332" y="1957324"/>
                  <a:pt x="888265" y="1257841"/>
                  <a:pt x="808444" y="883557"/>
                </a:cubicBezTo>
                <a:cubicBezTo>
                  <a:pt x="808444" y="883557"/>
                  <a:pt x="918966" y="1746661"/>
                  <a:pt x="1213689" y="2061633"/>
                </a:cubicBezTo>
                <a:close/>
              </a:path>
            </a:pathLst>
          </a:cu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custDataLst>
              <p:tags r:id="rId2"/>
            </p:custDataLst>
          </p:nvPr>
        </p:nvSpPr>
        <p:spPr>
          <a:xfrm>
            <a:off x="5486400" y="2184400"/>
            <a:ext cx="2582333" cy="2438400"/>
          </a:xfrm>
          <a:custGeom>
            <a:avLst/>
            <a:gdLst/>
            <a:ahLst/>
            <a:cxnLst/>
            <a:rect l="l" t="t" r="r" b="b"/>
            <a:pathLst>
              <a:path w="2582333" h="2438400">
                <a:moveTo>
                  <a:pt x="794564" y="2426115"/>
                </a:moveTo>
                <a:cubicBezTo>
                  <a:pt x="794564" y="2426115"/>
                  <a:pt x="0" y="1257076"/>
                  <a:pt x="1349530" y="0"/>
                </a:cubicBezTo>
                <a:cubicBezTo>
                  <a:pt x="1349530" y="0"/>
                  <a:pt x="2582333" y="1451574"/>
                  <a:pt x="1003445" y="2438400"/>
                </a:cubicBezTo>
                <a:cubicBezTo>
                  <a:pt x="1003445" y="2438400"/>
                  <a:pt x="1040305" y="1502759"/>
                  <a:pt x="1218468" y="1119904"/>
                </a:cubicBezTo>
                <a:cubicBezTo>
                  <a:pt x="1218468" y="1119904"/>
                  <a:pt x="743368" y="1951129"/>
                  <a:pt x="794564" y="2426115"/>
                </a:cubicBezTo>
                <a:close/>
              </a:path>
            </a:pathLst>
          </a:cu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custDataLst>
              <p:tags r:id="rId3"/>
            </p:custDataLst>
          </p:nvPr>
        </p:nvSpPr>
        <p:spPr>
          <a:xfrm>
            <a:off x="6819900" y="3695700"/>
            <a:ext cx="1909233" cy="1871133"/>
          </a:xfrm>
          <a:custGeom>
            <a:avLst/>
            <a:gdLst/>
            <a:ahLst/>
            <a:cxnLst/>
            <a:rect l="l" t="t" r="r" b="b"/>
            <a:pathLst>
              <a:path w="1909233" h="1871133">
                <a:moveTo>
                  <a:pt x="0" y="1026566"/>
                </a:moveTo>
                <a:cubicBezTo>
                  <a:pt x="0" y="1026566"/>
                  <a:pt x="487028" y="0"/>
                  <a:pt x="1909233" y="423305"/>
                </a:cubicBezTo>
                <a:cubicBezTo>
                  <a:pt x="1909233" y="423305"/>
                  <a:pt x="1403788" y="1871133"/>
                  <a:pt x="75715" y="1175849"/>
                </a:cubicBezTo>
                <a:cubicBezTo>
                  <a:pt x="75715" y="1175849"/>
                  <a:pt x="740774" y="822071"/>
                  <a:pt x="1078420" y="789352"/>
                </a:cubicBezTo>
                <a:cubicBezTo>
                  <a:pt x="1078420" y="789352"/>
                  <a:pt x="308997" y="797532"/>
                  <a:pt x="0" y="1026566"/>
                </a:cubicBezTo>
                <a:close/>
              </a:path>
            </a:pathLst>
          </a:cu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custDataLst>
              <p:tags r:id="rId4"/>
            </p:custDataLst>
          </p:nvPr>
        </p:nvSpPr>
        <p:spPr>
          <a:xfrm>
            <a:off x="3365500" y="3302000"/>
            <a:ext cx="1983316" cy="2095500"/>
          </a:xfrm>
          <a:custGeom>
            <a:avLst/>
            <a:gdLst/>
            <a:ahLst/>
            <a:cxnLst/>
            <a:rect l="l" t="t" r="r" b="b"/>
            <a:pathLst>
              <a:path w="1983316" h="2095500">
                <a:moveTo>
                  <a:pt x="1975129" y="1437207"/>
                </a:moveTo>
                <a:cubicBezTo>
                  <a:pt x="1975129" y="1437207"/>
                  <a:pt x="1037711" y="2095500"/>
                  <a:pt x="0" y="1018107"/>
                </a:cubicBezTo>
                <a:cubicBezTo>
                  <a:pt x="0" y="1018107"/>
                  <a:pt x="1162563" y="0"/>
                  <a:pt x="1983316" y="1267522"/>
                </a:cubicBezTo>
                <a:cubicBezTo>
                  <a:pt x="1983316" y="1267522"/>
                  <a:pt x="1223966" y="1249122"/>
                  <a:pt x="910811" y="1110104"/>
                </a:cubicBezTo>
                <a:cubicBezTo>
                  <a:pt x="910811" y="1110104"/>
                  <a:pt x="1590337" y="1484227"/>
                  <a:pt x="1975129" y="1437207"/>
                </a:cubicBezTo>
                <a:close/>
              </a:path>
            </a:pathLst>
          </a:cu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5348512" y="4415994"/>
            <a:ext cx="1390034" cy="2674837"/>
          </a:xfrm>
          <a:custGeom>
            <a:avLst/>
            <a:gdLst/>
            <a:ahLst/>
            <a:cxnLst/>
            <a:rect l="l" t="t" r="r" b="b"/>
            <a:pathLst>
              <a:path w="1390034" h="2674837">
                <a:moveTo>
                  <a:pt x="649273" y="4443"/>
                </a:moveTo>
                <a:cubicBezTo>
                  <a:pt x="656985" y="2368"/>
                  <a:pt x="666357" y="4095"/>
                  <a:pt x="677616" y="10237"/>
                </a:cubicBezTo>
                <a:cubicBezTo>
                  <a:pt x="767692" y="61415"/>
                  <a:pt x="800448" y="569107"/>
                  <a:pt x="923278" y="593671"/>
                </a:cubicBezTo>
                <a:cubicBezTo>
                  <a:pt x="1048155" y="620285"/>
                  <a:pt x="1181221" y="458561"/>
                  <a:pt x="1213977" y="382817"/>
                </a:cubicBezTo>
                <a:cubicBezTo>
                  <a:pt x="1246730" y="309118"/>
                  <a:pt x="1349091" y="270225"/>
                  <a:pt x="1369563" y="352111"/>
                </a:cubicBezTo>
                <a:cubicBezTo>
                  <a:pt x="1390034" y="431948"/>
                  <a:pt x="1187364" y="544541"/>
                  <a:pt x="1058392" y="1076797"/>
                </a:cubicBezTo>
                <a:cubicBezTo>
                  <a:pt x="987860" y="1368994"/>
                  <a:pt x="1019574" y="1764047"/>
                  <a:pt x="1062799" y="2062070"/>
                </a:cubicBezTo>
                <a:lnTo>
                  <a:pt x="1170689" y="2674838"/>
                </a:lnTo>
                <a:lnTo>
                  <a:pt x="542344" y="2674838"/>
                </a:lnTo>
                <a:lnTo>
                  <a:pt x="543300" y="2660969"/>
                </a:lnTo>
                <a:cubicBezTo>
                  <a:pt x="553777" y="2508371"/>
                  <a:pt x="579975" y="2119973"/>
                  <a:pt x="581020" y="2108857"/>
                </a:cubicBezTo>
                <a:cubicBezTo>
                  <a:pt x="600226" y="1898087"/>
                  <a:pt x="627013" y="1552949"/>
                  <a:pt x="620296" y="1328594"/>
                </a:cubicBezTo>
                <a:cubicBezTo>
                  <a:pt x="610060" y="984676"/>
                  <a:pt x="300936" y="886412"/>
                  <a:pt x="174009" y="796337"/>
                </a:cubicBezTo>
                <a:cubicBezTo>
                  <a:pt x="47086" y="704217"/>
                  <a:pt x="18424" y="605954"/>
                  <a:pt x="90075" y="610049"/>
                </a:cubicBezTo>
                <a:cubicBezTo>
                  <a:pt x="159681" y="614143"/>
                  <a:pt x="354161" y="788150"/>
                  <a:pt x="368492" y="755395"/>
                </a:cubicBezTo>
                <a:cubicBezTo>
                  <a:pt x="382823" y="722642"/>
                  <a:pt x="149444" y="532257"/>
                  <a:pt x="75746" y="419664"/>
                </a:cubicBezTo>
                <a:cubicBezTo>
                  <a:pt x="0" y="305027"/>
                  <a:pt x="51180" y="276365"/>
                  <a:pt x="81889" y="266130"/>
                </a:cubicBezTo>
                <a:cubicBezTo>
                  <a:pt x="112595" y="255894"/>
                  <a:pt x="423766" y="616192"/>
                  <a:pt x="442190" y="595719"/>
                </a:cubicBezTo>
                <a:cubicBezTo>
                  <a:pt x="460615" y="575247"/>
                  <a:pt x="212907" y="141254"/>
                  <a:pt x="225189" y="106453"/>
                </a:cubicBezTo>
                <a:cubicBezTo>
                  <a:pt x="235425" y="71651"/>
                  <a:pt x="298888" y="0"/>
                  <a:pt x="407388" y="243611"/>
                </a:cubicBezTo>
                <a:cubicBezTo>
                  <a:pt x="515890" y="487219"/>
                  <a:pt x="687853" y="599814"/>
                  <a:pt x="653051" y="397146"/>
                </a:cubicBezTo>
                <a:cubicBezTo>
                  <a:pt x="622599" y="219812"/>
                  <a:pt x="595281" y="18970"/>
                  <a:pt x="649273" y="4443"/>
                </a:cubicBezTo>
                <a:close/>
              </a:path>
            </a:pathLst>
          </a:cu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5"/>
            </p:custDataLst>
          </p:nvPr>
        </p:nvSpPr>
        <p:spPr>
          <a:xfrm>
            <a:off x="7340600" y="1562100"/>
            <a:ext cx="1790700" cy="4953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r>
              <a:rPr lang="en-US" sz="20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越限声光报警</a:t>
            </a:r>
            <a:endParaRPr lang="en-US" sz="1100"/>
          </a:p>
        </p:txBody>
      </p:sp>
      <p:sp>
        <p:nvSpPr>
          <p:cNvPr id="23" name="AutoShape 23"/>
          <p:cNvSpPr/>
          <p:nvPr>
            <p:custDataLst>
              <p:tags r:id="rId6"/>
            </p:custDataLst>
          </p:nvPr>
        </p:nvSpPr>
        <p:spPr>
          <a:xfrm>
            <a:off x="7340600" y="2159000"/>
            <a:ext cx="3378200" cy="1270000"/>
          </a:xfrm>
          <a:prstGeom prst="roundRect">
            <a:avLst>
              <a:gd name="adj" fmla="val 0"/>
            </a:avLst>
          </a:prstGeom>
          <a:noFill/>
          <a:ln w="25400" cap="flat" cmpd="sng">
            <a:noFill/>
            <a:prstDash val="solid"/>
            <a:round/>
          </a:ln>
        </p:spPr>
        <p:txBody>
          <a:bodyPr vert="horz" wrap="square" lIns="127000" tIns="101600" rIns="127000" bIns="101600" rtlCol="0" anchor="t" anchorCtr="0"/>
          <a:lstStyle/>
          <a:p>
            <a:pPr indent="0" algn="l">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当温湿度超出阈值范围时，系统能立即触发蜂鸣器报警，以声光形式提醒管理人员及时处理异常情况。</a:t>
            </a:r>
            <a:endParaRPr lang="en-US" sz="1100"/>
          </a:p>
        </p:txBody>
      </p:sp>
      <p:sp>
        <p:nvSpPr>
          <p:cNvPr id="24" name="AutoShape 24"/>
          <p:cNvSpPr/>
          <p:nvPr>
            <p:custDataLst>
              <p:tags r:id="rId7"/>
            </p:custDataLst>
          </p:nvPr>
        </p:nvSpPr>
        <p:spPr>
          <a:xfrm>
            <a:off x="8597900" y="4191000"/>
            <a:ext cx="1790700" cy="4953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r>
              <a:rPr lang="en-US" sz="20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稳定可靠运行</a:t>
            </a:r>
            <a:endParaRPr lang="en-US" sz="1100"/>
          </a:p>
        </p:txBody>
      </p:sp>
      <p:sp>
        <p:nvSpPr>
          <p:cNvPr id="25" name="AutoShape 25"/>
          <p:cNvSpPr/>
          <p:nvPr>
            <p:custDataLst>
              <p:tags r:id="rId8"/>
            </p:custDataLst>
          </p:nvPr>
        </p:nvSpPr>
        <p:spPr>
          <a:xfrm>
            <a:off x="8597900" y="4826000"/>
            <a:ext cx="3378200" cy="1397000"/>
          </a:xfrm>
          <a:prstGeom prst="roundRect">
            <a:avLst>
              <a:gd name="adj" fmla="val 0"/>
            </a:avLst>
          </a:prstGeom>
          <a:noFill/>
          <a:ln w="25400" cap="flat" cmpd="sng">
            <a:noFill/>
            <a:prstDash val="solid"/>
            <a:round/>
          </a:ln>
        </p:spPr>
        <p:txBody>
          <a:bodyPr vert="horz" wrap="square" lIns="127000" tIns="101600" rIns="127000" bIns="101600" rtlCol="0" anchor="t" anchorCtr="0"/>
          <a:lstStyle/>
          <a:p>
            <a:pPr indent="0" algn="l">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采用硬件模块化设计降低维护难度，软件层面通过主程序轮询结构与异常处理机制，确保系统长期稳定、无故障运行。</a:t>
            </a:r>
            <a:endParaRPr lang="en-US" sz="1100"/>
          </a:p>
        </p:txBody>
      </p:sp>
      <p:sp>
        <p:nvSpPr>
          <p:cNvPr id="26" name="AutoShape 26"/>
          <p:cNvSpPr/>
          <p:nvPr>
            <p:custDataLst>
              <p:tags r:id="rId9"/>
            </p:custDataLst>
          </p:nvPr>
        </p:nvSpPr>
        <p:spPr>
          <a:xfrm>
            <a:off x="2705100" y="1778000"/>
            <a:ext cx="1790700" cy="5588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r>
              <a:rPr lang="en-US" sz="20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实时采集与显示</a:t>
            </a:r>
            <a:endParaRPr lang="en-US" sz="1100"/>
          </a:p>
        </p:txBody>
      </p:sp>
      <p:sp>
        <p:nvSpPr>
          <p:cNvPr id="27" name="AutoShape 27"/>
          <p:cNvSpPr/>
          <p:nvPr>
            <p:custDataLst>
              <p:tags r:id="rId10"/>
            </p:custDataLst>
          </p:nvPr>
        </p:nvSpPr>
        <p:spPr>
          <a:xfrm>
            <a:off x="1104900" y="2540000"/>
            <a:ext cx="3378200" cy="1270000"/>
          </a:xfrm>
          <a:prstGeom prst="roundRect">
            <a:avLst>
              <a:gd name="adj" fmla="val 0"/>
            </a:avLst>
          </a:prstGeom>
          <a:noFill/>
          <a:ln w="25400" cap="flat" cmpd="sng">
            <a:noFill/>
            <a:prstDash val="solid"/>
            <a:round/>
          </a:ln>
        </p:spPr>
        <p:txBody>
          <a:bodyPr vert="horz" wrap="square" lIns="127000" tIns="101600" rIns="127000" bIns="101600" rtlCol="0" anchor="t" anchorCtr="0"/>
          <a:lstStyle/>
          <a:p>
            <a:pPr indent="0" algn="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利用高精度DHT11温湿度传感器实时采集环境数据，并将采集到的温湿度信息在LCD1602显示屏上实时刷新显示，便于直观监控。</a:t>
            </a:r>
            <a:endParaRPr lang="en-US" sz="1100"/>
          </a:p>
        </p:txBody>
      </p:sp>
      <p:sp>
        <p:nvSpPr>
          <p:cNvPr id="28" name="AutoShape 28"/>
          <p:cNvSpPr/>
          <p:nvPr>
            <p:custDataLst>
              <p:tags r:id="rId11"/>
            </p:custDataLst>
          </p:nvPr>
        </p:nvSpPr>
        <p:spPr>
          <a:xfrm>
            <a:off x="1562100" y="4191000"/>
            <a:ext cx="1790700" cy="495300"/>
          </a:xfrm>
          <a:prstGeom prst="rect">
            <a:avLst/>
          </a:prstGeom>
          <a:noFill/>
          <a:ln w="12700" cap="flat" cmpd="sng">
            <a:noFill/>
            <a:prstDash val="solid"/>
            <a:round/>
          </a:ln>
        </p:spPr>
        <p:txBody>
          <a:bodyPr vert="horz" wrap="square" lIns="88900" tIns="50800" rIns="88900" bIns="50800" rtlCol="0" anchor="t" anchorCtr="0"/>
          <a:lstStyle/>
          <a:p>
            <a:pPr indent="0" algn="r">
              <a:lnSpc>
                <a:spcPct val="100000"/>
              </a:lnSpc>
              <a:defRPr/>
            </a:pPr>
            <a:r>
              <a:rPr lang="en-US" sz="20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阈值设置与保存</a:t>
            </a:r>
            <a:endParaRPr lang="en-US" sz="1100"/>
          </a:p>
        </p:txBody>
      </p:sp>
      <p:sp>
        <p:nvSpPr>
          <p:cNvPr id="29" name="AutoShape 29"/>
          <p:cNvSpPr/>
          <p:nvPr>
            <p:custDataLst>
              <p:tags r:id="rId12"/>
            </p:custDataLst>
          </p:nvPr>
        </p:nvSpPr>
        <p:spPr>
          <a:xfrm>
            <a:off x="215900" y="4826000"/>
            <a:ext cx="3378200" cy="1397000"/>
          </a:xfrm>
          <a:prstGeom prst="roundRect">
            <a:avLst>
              <a:gd name="adj" fmla="val 0"/>
            </a:avLst>
          </a:prstGeom>
          <a:noFill/>
          <a:ln w="25400" cap="flat" cmpd="sng">
            <a:noFill/>
            <a:prstDash val="solid"/>
            <a:round/>
          </a:ln>
        </p:spPr>
        <p:txBody>
          <a:bodyPr vert="horz" wrap="square" lIns="127000" tIns="101600" rIns="127000" bIns="101600" rtlCol="0" anchor="t" anchorCtr="0"/>
          <a:lstStyle/>
          <a:p>
            <a:pPr indent="0" algn="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支持用户通过物理按键自定义温湿度的上下限报警阈值，且配置数据可保存至Flash存储芯片中，实现系统掉电后参数不丢失。</a:t>
            </a:r>
            <a:endParaRPr lang="en-US" sz="1100"/>
          </a:p>
        </p:txBody>
      </p:sp>
      <p:pic>
        <p:nvPicPr>
          <p:cNvPr id="87" name="图片 1" descr="lQLPDhrGSL3Q8RPNAUXNB_Gw-UljzDPDeBW9Elf1rMOXFg_2033_325"/>
          <p:cNvPicPr>
            <a:picLocks noChangeAspect="1"/>
          </p:cNvPicPr>
          <p:nvPr/>
        </p:nvPicPr>
        <p:blipFill>
          <a:blip r:embed="rId13"/>
          <a:stretch>
            <a:fillRect/>
          </a:stretch>
        </p:blipFill>
        <p:spPr>
          <a:xfrm>
            <a:off x="94615" y="151765"/>
            <a:ext cx="2991485" cy="484505"/>
          </a:xfrm>
          <a:prstGeom prst="rect">
            <a:avLst/>
          </a:prstGeom>
          <a:noFill/>
          <a:ln>
            <a:noFill/>
          </a:ln>
        </p:spPr>
      </p:pic>
      <p:sp>
        <p:nvSpPr>
          <p:cNvPr id="42"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sp>
        <p:nvSpPr>
          <p:cNvPr id="44"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13" name="AutoShape 10"/>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sp>
        <p:nvSpPr>
          <p:cNvPr id="9"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sp>
        <p:nvSpPr>
          <p:cNvPr id="4" name="AutoShape 4"/>
          <p:cNvSpPr/>
          <p:nvPr/>
        </p:nvSpPr>
        <p:spPr>
          <a:xfrm>
            <a:off x="4927600" y="0"/>
            <a:ext cx="1663700" cy="7874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p>
        </p:txBody>
      </p:sp>
      <p:cxnSp>
        <p:nvCxnSpPr>
          <p:cNvPr id="5" name="Connector 5"/>
          <p:cNvCxnSpPr/>
          <p:nvPr/>
        </p:nvCxnSpPr>
        <p:spPr>
          <a:xfrm rot="5056725">
            <a:off x="3104999" y="400208"/>
            <a:ext cx="254317" cy="12700"/>
          </a:xfrm>
          <a:prstGeom prst="line">
            <a:avLst/>
          </a:prstGeom>
          <a:solidFill>
            <a:srgbClr val="DEE0E3">
              <a:alpha val="100000"/>
            </a:srgbClr>
          </a:solidFill>
          <a:ln w="12700" cap="flat" cmpd="sng">
            <a:solidFill>
              <a:srgbClr val="BFBFBF">
                <a:alpha val="100000"/>
              </a:srgbClr>
            </a:solidFill>
            <a:prstDash val="solid"/>
            <a:round/>
            <a:headEnd type="none" w="med" len="med"/>
            <a:tailEnd type="none" w="med" len="med"/>
          </a:ln>
        </p:spPr>
      </p:cxnSp>
      <p:cxnSp>
        <p:nvCxnSpPr>
          <p:cNvPr id="6" name="Connector 6"/>
          <p:cNvCxnSpPr/>
          <p:nvPr>
            <p:custDataLst>
              <p:tags r:id="rId1"/>
            </p:custDataLst>
          </p:nvPr>
        </p:nvCxnSpPr>
        <p:spPr>
          <a:xfrm rot="5056725">
            <a:off x="6483199" y="400208"/>
            <a:ext cx="254317" cy="12700"/>
          </a:xfrm>
          <a:prstGeom prst="line">
            <a:avLst/>
          </a:prstGeom>
          <a:solidFill>
            <a:srgbClr val="DEE0E3">
              <a:alpha val="100000"/>
            </a:srgbClr>
          </a:solidFill>
          <a:ln w="12700" cap="flat" cmpd="sng">
            <a:solidFill>
              <a:srgbClr val="BFBFBF">
                <a:alpha val="100000"/>
              </a:srgbClr>
            </a:solidFill>
            <a:prstDash val="solid"/>
            <a:round/>
            <a:headEnd type="none" w="med" len="med"/>
            <a:tailEnd type="none" w="med" len="med"/>
          </a:ln>
        </p:spPr>
      </p:cxnSp>
      <p:cxnSp>
        <p:nvCxnSpPr>
          <p:cNvPr id="7" name="Connector 7"/>
          <p:cNvCxnSpPr/>
          <p:nvPr>
            <p:custDataLst>
              <p:tags r:id="rId2"/>
            </p:custDataLst>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round/>
            <a:headEnd type="none" w="med" len="med"/>
            <a:tailEnd type="none" w="med" len="med"/>
          </a:ln>
        </p:spPr>
      </p:cxnSp>
      <p:cxnSp>
        <p:nvCxnSpPr>
          <p:cNvPr id="8" name="Connector 8"/>
          <p:cNvCxnSpPr/>
          <p:nvPr/>
        </p:nvCxnSpPr>
        <p:spPr>
          <a:xfrm rot="5056725">
            <a:off x="9886799" y="400208"/>
            <a:ext cx="254317" cy="12700"/>
          </a:xfrm>
          <a:prstGeom prst="line">
            <a:avLst/>
          </a:prstGeom>
          <a:solidFill>
            <a:srgbClr val="DEE0E3">
              <a:alpha val="100000"/>
            </a:srgbClr>
          </a:solidFill>
          <a:ln w="12700" cap="flat" cmpd="sng">
            <a:solidFill>
              <a:srgbClr val="BFBFBF">
                <a:alpha val="100000"/>
              </a:srgbClr>
            </a:solidFill>
            <a:prstDash val="solid"/>
            <a:round/>
            <a:headEnd type="none" w="med" len="med"/>
            <a:tailEnd type="none" w="med" len="med"/>
          </a:ln>
        </p:spPr>
      </p:cxnSp>
      <p:sp>
        <p:nvSpPr>
          <p:cNvPr id="9" name="AutoShape 9"/>
          <p:cNvSpPr/>
          <p:nvPr>
            <p:custDataLst>
              <p:tags r:id="rId3"/>
            </p:custDataLst>
          </p:nvPr>
        </p:nvSpPr>
        <p:spPr>
          <a:xfrm>
            <a:off x="337820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14" name="AutoShape 14"/>
          <p:cNvSpPr/>
          <p:nvPr/>
        </p:nvSpPr>
        <p:spPr>
          <a:xfrm>
            <a:off x="685800" y="11049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总体架构</a:t>
            </a:r>
            <a:endParaRPr lang="en-US" sz="1100"/>
          </a:p>
        </p:txBody>
      </p:sp>
      <p:sp>
        <p:nvSpPr>
          <p:cNvPr id="15" name="AutoShape 15"/>
          <p:cNvSpPr/>
          <p:nvPr/>
        </p:nvSpPr>
        <p:spPr>
          <a:xfrm>
            <a:off x="736600" y="2032000"/>
            <a:ext cx="3429000" cy="2032000"/>
          </a:xfrm>
          <a:prstGeom prst="roundRect">
            <a:avLst>
              <a:gd name="adj" fmla="val 625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6" name="AutoShape 16"/>
          <p:cNvSpPr/>
          <p:nvPr/>
        </p:nvSpPr>
        <p:spPr>
          <a:xfrm>
            <a:off x="736600" y="2032000"/>
            <a:ext cx="76200" cy="20320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952500" y="2159000"/>
            <a:ext cx="29845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主控模块</a:t>
            </a:r>
            <a:endParaRPr lang="en-US" sz="1100"/>
          </a:p>
          <a:p>
            <a:pPr indent="0" algn="l">
              <a:lnSpc>
                <a:spcPct val="117000"/>
              </a:lnSpc>
              <a:spcBef>
                <a:spcPts val="1000"/>
              </a:spcBef>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核心器件：STM32F103C8T6</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负责系统核心数据处理、逻辑运算及各外设模块的统一调度与协调。</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736600" y="4318000"/>
            <a:ext cx="3429000" cy="2032000"/>
          </a:xfrm>
          <a:prstGeom prst="roundRect">
            <a:avLst>
              <a:gd name="adj" fmla="val 625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9" name="AutoShape 19"/>
          <p:cNvSpPr/>
          <p:nvPr/>
        </p:nvSpPr>
        <p:spPr>
          <a:xfrm>
            <a:off x="736600" y="4318000"/>
            <a:ext cx="76200" cy="203200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952500" y="4445000"/>
            <a:ext cx="29845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输入模块</a:t>
            </a:r>
            <a:endParaRPr lang="en-US" sz="1100"/>
          </a:p>
          <a:p>
            <a:pPr indent="0" algn="l">
              <a:lnSpc>
                <a:spcPct val="117000"/>
              </a:lnSpc>
              <a:spcBef>
                <a:spcPts val="1000"/>
              </a:spcBef>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硬件组成：DHT11 + 3个独立按键</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DHT11：采集环境温湿度数据。</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独立按键：实现系统参数设置与功能控制输入。</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4570095" y="2032000"/>
            <a:ext cx="3393440" cy="2032000"/>
          </a:xfrm>
          <a:prstGeom prst="roundRect">
            <a:avLst>
              <a:gd name="adj" fmla="val 625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2" name="AutoShape 22"/>
          <p:cNvSpPr/>
          <p:nvPr/>
        </p:nvSpPr>
        <p:spPr>
          <a:xfrm>
            <a:off x="4585970" y="2032000"/>
            <a:ext cx="76200" cy="2032000"/>
          </a:xfrm>
          <a:prstGeom prst="roundRect">
            <a:avLst>
              <a:gd name="adj" fmla="val 0"/>
            </a:avLst>
          </a:prstGeom>
          <a:solidFill>
            <a:srgbClr val="ED7D31">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4792345" y="2159000"/>
            <a:ext cx="29845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ED7D31"/>
                </a:solidFill>
                <a:latin typeface="微软雅黑" panose="020B0503020204020204" charset="-122"/>
                <a:ea typeface="微软雅黑" panose="020B0503020204020204" charset="-122"/>
                <a:cs typeface="微软雅黑" panose="020B0503020204020204" charset="-122"/>
                <a:sym typeface="微软雅黑" panose="020B0503020204020204" charset="-122"/>
              </a:rPr>
              <a:t>输出模块</a:t>
            </a:r>
            <a:endParaRPr lang="en-US" sz="1100"/>
          </a:p>
          <a:p>
            <a:pPr indent="0" algn="l">
              <a:lnSpc>
                <a:spcPct val="117000"/>
              </a:lnSpc>
              <a:spcBef>
                <a:spcPts val="1000"/>
              </a:spcBef>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硬件组成：LCD1602 + 有源蜂鸣器</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LCD1602：实时显示温湿度数值与系统状态。</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蜂鸣器：在异常状态下（如温湿度超标）提供声音报警。</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4" name="AutoShape 24"/>
          <p:cNvSpPr/>
          <p:nvPr/>
        </p:nvSpPr>
        <p:spPr>
          <a:xfrm>
            <a:off x="4585970" y="4387850"/>
            <a:ext cx="3413125" cy="1962150"/>
          </a:xfrm>
          <a:prstGeom prst="roundRect">
            <a:avLst>
              <a:gd name="adj" fmla="val 625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25" name="AutoShape 25"/>
          <p:cNvSpPr/>
          <p:nvPr/>
        </p:nvSpPr>
        <p:spPr>
          <a:xfrm>
            <a:off x="4570095" y="4387850"/>
            <a:ext cx="76200" cy="2032000"/>
          </a:xfrm>
          <a:prstGeom prst="roundRect">
            <a:avLst>
              <a:gd name="adj" fmla="val 0"/>
            </a:avLst>
          </a:prstGeom>
          <a:solidFill>
            <a:srgbClr val="70AD47">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4724400" y="4445000"/>
            <a:ext cx="2984500" cy="1778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70AD47"/>
                </a:solidFill>
                <a:latin typeface="微软雅黑" panose="020B0503020204020204" charset="-122"/>
                <a:ea typeface="微软雅黑" panose="020B0503020204020204" charset="-122"/>
                <a:cs typeface="微软雅黑" panose="020B0503020204020204" charset="-122"/>
                <a:sym typeface="微软雅黑" panose="020B0503020204020204" charset="-122"/>
              </a:rPr>
              <a:t>驱动与电源模块</a:t>
            </a:r>
            <a:endParaRPr lang="en-US" sz="1100"/>
          </a:p>
          <a:p>
            <a:pPr indent="0" algn="l">
              <a:lnSpc>
                <a:spcPct val="117000"/>
              </a:lnSpc>
              <a:spcBef>
                <a:spcPts val="1000"/>
              </a:spcBef>
            </a:pPr>
            <a:r>
              <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硬件支持：S8050三极管 + 5V直流电源</a:t>
            </a:r>
            <a:endParaRPr lang="en-US" sz="14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S8050：作为开关管驱动蜂鸣器，放大电流。</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rPr>
              <a:t>• 电源：为整个系统提供稳定的5V直流供电。</a:t>
            </a:r>
            <a:endParaRPr lang="en-US" sz="1300" b="0" i="0" u="none" strike="noStrike">
              <a:solidFill>
                <a:srgbClr val="666666"/>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7" name="图片 1" descr="lQLPDhrGSL3Q8RPNAUXNB_Gw-UljzDPDeBW9Elf1rMOXFg_2033_325"/>
          <p:cNvPicPr>
            <a:picLocks noChangeAspect="1"/>
          </p:cNvPicPr>
          <p:nvPr/>
        </p:nvPicPr>
        <p:blipFill>
          <a:blip r:embed="rId4"/>
          <a:stretch>
            <a:fillRect/>
          </a:stretch>
        </p:blipFill>
        <p:spPr>
          <a:xfrm>
            <a:off x="183515" y="114300"/>
            <a:ext cx="2991485" cy="484505"/>
          </a:xfrm>
          <a:prstGeom prst="rect">
            <a:avLst/>
          </a:prstGeom>
          <a:noFill/>
          <a:ln>
            <a:noFill/>
          </a:ln>
        </p:spPr>
      </p:pic>
      <p:sp>
        <p:nvSpPr>
          <p:cNvPr id="42" name="AutoShape 8"/>
          <p:cNvSpPr/>
          <p:nvPr>
            <p:custDataLst>
              <p:tags r:id="rId5"/>
            </p:custDataLst>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sp>
        <p:nvSpPr>
          <p:cNvPr id="44" name="AutoShape 9"/>
          <p:cNvSpPr/>
          <p:nvPr>
            <p:custDataLst>
              <p:tags r:id="rId6"/>
            </p:custDataLst>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7" name="AutoShape 10"/>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sp>
        <p:nvSpPr>
          <p:cNvPr id="10"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35" name="AutoShape 12"/>
          <p:cNvSpPr/>
          <p:nvPr/>
        </p:nvSpPr>
        <p:spPr>
          <a:xfrm>
            <a:off x="8218805" y="2032000"/>
            <a:ext cx="3732530" cy="4465320"/>
          </a:xfrm>
          <a:prstGeom prst="roundRect">
            <a:avLst>
              <a:gd name="adj" fmla="val 0"/>
            </a:avLst>
          </a:prstGeom>
          <a:solidFill>
            <a:srgbClr val="FFFFFF">
              <a:alpha val="100000"/>
            </a:srgbClr>
          </a:solidFill>
          <a:ln w="12700" cap="flat" cmpd="sng">
            <a:solidFill>
              <a:srgbClr val="448AD7">
                <a:alpha val="100000"/>
              </a:srgbClr>
            </a:solidFill>
            <a:prstDash val="solid"/>
            <a:round/>
          </a:ln>
        </p:spPr>
        <p:txBody>
          <a:bodyPr vert="horz" wrap="square" lIns="63500" tIns="63500" rIns="63500" bIns="63500" rtlCol="0" anchor="ctr"/>
          <a:lstStyle/>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系统总体</a:t>
            </a: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框图</a:t>
            </a: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124" name="组合 124"/>
          <p:cNvGrpSpPr/>
          <p:nvPr/>
        </p:nvGrpSpPr>
        <p:grpSpPr>
          <a:xfrm>
            <a:off x="8267700" y="2837815"/>
            <a:ext cx="3580130" cy="2167255"/>
            <a:chOff x="4594" y="173043"/>
            <a:chExt cx="8458" cy="4228"/>
          </a:xfrm>
        </p:grpSpPr>
        <p:sp>
          <p:nvSpPr>
            <p:cNvPr id="84" name="单圆角矩形 84"/>
            <p:cNvSpPr/>
            <p:nvPr/>
          </p:nvSpPr>
          <p:spPr>
            <a:xfrm>
              <a:off x="11036" y="176370"/>
              <a:ext cx="2012" cy="713"/>
            </a:xfrm>
            <a:prstGeom prst="round1Rect">
              <a:avLst/>
            </a:prstGeom>
            <a:solidFill>
              <a:srgbClr val="FFFFFF"/>
            </a:solidFill>
            <a:ln w="12700" cap="flat" cmpd="sng" algn="ctr">
              <a:solidFill>
                <a:srgbClr val="A5A5A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LED指示灯</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123" name="组合 123"/>
            <p:cNvGrpSpPr/>
            <p:nvPr/>
          </p:nvGrpSpPr>
          <p:grpSpPr>
            <a:xfrm>
              <a:off x="4594" y="173043"/>
              <a:ext cx="8458" cy="4228"/>
              <a:chOff x="4594" y="173043"/>
              <a:chExt cx="8458" cy="4228"/>
            </a:xfrm>
          </p:grpSpPr>
          <p:sp>
            <p:nvSpPr>
              <p:cNvPr id="85" name="单圆角矩形 85"/>
              <p:cNvSpPr/>
              <p:nvPr/>
            </p:nvSpPr>
            <p:spPr>
              <a:xfrm>
                <a:off x="11040" y="174937"/>
                <a:ext cx="2012" cy="713"/>
              </a:xfrm>
              <a:prstGeom prst="round1Rect">
                <a:avLst/>
              </a:prstGeom>
              <a:solidFill>
                <a:srgbClr val="FFFFFF"/>
              </a:solidFill>
              <a:ln w="12700" cap="flat" cmpd="sng" algn="ctr">
                <a:solidFill>
                  <a:srgbClr val="A5A5A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控制蜂鸣器进行报警</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121" name="组合 121"/>
              <p:cNvGrpSpPr/>
              <p:nvPr/>
            </p:nvGrpSpPr>
            <p:grpSpPr>
              <a:xfrm>
                <a:off x="4594" y="173043"/>
                <a:ext cx="8458" cy="4228"/>
                <a:chOff x="4594" y="173043"/>
                <a:chExt cx="8458" cy="4228"/>
              </a:xfrm>
            </p:grpSpPr>
            <p:sp>
              <p:nvSpPr>
                <p:cNvPr id="142" name="单圆角矩形 142"/>
                <p:cNvSpPr/>
                <p:nvPr/>
              </p:nvSpPr>
              <p:spPr>
                <a:xfrm>
                  <a:off x="11040" y="173337"/>
                  <a:ext cx="2012" cy="713"/>
                </a:xfrm>
                <a:prstGeom prst="round1Rect">
                  <a:avLst/>
                </a:prstGeom>
                <a:solidFill>
                  <a:srgbClr val="FFFFFF"/>
                </a:solidFill>
                <a:ln w="12700" cap="flat" cmpd="sng" algn="ctr">
                  <a:solidFill>
                    <a:srgbClr val="A5A5A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液晶显示当前信息</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120" name="组合 120"/>
                <p:cNvGrpSpPr/>
                <p:nvPr/>
              </p:nvGrpSpPr>
              <p:grpSpPr>
                <a:xfrm>
                  <a:off x="4594" y="173043"/>
                  <a:ext cx="6450" cy="4228"/>
                  <a:chOff x="4594" y="173043"/>
                  <a:chExt cx="6450" cy="4228"/>
                </a:xfrm>
              </p:grpSpPr>
              <p:grpSp>
                <p:nvGrpSpPr>
                  <p:cNvPr id="115" name="组合 115"/>
                  <p:cNvGrpSpPr/>
                  <p:nvPr/>
                </p:nvGrpSpPr>
                <p:grpSpPr>
                  <a:xfrm>
                    <a:off x="4594" y="173043"/>
                    <a:ext cx="6450" cy="4228"/>
                    <a:chOff x="4594" y="173043"/>
                    <a:chExt cx="6450" cy="4228"/>
                  </a:xfrm>
                </p:grpSpPr>
                <p:grpSp>
                  <p:nvGrpSpPr>
                    <p:cNvPr id="114" name="组合 114"/>
                    <p:cNvGrpSpPr/>
                    <p:nvPr/>
                  </p:nvGrpSpPr>
                  <p:grpSpPr>
                    <a:xfrm>
                      <a:off x="4594" y="173043"/>
                      <a:ext cx="6451" cy="4228"/>
                      <a:chOff x="4594" y="173043"/>
                      <a:chExt cx="6451" cy="4228"/>
                    </a:xfrm>
                  </p:grpSpPr>
                  <p:grpSp>
                    <p:nvGrpSpPr>
                      <p:cNvPr id="113" name="组合 113"/>
                      <p:cNvGrpSpPr/>
                      <p:nvPr/>
                    </p:nvGrpSpPr>
                    <p:grpSpPr>
                      <a:xfrm>
                        <a:off x="4594" y="173043"/>
                        <a:ext cx="5139" cy="4228"/>
                        <a:chOff x="4594" y="173043"/>
                        <a:chExt cx="5139" cy="4228"/>
                      </a:xfrm>
                    </p:grpSpPr>
                    <p:sp>
                      <p:nvSpPr>
                        <p:cNvPr id="149" name="矩形 149"/>
                        <p:cNvSpPr/>
                        <p:nvPr/>
                      </p:nvSpPr>
                      <p:spPr>
                        <a:xfrm>
                          <a:off x="7913" y="173043"/>
                          <a:ext cx="1820" cy="4229"/>
                        </a:xfrm>
                        <a:prstGeom prst="rect">
                          <a:avLst/>
                        </a:prstGeom>
                        <a:solidFill>
                          <a:srgbClr val="FFFFFF"/>
                        </a:solidFill>
                        <a:ln w="12700" cap="flat" cmpd="sng" algn="ctr">
                          <a:solidFill>
                            <a:srgbClr val="A5A5A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单片机</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数据处理</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109" name="组合 109"/>
                        <p:cNvGrpSpPr/>
                        <p:nvPr/>
                      </p:nvGrpSpPr>
                      <p:grpSpPr>
                        <a:xfrm>
                          <a:off x="4594" y="173414"/>
                          <a:ext cx="3322" cy="3650"/>
                          <a:chOff x="4594" y="173414"/>
                          <a:chExt cx="3322" cy="3650"/>
                        </a:xfrm>
                      </p:grpSpPr>
                      <p:grpSp>
                        <p:nvGrpSpPr>
                          <p:cNvPr id="106" name="组合 106"/>
                          <p:cNvGrpSpPr/>
                          <p:nvPr/>
                        </p:nvGrpSpPr>
                        <p:grpSpPr>
                          <a:xfrm>
                            <a:off x="4594" y="173414"/>
                            <a:ext cx="3323" cy="3650"/>
                            <a:chOff x="4594" y="173414"/>
                            <a:chExt cx="3323" cy="3650"/>
                          </a:xfrm>
                        </p:grpSpPr>
                        <p:sp>
                          <p:nvSpPr>
                            <p:cNvPr id="152" name="单圆角矩形 152"/>
                            <p:cNvSpPr/>
                            <p:nvPr/>
                          </p:nvSpPr>
                          <p:spPr>
                            <a:xfrm>
                              <a:off x="4594" y="176344"/>
                              <a:ext cx="2000" cy="721"/>
                            </a:xfrm>
                            <a:prstGeom prst="round1Rect">
                              <a:avLst/>
                            </a:prstGeom>
                            <a:solidFill>
                              <a:srgbClr val="FFFFFF"/>
                            </a:solidFill>
                            <a:ln w="12700" cap="flat" cmpd="sng" algn="ctr">
                              <a:solidFill>
                                <a:srgbClr val="A5A5A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宋体" panose="02010600030101010101" pitchFamily="2" charset="-122"/>
                                  <a:ea typeface="宋体" panose="02010600030101010101" pitchFamily="2" charset="-122"/>
                                  <a:cs typeface="宋体" panose="02010600030101010101" pitchFamily="2" charset="-122"/>
                                  <a:sym typeface="Times New Roman" panose="02020603050405020304"/>
                                </a:rPr>
                                <a:t>电源</a:t>
                              </a:r>
                              <a:endParaRPr lang="en-US" altLang="zh-CN" sz="1050" kern="100">
                                <a:latin typeface="宋体" panose="02010600030101010101" pitchFamily="2" charset="-122"/>
                                <a:ea typeface="宋体" panose="02010600030101010101" pitchFamily="2" charset="-122"/>
                                <a:cs typeface="宋体" panose="02010600030101010101" pitchFamily="2" charset="-122"/>
                                <a:sym typeface="Times New Roman" panose="02020603050405020304"/>
                              </a:endParaRPr>
                            </a:p>
                          </p:txBody>
                        </p:sp>
                        <p:grpSp>
                          <p:nvGrpSpPr>
                            <p:cNvPr id="104" name="组合 104"/>
                            <p:cNvGrpSpPr/>
                            <p:nvPr/>
                          </p:nvGrpSpPr>
                          <p:grpSpPr>
                            <a:xfrm>
                              <a:off x="4631" y="173414"/>
                              <a:ext cx="3286" cy="2188"/>
                              <a:chOff x="4631" y="173414"/>
                              <a:chExt cx="3286" cy="2188"/>
                            </a:xfrm>
                          </p:grpSpPr>
                          <p:grpSp>
                            <p:nvGrpSpPr>
                              <p:cNvPr id="63" name="组合 63"/>
                              <p:cNvGrpSpPr/>
                              <p:nvPr/>
                            </p:nvGrpSpPr>
                            <p:grpSpPr>
                              <a:xfrm>
                                <a:off x="4631" y="173414"/>
                                <a:ext cx="3283" cy="2188"/>
                                <a:chOff x="4631" y="173414"/>
                                <a:chExt cx="3283" cy="2188"/>
                              </a:xfrm>
                            </p:grpSpPr>
                            <p:grpSp>
                              <p:nvGrpSpPr>
                                <p:cNvPr id="12" name="组合 12"/>
                                <p:cNvGrpSpPr/>
                                <p:nvPr/>
                              </p:nvGrpSpPr>
                              <p:grpSpPr>
                                <a:xfrm>
                                  <a:off x="4634" y="173414"/>
                                  <a:ext cx="3281" cy="712"/>
                                  <a:chOff x="4634" y="173414"/>
                                  <a:chExt cx="3281" cy="712"/>
                                </a:xfrm>
                              </p:grpSpPr>
                              <p:sp>
                                <p:nvSpPr>
                                  <p:cNvPr id="150" name="单圆角矩形 150"/>
                                  <p:cNvSpPr/>
                                  <p:nvPr/>
                                </p:nvSpPr>
                                <p:spPr>
                                  <a:xfrm>
                                    <a:off x="4634" y="173414"/>
                                    <a:ext cx="2012" cy="713"/>
                                  </a:xfrm>
                                  <a:prstGeom prst="round1Rect">
                                    <a:avLst/>
                                  </a:prstGeom>
                                  <a:solidFill>
                                    <a:srgbClr val="FFFFFF"/>
                                  </a:solidFill>
                                  <a:ln w="12700" cap="flat" cmpd="sng" algn="ctr">
                                    <a:solidFill>
                                      <a:srgbClr val="A5A5A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DHT11温湿度采集</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sp>
                                <p:nvSpPr>
                                  <p:cNvPr id="153" name="右箭头 153"/>
                                  <p:cNvSpPr/>
                                  <p:nvPr/>
                                </p:nvSpPr>
                                <p:spPr>
                                  <a:xfrm>
                                    <a:off x="6641" y="173482"/>
                                    <a:ext cx="1274" cy="413"/>
                                  </a:xfrm>
                                  <a:prstGeom prst="rightArrow">
                                    <a:avLst/>
                                  </a:prstGeom>
                                  <a:solidFill>
                                    <a:srgbClr val="FFFFFF"/>
                                  </a:solidFill>
                                  <a:ln w="12700" cap="flat" cmpd="sng" algn="ctr">
                                    <a:solidFill>
                                      <a:srgbClr val="A5A5A5"/>
                                    </a:solidFill>
                                    <a:prstDash val="solid"/>
                                    <a:miter lim="800000"/>
                                  </a:ln>
                                  <a:effectLst/>
                                </p:spPr>
                              </p:sp>
                            </p:grpSp>
                            <p:sp>
                              <p:nvSpPr>
                                <p:cNvPr id="151" name="单圆角矩形 151"/>
                                <p:cNvSpPr/>
                                <p:nvPr/>
                              </p:nvSpPr>
                              <p:spPr>
                                <a:xfrm>
                                  <a:off x="4631" y="174890"/>
                                  <a:ext cx="2011" cy="713"/>
                                </a:xfrm>
                                <a:prstGeom prst="round1Rect">
                                  <a:avLst/>
                                </a:prstGeom>
                                <a:solidFill>
                                  <a:srgbClr val="FFFFFF"/>
                                </a:solidFill>
                                <a:ln w="12700" cap="flat" cmpd="sng" algn="ctr">
                                  <a:solidFill>
                                    <a:srgbClr val="A5A5A5"/>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宋体" panose="02010600030101010101" pitchFamily="2" charset="-122"/>
                                      <a:ea typeface="宋体" panose="02010600030101010101" pitchFamily="2" charset="-122"/>
                                      <a:cs typeface="宋体" panose="02010600030101010101" pitchFamily="2" charset="-122"/>
                                      <a:sym typeface="Times New Roman" panose="02020603050405020304"/>
                                    </a:rPr>
                                    <a:t>按键设置报警上限</a:t>
                                  </a:r>
                                  <a:endParaRPr lang="en-US" altLang="zh-CN" sz="1050" kern="100">
                                    <a:latin typeface="宋体" panose="02010600030101010101" pitchFamily="2" charset="-122"/>
                                    <a:ea typeface="宋体" panose="02010600030101010101" pitchFamily="2" charset="-122"/>
                                    <a:cs typeface="宋体" panose="02010600030101010101" pitchFamily="2" charset="-122"/>
                                    <a:sym typeface="Times New Roman" panose="02020603050405020304"/>
                                  </a:endParaRPr>
                                </a:p>
                              </p:txBody>
                            </p:sp>
                          </p:grpSp>
                          <p:sp>
                            <p:nvSpPr>
                              <p:cNvPr id="81" name="右箭头 81"/>
                              <p:cNvSpPr/>
                              <p:nvPr/>
                            </p:nvSpPr>
                            <p:spPr>
                              <a:xfrm>
                                <a:off x="6643" y="175030"/>
                                <a:ext cx="1274" cy="413"/>
                              </a:xfrm>
                              <a:prstGeom prst="rightArrow">
                                <a:avLst/>
                              </a:prstGeom>
                              <a:solidFill>
                                <a:srgbClr val="FFFFFF"/>
                              </a:solidFill>
                              <a:ln w="12700" cap="flat" cmpd="sng" algn="ctr">
                                <a:solidFill>
                                  <a:srgbClr val="A5A5A5"/>
                                </a:solidFill>
                                <a:prstDash val="solid"/>
                                <a:miter lim="800000"/>
                              </a:ln>
                              <a:effectLst/>
                            </p:spPr>
                          </p:sp>
                        </p:grpSp>
                      </p:grpSp>
                      <p:sp>
                        <p:nvSpPr>
                          <p:cNvPr id="83" name="右箭头 83"/>
                          <p:cNvSpPr/>
                          <p:nvPr/>
                        </p:nvSpPr>
                        <p:spPr>
                          <a:xfrm>
                            <a:off x="6604" y="176484"/>
                            <a:ext cx="1274" cy="413"/>
                          </a:xfrm>
                          <a:prstGeom prst="rightArrow">
                            <a:avLst/>
                          </a:prstGeom>
                          <a:solidFill>
                            <a:srgbClr val="FFFFFF"/>
                          </a:solidFill>
                          <a:ln w="12700" cap="flat" cmpd="sng" algn="ctr">
                            <a:solidFill>
                              <a:srgbClr val="A5A5A5"/>
                            </a:solidFill>
                            <a:prstDash val="solid"/>
                            <a:miter lim="800000"/>
                          </a:ln>
                          <a:effectLst/>
                        </p:spPr>
                      </p:sp>
                    </p:grpSp>
                  </p:grpSp>
                  <p:sp>
                    <p:nvSpPr>
                      <p:cNvPr id="86" name="右箭头 86"/>
                      <p:cNvSpPr/>
                      <p:nvPr/>
                    </p:nvSpPr>
                    <p:spPr>
                      <a:xfrm>
                        <a:off x="9741" y="173496"/>
                        <a:ext cx="1304" cy="413"/>
                      </a:xfrm>
                      <a:prstGeom prst="rightArrow">
                        <a:avLst/>
                      </a:prstGeom>
                      <a:solidFill>
                        <a:srgbClr val="FFFFFF"/>
                      </a:solidFill>
                      <a:ln w="12700" cap="flat" cmpd="sng" algn="ctr">
                        <a:solidFill>
                          <a:srgbClr val="A5A5A5"/>
                        </a:solidFill>
                        <a:prstDash val="solid"/>
                        <a:miter lim="800000"/>
                      </a:ln>
                      <a:effectLst/>
                    </p:spPr>
                  </p:sp>
                </p:grpSp>
                <p:sp>
                  <p:nvSpPr>
                    <p:cNvPr id="88" name="右箭头 88"/>
                    <p:cNvSpPr/>
                    <p:nvPr/>
                  </p:nvSpPr>
                  <p:spPr>
                    <a:xfrm>
                      <a:off x="9751" y="175112"/>
                      <a:ext cx="1274" cy="413"/>
                    </a:xfrm>
                    <a:prstGeom prst="rightArrow">
                      <a:avLst/>
                    </a:prstGeom>
                    <a:solidFill>
                      <a:srgbClr val="FFFFFF"/>
                    </a:solidFill>
                    <a:ln w="12700" cap="flat" cmpd="sng" algn="ctr">
                      <a:solidFill>
                        <a:srgbClr val="A5A5A5"/>
                      </a:solidFill>
                      <a:prstDash val="solid"/>
                      <a:miter lim="800000"/>
                    </a:ln>
                    <a:effectLst/>
                  </p:spPr>
                </p:sp>
              </p:grpSp>
              <p:sp>
                <p:nvSpPr>
                  <p:cNvPr id="89" name="右箭头 89"/>
                  <p:cNvSpPr/>
                  <p:nvPr/>
                </p:nvSpPr>
                <p:spPr>
                  <a:xfrm>
                    <a:off x="9744" y="176542"/>
                    <a:ext cx="1274" cy="413"/>
                  </a:xfrm>
                  <a:prstGeom prst="rightArrow">
                    <a:avLst/>
                  </a:prstGeom>
                  <a:solidFill>
                    <a:srgbClr val="FFFFFF"/>
                  </a:solidFill>
                  <a:ln w="12700" cap="flat" cmpd="sng" algn="ctr">
                    <a:solidFill>
                      <a:srgbClr val="A5A5A5"/>
                    </a:solidFill>
                    <a:prstDash val="solid"/>
                    <a:miter lim="800000"/>
                  </a:ln>
                  <a:effectLst/>
                </p:spPr>
              </p:sp>
            </p:grpSp>
          </p:gr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5400000">
            <a:off x="4229100" y="-4229100"/>
            <a:ext cx="3733800" cy="12192000"/>
          </a:xfrm>
          <a:prstGeom prst="roundRect">
            <a:avLst>
              <a:gd name="adj" fmla="val 0"/>
            </a:avLst>
          </a:prstGeom>
          <a:solidFill>
            <a:schemeClr val="accent1">
              <a:lumMod val="40000"/>
              <a:lumOff val="60000"/>
            </a:schemeClr>
          </a:solidFill>
          <a:ln w="25400" cap="flat" cmpd="sng">
            <a:noFill/>
            <a:prstDash val="solid"/>
            <a:round/>
          </a:ln>
        </p:spPr>
        <p:txBody>
          <a:bodyPr vert="horz" wrap="square" lIns="63500" tIns="63500" rIns="63500" bIns="63500" rtlCol="0" anchor="ctr">
            <a:noAutofit/>
          </a:bodyPr>
          <a:lstStyle/>
          <a:p>
            <a:pPr lvl="0" algn="ctr">
              <a:buSzTx/>
              <a:defRPr/>
            </a:pPr>
            <a:endParaRPr>
              <a:sym typeface="+mn-ea"/>
            </a:endParaRPr>
          </a:p>
        </p:txBody>
      </p:sp>
      <p:sp>
        <p:nvSpPr>
          <p:cNvPr id="4" name="AutoShape 4"/>
          <p:cNvSpPr/>
          <p:nvPr/>
        </p:nvSpPr>
        <p:spPr>
          <a:xfrm>
            <a:off x="5321300" y="2540000"/>
            <a:ext cx="1549400" cy="1397000"/>
          </a:xfrm>
          <a:prstGeom prst="roundRect">
            <a:avLst>
              <a:gd name="adj" fmla="val 10909"/>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5422900" y="2628900"/>
            <a:ext cx="1346200" cy="1193800"/>
          </a:xfrm>
          <a:prstGeom prst="roundRect">
            <a:avLst>
              <a:gd name="adj" fmla="val 10638"/>
            </a:avLst>
          </a:prstGeom>
          <a:solidFill>
            <a:srgbClr val="9CC5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486400" y="2997200"/>
            <a:ext cx="12065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Part.03</a:t>
            </a:r>
            <a:endParaRPr lang="en-US" sz="1100"/>
          </a:p>
        </p:txBody>
      </p:sp>
      <p:sp>
        <p:nvSpPr>
          <p:cNvPr id="7" name="AutoShape 7"/>
          <p:cNvSpPr/>
          <p:nvPr/>
        </p:nvSpPr>
        <p:spPr>
          <a:xfrm>
            <a:off x="0" y="4445000"/>
            <a:ext cx="12192000" cy="1143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spc="400">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系统硬件与软件设计</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2367915" y="1019810"/>
            <a:ext cx="7456805" cy="1207135"/>
          </a:xfrm>
          <a:prstGeom prst="rect">
            <a:avLst/>
          </a:prstGeom>
          <a:noFill/>
          <a:ln>
            <a:noFill/>
          </a:ln>
        </p:spPr>
      </p:pic>
      <p:pic>
        <p:nvPicPr>
          <p:cNvPr id="10" name="Picture 9"/>
          <p:cNvPicPr>
            <a:picLocks noChangeAspect="1"/>
          </p:cNvPicPr>
          <p:nvPr/>
        </p:nvPicPr>
        <p:blipFill>
          <a:blip r:embed="rId2"/>
          <a:srcRect t="34" b="34"/>
          <a:stretch>
            <a:fillRect/>
          </a:stretch>
        </p:blipFill>
        <p:spPr>
          <a:xfrm>
            <a:off x="10020300" y="165100"/>
            <a:ext cx="1905000" cy="1879600"/>
          </a:xfrm>
          <a:prstGeom prst="rect">
            <a:avLst/>
          </a:prstGeom>
          <a:noFill/>
          <a:ln w="25400" cap="flat" cmpd="sng">
            <a:noFill/>
            <a:prstDash val="solid"/>
            <a:rou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3" name="Connector 3"/>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5" name="Connector 5"/>
          <p:cNvCxnSpPr/>
          <p:nvPr/>
        </p:nvCxnSpPr>
        <p:spPr>
          <a:xfrm rot="5056725">
            <a:off x="988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6" name="AutoShape 6"/>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研究背景</a:t>
            </a:r>
            <a:endParaRPr lang="en-US" sz="1100"/>
          </a:p>
        </p:txBody>
      </p:sp>
      <p:sp>
        <p:nvSpPr>
          <p:cNvPr id="10" name="AutoShape 10"/>
          <p:cNvSpPr/>
          <p:nvPr/>
        </p:nvSpPr>
        <p:spPr>
          <a:xfrm>
            <a:off x="101854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100"/>
          </a:p>
        </p:txBody>
      </p:sp>
      <p:cxnSp>
        <p:nvCxnSpPr>
          <p:cNvPr id="11" name="Connector 11"/>
          <p:cNvCxnSpPr/>
          <p:nvPr/>
        </p:nvCxnSpPr>
        <p:spPr>
          <a:xfrm rot="5056725">
            <a:off x="64831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3" name="Connector 13"/>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4" name="AutoShape 14"/>
          <p:cNvSpPr/>
          <p:nvPr/>
        </p:nvSpPr>
        <p:spPr>
          <a:xfrm>
            <a:off x="508000" y="1104900"/>
            <a:ext cx="2413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硬件电路设计</a:t>
            </a:r>
            <a:endParaRPr lang="en-US" sz="1100"/>
          </a:p>
        </p:txBody>
      </p:sp>
      <p:cxnSp>
        <p:nvCxnSpPr>
          <p:cNvPr id="15" name="Connector 15"/>
          <p:cNvCxnSpPr/>
          <p:nvPr/>
        </p:nvCxnSpPr>
        <p:spPr>
          <a:xfrm rot="5056725">
            <a:off x="310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8" name="AutoShape 18"/>
          <p:cNvSpPr/>
          <p:nvPr>
            <p:custDataLst>
              <p:tags r:id="rId1"/>
            </p:custDataLst>
          </p:nvPr>
        </p:nvSpPr>
        <p:spPr>
          <a:xfrm>
            <a:off x="5003800" y="1816100"/>
            <a:ext cx="2286000" cy="3683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00B0F0"/>
                </a:solidFill>
                <a:latin typeface="微软雅黑" panose="020B0503020204020204" charset="-122"/>
                <a:ea typeface="微软雅黑" panose="020B0503020204020204" charset="-122"/>
                <a:cs typeface="微软雅黑" panose="020B0503020204020204" charset="-122"/>
                <a:sym typeface="微软雅黑" panose="020B0503020204020204" charset="-122"/>
              </a:rPr>
              <a:t>主控与采集模块</a:t>
            </a:r>
            <a:endParaRPr lang="en-US" sz="1100"/>
          </a:p>
        </p:txBody>
      </p:sp>
      <p:sp>
        <p:nvSpPr>
          <p:cNvPr id="19" name="AutoShape 19"/>
          <p:cNvSpPr/>
          <p:nvPr>
            <p:custDataLst>
              <p:tags r:id="rId2"/>
            </p:custDataLst>
          </p:nvPr>
        </p:nvSpPr>
        <p:spPr>
          <a:xfrm>
            <a:off x="5003800" y="2171700"/>
            <a:ext cx="6578600" cy="825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单片机最小系统：</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构建稳定的核心控制环境，保障芯片可靠运行。</a:t>
            </a:r>
            <a:b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温湿度采集：</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选用DHT11传感器，连接至PA0口并配置5kΩ上拉电阻，实现环境参数精准采集。</a:t>
            </a:r>
            <a:endParaRPr lang="en-US" sz="1100"/>
          </a:p>
        </p:txBody>
      </p:sp>
      <p:sp>
        <p:nvSpPr>
          <p:cNvPr id="20" name="AutoShape 20"/>
          <p:cNvSpPr/>
          <p:nvPr>
            <p:custDataLst>
              <p:tags r:id="rId3"/>
            </p:custDataLst>
          </p:nvPr>
        </p:nvSpPr>
        <p:spPr>
          <a:xfrm>
            <a:off x="5003800" y="3111500"/>
            <a:ext cx="2286000" cy="3683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7030A0"/>
                </a:solidFill>
                <a:latin typeface="微软雅黑" panose="020B0503020204020204" charset="-122"/>
                <a:ea typeface="微软雅黑" panose="020B0503020204020204" charset="-122"/>
                <a:cs typeface="微软雅黑" panose="020B0503020204020204" charset="-122"/>
                <a:sym typeface="微软雅黑" panose="020B0503020204020204" charset="-122"/>
              </a:rPr>
              <a:t>显示与交互模块</a:t>
            </a:r>
            <a:endParaRPr lang="en-US" sz="1800" b="1" i="0" u="none" strike="noStrike">
              <a:solidFill>
                <a:srgbClr val="7030A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AutoShape 21"/>
          <p:cNvSpPr/>
          <p:nvPr>
            <p:custDataLst>
              <p:tags r:id="rId4"/>
            </p:custDataLst>
          </p:nvPr>
        </p:nvSpPr>
        <p:spPr>
          <a:xfrm>
            <a:off x="5003800" y="3467100"/>
            <a:ext cx="6578600" cy="8255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显示电路：</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LCD1602 模块采用8位并行接口方式与PB口相连，高效输出温湿度数据。</a:t>
            </a:r>
            <a:b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按键模块：</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配置三个独立按键接入PA口，通过软件算法实现消抖处理，提升操作响应稳定性。</a:t>
            </a:r>
            <a:endParaRPr lang="en-US" sz="1100"/>
          </a:p>
        </p:txBody>
      </p:sp>
      <p:sp>
        <p:nvSpPr>
          <p:cNvPr id="22" name="AutoShape 22"/>
          <p:cNvSpPr/>
          <p:nvPr>
            <p:custDataLst>
              <p:tags r:id="rId5"/>
            </p:custDataLst>
          </p:nvPr>
        </p:nvSpPr>
        <p:spPr>
          <a:xfrm>
            <a:off x="5003800" y="4578350"/>
            <a:ext cx="2286000" cy="3683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rgbClr val="FFC000"/>
                </a:solidFill>
                <a:latin typeface="微软雅黑" panose="020B0503020204020204" charset="-122"/>
                <a:ea typeface="微软雅黑" panose="020B0503020204020204" charset="-122"/>
                <a:cs typeface="微软雅黑" panose="020B0503020204020204" charset="-122"/>
                <a:sym typeface="微软雅黑" panose="020B0503020204020204" charset="-122"/>
              </a:rPr>
              <a:t>报警驱动模块</a:t>
            </a:r>
            <a:endParaRPr lang="en-US" sz="1800" b="1" i="0" u="none" strike="noStrike">
              <a:solidFill>
                <a:srgbClr val="FFC000"/>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AutoShape 23"/>
          <p:cNvSpPr/>
          <p:nvPr>
            <p:custDataLst>
              <p:tags r:id="rId6"/>
            </p:custDataLst>
          </p:nvPr>
        </p:nvSpPr>
        <p:spPr>
          <a:xfrm>
            <a:off x="4948555" y="4946650"/>
            <a:ext cx="65786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声光报警：</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利用PA4引脚输出控制信号，通过S8050三极管放大电流驱动蜂鸣器，在温湿度异常时及时发出报警提示。</a:t>
            </a:r>
            <a:endParaRPr lang="en-US" sz="1100"/>
          </a:p>
        </p:txBody>
      </p:sp>
      <p:sp>
        <p:nvSpPr>
          <p:cNvPr id="24" name="AutoShape 24"/>
          <p:cNvSpPr/>
          <p:nvPr>
            <p:custDataLst>
              <p:tags r:id="rId7"/>
            </p:custDataLst>
          </p:nvPr>
        </p:nvSpPr>
        <p:spPr>
          <a:xfrm>
            <a:off x="5003800" y="5524500"/>
            <a:ext cx="2286000" cy="3683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1800" b="1" i="0" u="none" strike="noStrike">
                <a:solidFill>
                  <a:schemeClr val="accent6">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PCB 工程设计</a:t>
            </a:r>
            <a:endParaRPr lang="en-US" sz="1800" b="1" i="0" u="none" strike="noStrike">
              <a:solidFill>
                <a:schemeClr val="accent6">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AutoShape 25"/>
          <p:cNvSpPr/>
          <p:nvPr>
            <p:custDataLst>
              <p:tags r:id="rId8"/>
            </p:custDataLst>
          </p:nvPr>
        </p:nvSpPr>
        <p:spPr>
          <a:xfrm>
            <a:off x="5003800" y="5880100"/>
            <a:ext cx="6578600" cy="762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l">
              <a:lnSpc>
                <a:spcPct val="117000"/>
              </a:lnSpc>
              <a:defRPr/>
            </a:pP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使用</a:t>
            </a: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Altium Designer</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完成原理图与PCB版图绘制，采用模块化布局与大面积覆铜工艺，有效增强系统抗干扰能力。</a:t>
            </a:r>
            <a:endParaRPr lang="en-US" sz="1100"/>
          </a:p>
        </p:txBody>
      </p:sp>
      <p:sp>
        <p:nvSpPr>
          <p:cNvPr id="32" name="AutoShape 8"/>
          <p:cNvSpPr/>
          <p:nvPr/>
        </p:nvSpPr>
        <p:spPr>
          <a:xfrm>
            <a:off x="5080000" y="215900"/>
            <a:ext cx="1346200" cy="342900"/>
          </a:xfrm>
          <a:prstGeom prst="rect">
            <a:avLst/>
          </a:prstGeom>
          <a:solidFill>
            <a:schemeClr val="bg1">
              <a:lumMod val="95000"/>
            </a:schemeClr>
          </a:solid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cxnSp>
        <p:nvCxnSpPr>
          <p:cNvPr id="27" name="Connector 15"/>
          <p:cNvCxnSpPr/>
          <p:nvPr/>
        </p:nvCxnSpPr>
        <p:spPr>
          <a:xfrm rot="5056725">
            <a:off x="480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44" name="AutoShape 9"/>
          <p:cNvSpPr/>
          <p:nvPr>
            <p:custDataLst>
              <p:tags r:id="rId9"/>
            </p:custDataLst>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28" name="AutoShape 4"/>
          <p:cNvSpPr/>
          <p:nvPr/>
        </p:nvSpPr>
        <p:spPr>
          <a:xfrm>
            <a:off x="6629400" y="0"/>
            <a:ext cx="1663700" cy="7874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pic>
        <p:nvPicPr>
          <p:cNvPr id="87" name="图片 1" descr="lQLPDhrGSL3Q8RPNAUXNB_Gw-UljzDPDeBW9Elf1rMOXFg_2033_325"/>
          <p:cNvPicPr>
            <a:picLocks noChangeAspect="1"/>
          </p:cNvPicPr>
          <p:nvPr/>
        </p:nvPicPr>
        <p:blipFill>
          <a:blip r:embed="rId10"/>
          <a:stretch>
            <a:fillRect/>
          </a:stretch>
        </p:blipFill>
        <p:spPr>
          <a:xfrm>
            <a:off x="183515" y="114300"/>
            <a:ext cx="2991485" cy="484505"/>
          </a:xfrm>
          <a:prstGeom prst="rect">
            <a:avLst/>
          </a:prstGeom>
          <a:noFill/>
          <a:ln>
            <a:noFill/>
          </a:ln>
        </p:spPr>
      </p:pic>
      <p:sp>
        <p:nvSpPr>
          <p:cNvPr id="30" name="AutoShape 10"/>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sp>
        <p:nvSpPr>
          <p:cNvPr id="4" name="文本框 3"/>
          <p:cNvSpPr txBox="1"/>
          <p:nvPr/>
        </p:nvSpPr>
        <p:spPr>
          <a:xfrm>
            <a:off x="2051050" y="2374265"/>
            <a:ext cx="4064000" cy="306705"/>
          </a:xfrm>
          <a:prstGeom prst="rect">
            <a:avLst/>
          </a:prstGeom>
          <a:noFill/>
        </p:spPr>
        <p:txBody>
          <a:bodyPr wrap="square" rtlCol="0">
            <a:spAutoFit/>
          </a:bodyPr>
          <a:p>
            <a:endParaRPr lang="zh-CN" altLang="en-US"/>
          </a:p>
        </p:txBody>
      </p:sp>
      <p:sp>
        <p:nvSpPr>
          <p:cNvPr id="35" name="AutoShape 12"/>
          <p:cNvSpPr/>
          <p:nvPr/>
        </p:nvSpPr>
        <p:spPr>
          <a:xfrm>
            <a:off x="585470" y="1869440"/>
            <a:ext cx="4328795" cy="4434205"/>
          </a:xfrm>
          <a:prstGeom prst="roundRect">
            <a:avLst>
              <a:gd name="adj" fmla="val 0"/>
            </a:avLst>
          </a:prstGeom>
          <a:solidFill>
            <a:srgbClr val="FFFFFF">
              <a:alpha val="100000"/>
            </a:srgbClr>
          </a:solidFill>
          <a:ln w="12700" cap="flat" cmpd="sng">
            <a:solidFill>
              <a:srgbClr val="448AD7">
                <a:alpha val="100000"/>
              </a:srgbClr>
            </a:solidFill>
            <a:prstDash val="solid"/>
            <a:round/>
          </a:ln>
        </p:spPr>
        <p:txBody>
          <a:bodyPr vert="horz" wrap="square" lIns="63500" tIns="63500" rIns="63500" bIns="63500" rtlCol="0" anchor="ctr"/>
          <a:lstStyle/>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系统硬</a:t>
            </a: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件框图</a:t>
            </a: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7" name="图片 1"/>
          <p:cNvPicPr>
            <a:picLocks noChangeAspect="1"/>
          </p:cNvPicPr>
          <p:nvPr>
            <p:custDataLst>
              <p:tags r:id="rId11"/>
            </p:custDataLst>
          </p:nvPr>
        </p:nvPicPr>
        <p:blipFill>
          <a:blip r:embed="rId12"/>
          <a:stretch>
            <a:fillRect/>
          </a:stretch>
        </p:blipFill>
        <p:spPr>
          <a:xfrm>
            <a:off x="633730" y="2518410"/>
            <a:ext cx="4232275" cy="291020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185"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4" name="Connector 4"/>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6" name="Connector 6"/>
          <p:cNvCxnSpPr/>
          <p:nvPr/>
        </p:nvCxnSpPr>
        <p:spPr>
          <a:xfrm rot="5056725">
            <a:off x="988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7" name="AutoShape 7"/>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8"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sp>
        <p:nvSpPr>
          <p:cNvPr id="9"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关键技术难点</a:t>
            </a:r>
            <a:endParaRPr lang="en-US" sz="1100"/>
          </a:p>
        </p:txBody>
      </p:sp>
      <p:cxnSp>
        <p:nvCxnSpPr>
          <p:cNvPr id="12" name="Connector 12"/>
          <p:cNvCxnSpPr/>
          <p:nvPr/>
        </p:nvCxnSpPr>
        <p:spPr>
          <a:xfrm>
            <a:off x="6608986" y="252735"/>
            <a:ext cx="7698" cy="280666"/>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4" name="Connector 14"/>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5" name="AutoShape 15"/>
          <p:cNvSpPr/>
          <p:nvPr/>
        </p:nvSpPr>
        <p:spPr>
          <a:xfrm>
            <a:off x="685800" y="1104900"/>
            <a:ext cx="2413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软件设计流程</a:t>
            </a:r>
            <a:endParaRPr lang="en-US" sz="1100"/>
          </a:p>
        </p:txBody>
      </p:sp>
      <p:cxnSp>
        <p:nvCxnSpPr>
          <p:cNvPr id="16" name="Connector 16"/>
          <p:cNvCxnSpPr/>
          <p:nvPr/>
        </p:nvCxnSpPr>
        <p:spPr>
          <a:xfrm>
            <a:off x="3317875" y="288925"/>
            <a:ext cx="0" cy="310515"/>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7" name="AutoShape 17"/>
          <p:cNvSpPr/>
          <p:nvPr>
            <p:custDataLst>
              <p:tags r:id="rId1"/>
            </p:custDataLst>
          </p:nvPr>
        </p:nvSpPr>
        <p:spPr>
          <a:xfrm>
            <a:off x="5353685" y="3118485"/>
            <a:ext cx="1294130" cy="113284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custDataLst>
              <p:tags r:id="rId2"/>
            </p:custDataLst>
          </p:nvPr>
        </p:nvSpPr>
        <p:spPr>
          <a:xfrm>
            <a:off x="5784215" y="3459480"/>
            <a:ext cx="414655" cy="403860"/>
          </a:xfrm>
          <a:prstGeom prst="rect">
            <a:avLst/>
          </a:prstGeom>
          <a:solidFill>
            <a:srgbClr val="0070C0">
              <a:alpha val="100000"/>
            </a:srgbClr>
          </a:solidFill>
          <a:ln w="12700" cap="flat" cmpd="sng">
            <a:noFill/>
            <a:prstDash val="solid"/>
            <a:round/>
          </a:ln>
        </p:spPr>
        <p:txBody>
          <a:bodyPr vert="horz" wrap="none" lIns="88900" tIns="50800" rIns="88900" bIns="50800" rtlCol="0" anchor="t" anchorCtr="0"/>
          <a:lstStyle/>
          <a:p>
            <a:pPr indent="0" algn="l">
              <a:lnSpc>
                <a:spcPct val="100000"/>
              </a:lnSpc>
              <a:defRPr/>
            </a:pPr>
            <a:r>
              <a:rPr lang="en-US" sz="3400" b="0" i="0" u="none" strike="noStrike">
                <a:solidFill>
                  <a:srgbClr val="FFFFFF"/>
                </a:solidFill>
                <a:latin typeface="Impact" panose="020B0806030902050204"/>
                <a:ea typeface="Impact" panose="020B0806030902050204"/>
                <a:cs typeface="Impact" panose="020B0806030902050204"/>
                <a:sym typeface="Impact" panose="020B0806030902050204"/>
              </a:rPr>
              <a:t>05</a:t>
            </a:r>
            <a:endParaRPr lang="en-US" sz="1100"/>
          </a:p>
        </p:txBody>
      </p:sp>
      <p:sp>
        <p:nvSpPr>
          <p:cNvPr id="19" name="AutoShape 19"/>
          <p:cNvSpPr/>
          <p:nvPr>
            <p:custDataLst>
              <p:tags r:id="rId3"/>
            </p:custDataLst>
          </p:nvPr>
        </p:nvSpPr>
        <p:spPr>
          <a:xfrm>
            <a:off x="4353538" y="3118341"/>
            <a:ext cx="1175563" cy="1131753"/>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custDataLst>
              <p:tags r:id="rId4"/>
            </p:custDataLst>
          </p:nvPr>
        </p:nvSpPr>
        <p:spPr>
          <a:xfrm>
            <a:off x="4762421" y="3459291"/>
            <a:ext cx="365082" cy="357780"/>
          </a:xfrm>
          <a:prstGeom prst="rect">
            <a:avLst/>
          </a:prstGeom>
          <a:solidFill>
            <a:srgbClr val="009DD9">
              <a:alpha val="100000"/>
            </a:srgbClr>
          </a:solidFill>
          <a:ln w="12700" cap="flat" cmpd="sng">
            <a:noFill/>
            <a:prstDash val="solid"/>
            <a:round/>
          </a:ln>
        </p:spPr>
        <p:txBody>
          <a:bodyPr vert="horz" wrap="none" lIns="88900" tIns="50800" rIns="88900" bIns="50800" rtlCol="0" anchor="t" anchorCtr="0"/>
          <a:lstStyle/>
          <a:p>
            <a:pPr indent="0" algn="l">
              <a:lnSpc>
                <a:spcPct val="100000"/>
              </a:lnSpc>
              <a:defRPr/>
            </a:pPr>
            <a:r>
              <a:rPr lang="en-US" sz="3400" b="0" i="0" u="none" strike="noStrike">
                <a:solidFill>
                  <a:srgbClr val="FFFFFF"/>
                </a:solidFill>
                <a:latin typeface="Impact" panose="020B0806030902050204"/>
                <a:ea typeface="Impact" panose="020B0806030902050204"/>
                <a:cs typeface="Impact" panose="020B0806030902050204"/>
                <a:sym typeface="Impact" panose="020B0806030902050204"/>
              </a:rPr>
              <a:t>04</a:t>
            </a:r>
            <a:endParaRPr lang="en-US" sz="1100"/>
          </a:p>
        </p:txBody>
      </p:sp>
      <p:sp>
        <p:nvSpPr>
          <p:cNvPr id="21" name="AutoShape 21"/>
          <p:cNvSpPr/>
          <p:nvPr>
            <p:custDataLst>
              <p:tags r:id="rId5"/>
            </p:custDataLst>
          </p:nvPr>
        </p:nvSpPr>
        <p:spPr>
          <a:xfrm>
            <a:off x="3404326" y="3118341"/>
            <a:ext cx="1175563" cy="1131753"/>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custDataLst>
              <p:tags r:id="rId6"/>
            </p:custDataLst>
          </p:nvPr>
        </p:nvSpPr>
        <p:spPr>
          <a:xfrm>
            <a:off x="3913539" y="3459291"/>
            <a:ext cx="372383" cy="357780"/>
          </a:xfrm>
          <a:prstGeom prst="rect">
            <a:avLst/>
          </a:prstGeom>
          <a:solidFill>
            <a:srgbClr val="0070C0">
              <a:alpha val="100000"/>
            </a:srgbClr>
          </a:solidFill>
          <a:ln w="12700" cap="flat" cmpd="sng">
            <a:noFill/>
            <a:prstDash val="solid"/>
            <a:round/>
          </a:ln>
        </p:spPr>
        <p:txBody>
          <a:bodyPr vert="horz" wrap="none" lIns="88900" tIns="50800" rIns="88900" bIns="50800" rtlCol="0" anchor="t" anchorCtr="0"/>
          <a:lstStyle/>
          <a:p>
            <a:pPr indent="0" algn="l">
              <a:lnSpc>
                <a:spcPct val="100000"/>
              </a:lnSpc>
              <a:defRPr/>
            </a:pPr>
            <a:r>
              <a:rPr lang="en-US" sz="3400" b="0" i="0" u="none" strike="noStrike">
                <a:solidFill>
                  <a:srgbClr val="FFFFFF"/>
                </a:solidFill>
                <a:latin typeface="Impact" panose="020B0806030902050204"/>
                <a:ea typeface="Impact" panose="020B0806030902050204"/>
                <a:cs typeface="Impact" panose="020B0806030902050204"/>
                <a:sym typeface="Impact" panose="020B0806030902050204"/>
              </a:rPr>
              <a:t>03</a:t>
            </a:r>
            <a:endParaRPr lang="en-US" sz="1100"/>
          </a:p>
        </p:txBody>
      </p:sp>
      <p:sp>
        <p:nvSpPr>
          <p:cNvPr id="23" name="AutoShape 23"/>
          <p:cNvSpPr/>
          <p:nvPr>
            <p:custDataLst>
              <p:tags r:id="rId7"/>
            </p:custDataLst>
          </p:nvPr>
        </p:nvSpPr>
        <p:spPr>
          <a:xfrm>
            <a:off x="2673985" y="3118485"/>
            <a:ext cx="1025525" cy="1132205"/>
          </a:xfrm>
          <a:prstGeom prst="roundRect">
            <a:avLst>
              <a:gd name="adj" fmla="val 0"/>
            </a:avLst>
          </a:prstGeom>
          <a:solidFill>
            <a:srgbClr val="009DD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4" name="AutoShape 24"/>
          <p:cNvSpPr/>
          <p:nvPr>
            <p:custDataLst>
              <p:tags r:id="rId8"/>
            </p:custDataLst>
          </p:nvPr>
        </p:nvSpPr>
        <p:spPr>
          <a:xfrm>
            <a:off x="2952750" y="3459480"/>
            <a:ext cx="365125" cy="403860"/>
          </a:xfrm>
          <a:prstGeom prst="rect">
            <a:avLst/>
          </a:prstGeom>
          <a:solidFill>
            <a:srgbClr val="009DD9">
              <a:alpha val="100000"/>
            </a:srgbClr>
          </a:solidFill>
          <a:ln w="12700" cap="flat" cmpd="sng">
            <a:noFill/>
            <a:prstDash val="solid"/>
            <a:round/>
          </a:ln>
        </p:spPr>
        <p:txBody>
          <a:bodyPr vert="horz" wrap="none" lIns="88900" tIns="50800" rIns="88900" bIns="50800" rtlCol="0" anchor="t" anchorCtr="0"/>
          <a:lstStyle/>
          <a:p>
            <a:pPr indent="0" algn="l">
              <a:lnSpc>
                <a:spcPct val="100000"/>
              </a:lnSpc>
              <a:defRPr/>
            </a:pPr>
            <a:r>
              <a:rPr lang="en-US" sz="3400" b="0" i="0" u="none" strike="noStrike">
                <a:solidFill>
                  <a:srgbClr val="FFFFFF"/>
                </a:solidFill>
                <a:latin typeface="Impact" panose="020B0806030902050204"/>
                <a:ea typeface="Impact" panose="020B0806030902050204"/>
                <a:cs typeface="Impact" panose="020B0806030902050204"/>
                <a:sym typeface="Impact" panose="020B0806030902050204"/>
              </a:rPr>
              <a:t>02</a:t>
            </a:r>
            <a:endParaRPr lang="en-US" sz="1100"/>
          </a:p>
        </p:txBody>
      </p:sp>
      <p:sp>
        <p:nvSpPr>
          <p:cNvPr id="25" name="AutoShape 25"/>
          <p:cNvSpPr/>
          <p:nvPr>
            <p:custDataLst>
              <p:tags r:id="rId9"/>
            </p:custDataLst>
          </p:nvPr>
        </p:nvSpPr>
        <p:spPr>
          <a:xfrm>
            <a:off x="1498600" y="3117850"/>
            <a:ext cx="1175385" cy="1148080"/>
          </a:xfrm>
          <a:prstGeom prst="roundRect">
            <a:avLst>
              <a:gd name="adj" fmla="val 0"/>
            </a:avLst>
          </a:pr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custDataLst>
              <p:tags r:id="rId10"/>
            </p:custDataLst>
          </p:nvPr>
        </p:nvSpPr>
        <p:spPr>
          <a:xfrm>
            <a:off x="1863668" y="3459291"/>
            <a:ext cx="335875" cy="357780"/>
          </a:xfrm>
          <a:prstGeom prst="rect">
            <a:avLst/>
          </a:prstGeom>
          <a:solidFill>
            <a:srgbClr val="0070C0">
              <a:alpha val="100000"/>
            </a:srgbClr>
          </a:solidFill>
          <a:ln w="12700" cap="flat" cmpd="sng">
            <a:noFill/>
            <a:prstDash val="solid"/>
            <a:round/>
          </a:ln>
        </p:spPr>
        <p:txBody>
          <a:bodyPr vert="horz" wrap="none" lIns="88900" tIns="50800" rIns="88900" bIns="50800" rtlCol="0" anchor="t" anchorCtr="0"/>
          <a:lstStyle/>
          <a:p>
            <a:pPr indent="0" algn="l">
              <a:lnSpc>
                <a:spcPct val="100000"/>
              </a:lnSpc>
              <a:defRPr/>
            </a:pPr>
            <a:r>
              <a:rPr lang="en-US" sz="3400" b="0" i="0" u="none" strike="noStrike">
                <a:solidFill>
                  <a:srgbClr val="FFFFFF"/>
                </a:solidFill>
                <a:latin typeface="Impact" panose="020B0806030902050204"/>
                <a:ea typeface="Impact" panose="020B0806030902050204"/>
                <a:cs typeface="Impact" panose="020B0806030902050204"/>
                <a:sym typeface="Impact" panose="020B0806030902050204"/>
              </a:rPr>
              <a:t>01</a:t>
            </a:r>
            <a:endParaRPr lang="en-US" sz="1100"/>
          </a:p>
        </p:txBody>
      </p:sp>
      <p:cxnSp>
        <p:nvCxnSpPr>
          <p:cNvPr id="27" name="Connector 27"/>
          <p:cNvCxnSpPr/>
          <p:nvPr>
            <p:custDataLst>
              <p:tags r:id="rId11"/>
            </p:custDataLst>
          </p:nvPr>
        </p:nvCxnSpPr>
        <p:spPr>
          <a:xfrm rot="-5399997">
            <a:off x="1414610" y="3083260"/>
            <a:ext cx="613381" cy="7302"/>
          </a:xfrm>
          <a:prstGeom prst="line">
            <a:avLst/>
          </a:prstGeom>
          <a:solidFill>
            <a:srgbClr val="DEE0E3">
              <a:alpha val="100000"/>
            </a:srgbClr>
          </a:solidFill>
          <a:ln w="12700" cap="sq" cmpd="sng">
            <a:solidFill>
              <a:srgbClr val="404040">
                <a:alpha val="98000"/>
              </a:srgbClr>
            </a:solidFill>
            <a:prstDash val="sysDot"/>
            <a:round/>
            <a:headEnd type="oval" w="med" len="med"/>
            <a:tailEnd type="oval" w="med" len="med"/>
          </a:ln>
        </p:spPr>
      </p:cxnSp>
      <p:sp>
        <p:nvSpPr>
          <p:cNvPr id="28" name="AutoShape 28"/>
          <p:cNvSpPr/>
          <p:nvPr>
            <p:custDataLst>
              <p:tags r:id="rId12"/>
            </p:custDataLst>
          </p:nvPr>
        </p:nvSpPr>
        <p:spPr>
          <a:xfrm>
            <a:off x="1820545" y="1878965"/>
            <a:ext cx="1302385" cy="1186815"/>
          </a:xfrm>
          <a:prstGeom prst="roundRect">
            <a:avLst>
              <a:gd name="adj" fmla="val 0"/>
            </a:avLst>
          </a:prstGeom>
          <a:solidFill>
            <a:srgbClr val="FFFFFF">
              <a:alpha val="100000"/>
            </a:srgbClr>
          </a:solidFill>
          <a:ln w="25400" cap="flat" cmpd="sng">
            <a:noFill/>
            <a:prstDash val="solid"/>
            <a:round/>
          </a:ln>
        </p:spPr>
        <p:txBody>
          <a:bodyPr vert="horz" wrap="square" lIns="101600" tIns="101600" rIns="101600" bIns="101600" rtlCol="0" anchor="t" anchorCtr="0"/>
          <a:lstStyle/>
          <a:p>
            <a:pPr indent="0" algn="ctr">
              <a:lnSpc>
                <a:spcPct val="108000"/>
              </a:lnSpc>
              <a:defRPr/>
            </a:pPr>
            <a:r>
              <a:rPr lang="en-US" sz="1300" b="1" i="0" u="none" strike="noStrike">
                <a:solidFill>
                  <a:srgbClr val="0070C0"/>
                </a:solidFill>
                <a:latin typeface="Noto Sans SC" panose="020B0200000000000000" charset="-122"/>
                <a:ea typeface="Noto Sans SC" panose="020B0200000000000000" charset="-122"/>
                <a:cs typeface="Noto Sans SC" panose="020B0200000000000000" charset="-122"/>
                <a:sym typeface="Noto Sans SC" panose="020B0200000000000000" charset="-122"/>
              </a:rPr>
              <a:t>上电初始化</a:t>
            </a:r>
            <a:endParaRPr lang="en-US" sz="1100"/>
          </a:p>
          <a:p>
            <a:pPr indent="0" algn="ctr">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初始化系统时钟、GPIO、LCD、按键扫描等。</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29" name="Connector 29"/>
          <p:cNvCxnSpPr/>
          <p:nvPr>
            <p:custDataLst>
              <p:tags r:id="rId13"/>
            </p:custDataLst>
          </p:nvPr>
        </p:nvCxnSpPr>
        <p:spPr>
          <a:xfrm rot="-5399997">
            <a:off x="2320012" y="4061606"/>
            <a:ext cx="613381" cy="7302"/>
          </a:xfrm>
          <a:prstGeom prst="line">
            <a:avLst/>
          </a:prstGeom>
          <a:solidFill>
            <a:srgbClr val="DEE0E3">
              <a:alpha val="100000"/>
            </a:srgbClr>
          </a:solidFill>
          <a:ln w="12700" cap="sq" cmpd="sng">
            <a:solidFill>
              <a:srgbClr val="404040">
                <a:alpha val="98000"/>
              </a:srgbClr>
            </a:solidFill>
            <a:prstDash val="sysDot"/>
            <a:round/>
            <a:headEnd type="oval" w="med" len="med"/>
            <a:tailEnd type="oval" w="med" len="med"/>
          </a:ln>
        </p:spPr>
      </p:cxnSp>
      <p:sp>
        <p:nvSpPr>
          <p:cNvPr id="30" name="AutoShape 30"/>
          <p:cNvSpPr/>
          <p:nvPr>
            <p:custDataLst>
              <p:tags r:id="rId14"/>
            </p:custDataLst>
          </p:nvPr>
        </p:nvSpPr>
        <p:spPr>
          <a:xfrm>
            <a:off x="2673985" y="4387850"/>
            <a:ext cx="1239520" cy="1020445"/>
          </a:xfrm>
          <a:prstGeom prst="roundRect">
            <a:avLst>
              <a:gd name="adj" fmla="val 0"/>
            </a:avLst>
          </a:prstGeom>
          <a:solidFill>
            <a:srgbClr val="FFFFFF">
              <a:alpha val="100000"/>
            </a:srgbClr>
          </a:solidFill>
          <a:ln w="25400" cap="flat" cmpd="sng">
            <a:noFill/>
            <a:prstDash val="solid"/>
            <a:round/>
          </a:ln>
        </p:spPr>
        <p:txBody>
          <a:bodyPr vert="horz" wrap="square" lIns="101600" tIns="101600" rIns="101600" bIns="101600" rtlCol="0" anchor="t" anchorCtr="0"/>
          <a:lstStyle/>
          <a:p>
            <a:pPr indent="0" algn="ctr">
              <a:lnSpc>
                <a:spcPct val="108000"/>
              </a:lnSpc>
              <a:defRPr/>
            </a:pPr>
            <a:r>
              <a:rPr lang="en-US" sz="1300" b="1" i="0" u="none" strike="noStrike">
                <a:solidFill>
                  <a:srgbClr val="92D050"/>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数据采集</a:t>
            </a:r>
            <a:endParaRPr lang="en-US" sz="1100"/>
          </a:p>
          <a:p>
            <a:pPr indent="0" algn="ctr">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调用DHT11驱动函数，读取温湿度数据。</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1" name="Connector 31"/>
          <p:cNvCxnSpPr/>
          <p:nvPr>
            <p:custDataLst>
              <p:tags r:id="rId15"/>
            </p:custDataLst>
          </p:nvPr>
        </p:nvCxnSpPr>
        <p:spPr>
          <a:xfrm rot="-5399997">
            <a:off x="3283828" y="3018490"/>
            <a:ext cx="613381" cy="7302"/>
          </a:xfrm>
          <a:prstGeom prst="line">
            <a:avLst/>
          </a:prstGeom>
          <a:solidFill>
            <a:srgbClr val="DEE0E3">
              <a:alpha val="100000"/>
            </a:srgbClr>
          </a:solidFill>
          <a:ln w="12700" cap="sq" cmpd="sng">
            <a:solidFill>
              <a:srgbClr val="404040">
                <a:alpha val="98000"/>
              </a:srgbClr>
            </a:solidFill>
            <a:prstDash val="sysDot"/>
            <a:round/>
            <a:headEnd type="oval" w="med" len="med"/>
            <a:tailEnd type="oval" w="med" len="med"/>
          </a:ln>
        </p:spPr>
      </p:cxnSp>
      <p:sp>
        <p:nvSpPr>
          <p:cNvPr id="32" name="AutoShape 32"/>
          <p:cNvSpPr/>
          <p:nvPr>
            <p:custDataLst>
              <p:tags r:id="rId16"/>
            </p:custDataLst>
          </p:nvPr>
        </p:nvSpPr>
        <p:spPr>
          <a:xfrm>
            <a:off x="3710305" y="1848485"/>
            <a:ext cx="1252220" cy="1162685"/>
          </a:xfrm>
          <a:prstGeom prst="roundRect">
            <a:avLst>
              <a:gd name="adj" fmla="val 0"/>
            </a:avLst>
          </a:prstGeom>
          <a:solidFill>
            <a:srgbClr val="FFFFFF">
              <a:alpha val="100000"/>
            </a:srgbClr>
          </a:solidFill>
          <a:ln w="25400" cap="flat" cmpd="sng">
            <a:noFill/>
            <a:prstDash val="solid"/>
            <a:round/>
          </a:ln>
        </p:spPr>
        <p:txBody>
          <a:bodyPr vert="horz" wrap="square" lIns="101600" tIns="101600" rIns="101600" bIns="101600" rtlCol="0" anchor="t" anchorCtr="0"/>
          <a:lstStyle/>
          <a:p>
            <a:pPr indent="0" algn="ctr">
              <a:lnSpc>
                <a:spcPct val="108000"/>
              </a:lnSpc>
              <a:defRPr/>
            </a:pPr>
            <a:r>
              <a:rPr lang="en-US" sz="1300" b="1" i="0" u="none" strike="noStrike">
                <a:solidFill>
                  <a:schemeClr val="accent2">
                    <a:lumMod val="60000"/>
                    <a:lumOff val="40000"/>
                  </a:scheme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显示刷新</a:t>
            </a:r>
            <a:endParaRPr lang="en-US" sz="1100">
              <a:solidFill>
                <a:schemeClr val="accent2">
                  <a:lumMod val="60000"/>
                  <a:lumOff val="40000"/>
                </a:schemeClr>
              </a:solidFill>
            </a:endParaRPr>
          </a:p>
          <a:p>
            <a:pPr indent="0" algn="ctr">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将采集到的数据格式化后显示在LCD1602上。</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3" name="Connector 33"/>
          <p:cNvCxnSpPr/>
          <p:nvPr>
            <p:custDataLst>
              <p:tags r:id="rId17"/>
            </p:custDataLst>
          </p:nvPr>
        </p:nvCxnSpPr>
        <p:spPr>
          <a:xfrm rot="-5399997">
            <a:off x="4196532" y="4061606"/>
            <a:ext cx="613381" cy="7302"/>
          </a:xfrm>
          <a:prstGeom prst="line">
            <a:avLst/>
          </a:prstGeom>
          <a:solidFill>
            <a:srgbClr val="DEE0E3">
              <a:alpha val="100000"/>
            </a:srgbClr>
          </a:solidFill>
          <a:ln w="12700" cap="sq" cmpd="sng">
            <a:solidFill>
              <a:srgbClr val="404040">
                <a:alpha val="98000"/>
              </a:srgbClr>
            </a:solidFill>
            <a:prstDash val="sysDot"/>
            <a:round/>
            <a:headEnd type="oval" w="med" len="med"/>
            <a:tailEnd type="oval" w="med" len="med"/>
          </a:ln>
        </p:spPr>
      </p:cxnSp>
      <p:sp>
        <p:nvSpPr>
          <p:cNvPr id="34" name="AutoShape 34"/>
          <p:cNvSpPr/>
          <p:nvPr>
            <p:custDataLst>
              <p:tags r:id="rId18"/>
            </p:custDataLst>
          </p:nvPr>
        </p:nvSpPr>
        <p:spPr>
          <a:xfrm>
            <a:off x="4579620" y="4474210"/>
            <a:ext cx="1372870" cy="934720"/>
          </a:xfrm>
          <a:prstGeom prst="roundRect">
            <a:avLst>
              <a:gd name="adj" fmla="val 0"/>
            </a:avLst>
          </a:prstGeom>
          <a:solidFill>
            <a:srgbClr val="FFFFFF">
              <a:alpha val="100000"/>
            </a:srgbClr>
          </a:solidFill>
          <a:ln w="25400" cap="flat" cmpd="sng">
            <a:noFill/>
            <a:prstDash val="solid"/>
            <a:round/>
          </a:ln>
        </p:spPr>
        <p:txBody>
          <a:bodyPr vert="horz" wrap="square" lIns="101600" tIns="101600" rIns="101600" bIns="101600" rtlCol="0" anchor="t" anchorCtr="0"/>
          <a:lstStyle/>
          <a:p>
            <a:pPr indent="0" algn="ctr">
              <a:lnSpc>
                <a:spcPct val="108000"/>
              </a:lnSpc>
              <a:defRPr/>
            </a:pPr>
            <a:r>
              <a:rPr lang="en-US" sz="1300" b="1" i="0" u="none" strike="noStrike">
                <a:solidFill>
                  <a:srgbClr val="7030A0"/>
                </a:solidFill>
                <a:latin typeface="Noto Sans SC" panose="020B0200000000000000" charset="-122"/>
                <a:ea typeface="Noto Sans SC" panose="020B0200000000000000" charset="-122"/>
                <a:cs typeface="Noto Sans SC" panose="020B0200000000000000" charset="-122"/>
                <a:sym typeface="Noto Sans SC" panose="020B0200000000000000" charset="-122"/>
              </a:rPr>
              <a:t>按键扫描</a:t>
            </a:r>
            <a:endParaRPr lang="en-US" sz="1100">
              <a:solidFill>
                <a:srgbClr val="7030A0"/>
              </a:solidFill>
            </a:endParaRPr>
          </a:p>
          <a:p>
            <a:pPr indent="0" algn="ctr">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检测按键输入，若有则进入阈值设置逻辑。</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5" name="Connector 35"/>
          <p:cNvCxnSpPr/>
          <p:nvPr>
            <p:custDataLst>
              <p:tags r:id="rId19"/>
            </p:custDataLst>
          </p:nvPr>
        </p:nvCxnSpPr>
        <p:spPr>
          <a:xfrm rot="-5399997">
            <a:off x="5153681" y="3018490"/>
            <a:ext cx="613381" cy="7302"/>
          </a:xfrm>
          <a:prstGeom prst="line">
            <a:avLst/>
          </a:prstGeom>
          <a:solidFill>
            <a:srgbClr val="DEE0E3">
              <a:alpha val="100000"/>
            </a:srgbClr>
          </a:solidFill>
          <a:ln w="12700" cap="sq" cmpd="sng">
            <a:solidFill>
              <a:srgbClr val="404040">
                <a:alpha val="98000"/>
              </a:srgbClr>
            </a:solidFill>
            <a:prstDash val="sysDot"/>
            <a:round/>
            <a:headEnd type="oval" w="med" len="med"/>
            <a:tailEnd type="oval" w="med" len="med"/>
          </a:ln>
        </p:spPr>
      </p:cxnSp>
      <p:sp>
        <p:nvSpPr>
          <p:cNvPr id="36" name="AutoShape 36"/>
          <p:cNvSpPr/>
          <p:nvPr>
            <p:custDataLst>
              <p:tags r:id="rId20"/>
            </p:custDataLst>
          </p:nvPr>
        </p:nvSpPr>
        <p:spPr>
          <a:xfrm>
            <a:off x="5549900" y="1849120"/>
            <a:ext cx="1249680" cy="1168400"/>
          </a:xfrm>
          <a:prstGeom prst="roundRect">
            <a:avLst>
              <a:gd name="adj" fmla="val 0"/>
            </a:avLst>
          </a:prstGeom>
          <a:solidFill>
            <a:srgbClr val="FFFFFF">
              <a:alpha val="100000"/>
            </a:srgbClr>
          </a:solidFill>
          <a:ln w="25400" cap="flat" cmpd="sng">
            <a:noFill/>
            <a:prstDash val="solid"/>
            <a:round/>
          </a:ln>
        </p:spPr>
        <p:txBody>
          <a:bodyPr vert="horz" wrap="square" lIns="101600" tIns="101600" rIns="101600" bIns="101600" rtlCol="0" anchor="t" anchorCtr="0"/>
          <a:lstStyle/>
          <a:p>
            <a:pPr indent="0" algn="ctr">
              <a:lnSpc>
                <a:spcPct val="108000"/>
              </a:lnSpc>
              <a:defRPr/>
            </a:pPr>
            <a:r>
              <a:rPr lang="en-US" sz="1300" b="1" i="0" u="none" strike="noStrike">
                <a:solidFill>
                  <a:srgbClr val="0070C0"/>
                </a:solidFill>
                <a:latin typeface="Noto Sans SC" panose="020B0200000000000000" charset="-122"/>
                <a:ea typeface="Noto Sans SC" panose="020B0200000000000000" charset="-122"/>
                <a:cs typeface="Noto Sans SC" panose="020B0200000000000000" charset="-122"/>
                <a:sym typeface="Noto Sans SC" panose="020B0200000000000000" charset="-122"/>
              </a:rPr>
              <a:t>越限判断与报警</a:t>
            </a:r>
            <a:endParaRPr lang="en-US" sz="1100"/>
          </a:p>
          <a:p>
            <a:pPr indent="0" algn="ctr">
              <a:lnSpc>
                <a:spcPct val="108000"/>
              </a:lnSpc>
            </a:pPr>
            <a:r>
              <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rPr>
              <a:t>比较当前数据与阈值，超限则触发报警。</a:t>
            </a:r>
            <a:endParaRPr lang="en-US" sz="1300" b="0" i="0" u="none" strike="noStrike">
              <a:solidFill>
                <a:srgbClr val="595959"/>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cxnSp>
        <p:nvCxnSpPr>
          <p:cNvPr id="37" name="Connector 15"/>
          <p:cNvCxnSpPr/>
          <p:nvPr/>
        </p:nvCxnSpPr>
        <p:spPr>
          <a:xfrm>
            <a:off x="4930995" y="295869"/>
            <a:ext cx="2540" cy="302895"/>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38" name="AutoShape 4"/>
          <p:cNvSpPr/>
          <p:nvPr/>
        </p:nvSpPr>
        <p:spPr>
          <a:xfrm>
            <a:off x="6647815" y="0"/>
            <a:ext cx="1645285" cy="787400"/>
          </a:xfrm>
          <a:prstGeom prst="roundRect">
            <a:avLst>
              <a:gd name="adj" fmla="val 0"/>
            </a:avLst>
          </a:prstGeom>
          <a:solidFill>
            <a:srgbClr val="7030A0"/>
          </a:solidFill>
          <a:ln w="25400" cap="flat" cmpd="sng">
            <a:noFill/>
            <a:prstDash val="solid"/>
            <a:round/>
          </a:ln>
        </p:spPr>
        <p:txBody>
          <a:bodyPr vert="horz" wrap="square" lIns="63500" tIns="63500" rIns="63500" bIns="63500" rtlCol="0" anchor="ctr"/>
          <a:lstStyle/>
          <a:p>
            <a:pPr algn="ctr">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pic>
        <p:nvPicPr>
          <p:cNvPr id="87" name="图片 1" descr="lQLPDhrGSL3Q8RPNAUXNB_Gw-UljzDPDeBW9Elf1rMOXFg_2033_325"/>
          <p:cNvPicPr>
            <a:picLocks noChangeAspect="1"/>
          </p:cNvPicPr>
          <p:nvPr/>
        </p:nvPicPr>
        <p:blipFill>
          <a:blip r:embed="rId21"/>
          <a:stretch>
            <a:fillRect/>
          </a:stretch>
        </p:blipFill>
        <p:spPr>
          <a:xfrm>
            <a:off x="183515" y="114300"/>
            <a:ext cx="2991485" cy="484505"/>
          </a:xfrm>
          <a:prstGeom prst="rect">
            <a:avLst/>
          </a:prstGeom>
          <a:noFill/>
          <a:ln>
            <a:noFill/>
          </a:ln>
        </p:spPr>
      </p:pic>
      <p:sp>
        <p:nvSpPr>
          <p:cNvPr id="39" name="AutoShape 10"/>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sp>
        <p:nvSpPr>
          <p:cNvPr id="5"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0" name="AutoShape 12"/>
          <p:cNvSpPr/>
          <p:nvPr/>
        </p:nvSpPr>
        <p:spPr>
          <a:xfrm>
            <a:off x="6988175" y="1347470"/>
            <a:ext cx="4956810" cy="5156200"/>
          </a:xfrm>
          <a:prstGeom prst="roundRect">
            <a:avLst>
              <a:gd name="adj" fmla="val 0"/>
            </a:avLst>
          </a:prstGeom>
          <a:solidFill>
            <a:srgbClr val="FFFFFF">
              <a:alpha val="100000"/>
            </a:srgbClr>
          </a:solidFill>
          <a:ln w="12700" cap="flat" cmpd="sng">
            <a:solidFill>
              <a:srgbClr val="448AD7">
                <a:alpha val="100000"/>
              </a:srgbClr>
            </a:solidFill>
            <a:prstDash val="solid"/>
            <a:round/>
          </a:ln>
        </p:spPr>
        <p:txBody>
          <a:bodyPr vert="horz" wrap="square" lIns="63500" tIns="63500" rIns="63500" bIns="63500" rtlCol="0" anchor="ctr"/>
          <a:lstStyle/>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主程序图</a:t>
            </a: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nvGrpSpPr>
          <p:cNvPr id="11" name="组合 8"/>
          <p:cNvGrpSpPr/>
          <p:nvPr/>
        </p:nvGrpSpPr>
        <p:grpSpPr>
          <a:xfrm>
            <a:off x="7326630" y="1485900"/>
            <a:ext cx="4305935" cy="4566285"/>
            <a:chOff x="4810" y="412810"/>
            <a:chExt cx="7922" cy="9458"/>
          </a:xfrm>
        </p:grpSpPr>
        <p:cxnSp>
          <p:nvCxnSpPr>
            <p:cNvPr id="180" name="直接箭头连接符 180"/>
            <p:cNvCxnSpPr/>
            <p:nvPr/>
          </p:nvCxnSpPr>
          <p:spPr>
            <a:xfrm>
              <a:off x="8575" y="415969"/>
              <a:ext cx="1" cy="352"/>
            </a:xfrm>
            <a:prstGeom prst="straightConnector1">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nvGrpSpPr>
            <p:cNvPr id="13" name="组合 2"/>
            <p:cNvGrpSpPr/>
            <p:nvPr/>
          </p:nvGrpSpPr>
          <p:grpSpPr>
            <a:xfrm>
              <a:off x="4810" y="412810"/>
              <a:ext cx="7922" cy="9458"/>
              <a:chOff x="4810" y="412810"/>
              <a:chExt cx="7922" cy="9458"/>
            </a:xfrm>
          </p:grpSpPr>
          <p:cxnSp>
            <p:nvCxnSpPr>
              <p:cNvPr id="187" name="肘形连接符 187"/>
              <p:cNvCxnSpPr/>
              <p:nvPr/>
            </p:nvCxnSpPr>
            <p:spPr>
              <a:xfrm flipV="1">
                <a:off x="9506" y="415684"/>
                <a:ext cx="259" cy="1370"/>
              </a:xfrm>
              <a:prstGeom prst="bentConnector3">
                <a:avLst>
                  <a:gd name="adj1" fmla="val 244788"/>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nvGrpSpPr>
              <p:cNvPr id="220" name="组合 220"/>
              <p:cNvGrpSpPr/>
              <p:nvPr/>
            </p:nvGrpSpPr>
            <p:grpSpPr>
              <a:xfrm>
                <a:off x="4810" y="412810"/>
                <a:ext cx="7922" cy="9458"/>
                <a:chOff x="3757" y="361390"/>
                <a:chExt cx="7922" cy="9458"/>
              </a:xfrm>
            </p:grpSpPr>
            <p:cxnSp>
              <p:nvCxnSpPr>
                <p:cNvPr id="192" name="直接箭头连接符 192"/>
                <p:cNvCxnSpPr>
                  <a:stCxn id="43" idx="2"/>
                  <a:endCxn id="40" idx="0"/>
                </p:cNvCxnSpPr>
                <p:nvPr/>
              </p:nvCxnSpPr>
              <p:spPr>
                <a:xfrm flipH="1">
                  <a:off x="7693" y="369769"/>
                  <a:ext cx="1" cy="449"/>
                </a:xfrm>
                <a:prstGeom prst="straightConnector1">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nvGrpSpPr>
                <p:cNvPr id="219" name="组合 219"/>
                <p:cNvGrpSpPr/>
                <p:nvPr/>
              </p:nvGrpSpPr>
              <p:grpSpPr>
                <a:xfrm>
                  <a:off x="3757" y="361390"/>
                  <a:ext cx="7922" cy="9458"/>
                  <a:chOff x="3757" y="361390"/>
                  <a:chExt cx="7922" cy="9458"/>
                </a:xfrm>
              </p:grpSpPr>
              <p:grpSp>
                <p:nvGrpSpPr>
                  <p:cNvPr id="218" name="组合 218"/>
                  <p:cNvGrpSpPr/>
                  <p:nvPr/>
                </p:nvGrpSpPr>
                <p:grpSpPr>
                  <a:xfrm>
                    <a:off x="3757" y="361390"/>
                    <a:ext cx="7922" cy="9458"/>
                    <a:chOff x="3757" y="361390"/>
                    <a:chExt cx="7922" cy="9458"/>
                  </a:xfrm>
                </p:grpSpPr>
                <p:cxnSp>
                  <p:nvCxnSpPr>
                    <p:cNvPr id="190" name="肘形连接符 190"/>
                    <p:cNvCxnSpPr>
                      <a:stCxn id="46" idx="2"/>
                      <a:endCxn id="43" idx="1"/>
                    </p:cNvCxnSpPr>
                    <p:nvPr/>
                  </p:nvCxnSpPr>
                  <p:spPr>
                    <a:xfrm rot="5400000" flipV="1">
                      <a:off x="5560" y="368260"/>
                      <a:ext cx="717" cy="1895"/>
                    </a:xfrm>
                    <a:prstGeom prst="bentConnector2">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nvGrpSpPr>
                    <p:cNvPr id="217" name="组合 217"/>
                    <p:cNvGrpSpPr/>
                    <p:nvPr/>
                  </p:nvGrpSpPr>
                  <p:grpSpPr>
                    <a:xfrm>
                      <a:off x="3757" y="361390"/>
                      <a:ext cx="7922" cy="9458"/>
                      <a:chOff x="3757" y="361390"/>
                      <a:chExt cx="7922" cy="9458"/>
                    </a:xfrm>
                  </p:grpSpPr>
                  <p:cxnSp>
                    <p:nvCxnSpPr>
                      <p:cNvPr id="191" name="肘形连接符 191"/>
                      <p:cNvCxnSpPr>
                        <a:stCxn id="47" idx="2"/>
                        <a:endCxn id="43" idx="3"/>
                      </p:cNvCxnSpPr>
                      <p:nvPr/>
                    </p:nvCxnSpPr>
                    <p:spPr>
                      <a:xfrm rot="5400000">
                        <a:off x="9119" y="368301"/>
                        <a:ext cx="668" cy="1862"/>
                      </a:xfrm>
                      <a:prstGeom prst="bentConnector2">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nvGrpSpPr>
                      <p:cNvPr id="216" name="组合 216"/>
                      <p:cNvGrpSpPr/>
                      <p:nvPr/>
                    </p:nvGrpSpPr>
                    <p:grpSpPr>
                      <a:xfrm>
                        <a:off x="3757" y="361390"/>
                        <a:ext cx="7922" cy="9458"/>
                        <a:chOff x="3757" y="361390"/>
                        <a:chExt cx="7922" cy="9458"/>
                      </a:xfrm>
                    </p:grpSpPr>
                    <p:cxnSp>
                      <p:nvCxnSpPr>
                        <p:cNvPr id="183" name="肘形连接符 183"/>
                        <p:cNvCxnSpPr/>
                        <p:nvPr/>
                      </p:nvCxnSpPr>
                      <p:spPr>
                        <a:xfrm rot="16200000" flipH="1">
                          <a:off x="7627" y="365284"/>
                          <a:ext cx="79" cy="5418"/>
                        </a:xfrm>
                        <a:prstGeom prst="bentConnector3">
                          <a:avLst>
                            <a:gd name="adj1" fmla="val -501899"/>
                          </a:avLst>
                        </a:prstGeom>
                        <a:ln w="6350">
                          <a:solidFill>
                            <a:schemeClr val="tx1"/>
                          </a:solidFill>
                          <a:headEnd type="triangle"/>
                          <a:tailEnd type="triangle"/>
                        </a:ln>
                      </p:spPr>
                      <p:style>
                        <a:lnRef idx="2">
                          <a:schemeClr val="accent1"/>
                        </a:lnRef>
                        <a:fillRef idx="0">
                          <a:srgbClr val="FFFFFF"/>
                        </a:fillRef>
                        <a:effectRef idx="0">
                          <a:srgbClr val="FFFFFF"/>
                        </a:effectRef>
                        <a:fontRef idx="minor">
                          <a:schemeClr val="tx1"/>
                        </a:fontRef>
                      </p:style>
                    </p:cxnSp>
                    <p:grpSp>
                      <p:nvGrpSpPr>
                        <p:cNvPr id="215" name="组合 215"/>
                        <p:cNvGrpSpPr/>
                        <p:nvPr/>
                      </p:nvGrpSpPr>
                      <p:grpSpPr>
                        <a:xfrm>
                          <a:off x="3757" y="361390"/>
                          <a:ext cx="7922" cy="9458"/>
                          <a:chOff x="3757" y="361390"/>
                          <a:chExt cx="7922" cy="9458"/>
                        </a:xfrm>
                      </p:grpSpPr>
                      <p:grpSp>
                        <p:nvGrpSpPr>
                          <p:cNvPr id="214" name="组合 214"/>
                          <p:cNvGrpSpPr/>
                          <p:nvPr/>
                        </p:nvGrpSpPr>
                        <p:grpSpPr>
                          <a:xfrm>
                            <a:off x="3757" y="361390"/>
                            <a:ext cx="7922" cy="9458"/>
                            <a:chOff x="3757" y="361390"/>
                            <a:chExt cx="7922" cy="9458"/>
                          </a:xfrm>
                        </p:grpSpPr>
                        <p:cxnSp>
                          <p:nvCxnSpPr>
                            <p:cNvPr id="181" name="直接箭头连接符 181"/>
                            <p:cNvCxnSpPr>
                              <a:stCxn id="51" idx="2"/>
                              <a:endCxn id="50" idx="0"/>
                            </p:cNvCxnSpPr>
                            <p:nvPr/>
                          </p:nvCxnSpPr>
                          <p:spPr>
                            <a:xfrm flipH="1">
                              <a:off x="7541" y="366399"/>
                              <a:ext cx="8" cy="298"/>
                            </a:xfrm>
                            <a:prstGeom prst="straightConnector1">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nvGrpSpPr>
                            <p:cNvPr id="213" name="组合 213"/>
                            <p:cNvGrpSpPr/>
                            <p:nvPr/>
                          </p:nvGrpSpPr>
                          <p:grpSpPr>
                            <a:xfrm>
                              <a:off x="3757" y="361390"/>
                              <a:ext cx="7922" cy="9458"/>
                              <a:chOff x="3757" y="361390"/>
                              <a:chExt cx="7922" cy="9458"/>
                            </a:xfrm>
                          </p:grpSpPr>
                          <p:grpSp>
                            <p:nvGrpSpPr>
                              <p:cNvPr id="212" name="组合 212"/>
                              <p:cNvGrpSpPr/>
                              <p:nvPr/>
                            </p:nvGrpSpPr>
                            <p:grpSpPr>
                              <a:xfrm>
                                <a:off x="3757" y="361390"/>
                                <a:ext cx="7922" cy="9458"/>
                                <a:chOff x="3757" y="361390"/>
                                <a:chExt cx="7922" cy="9458"/>
                              </a:xfrm>
                            </p:grpSpPr>
                            <p:sp>
                              <p:nvSpPr>
                                <p:cNvPr id="40" name="椭圆 27"/>
                                <p:cNvSpPr/>
                                <p:nvPr/>
                              </p:nvSpPr>
                              <p:spPr>
                                <a:xfrm>
                                  <a:off x="6508" y="370218"/>
                                  <a:ext cx="2369" cy="630"/>
                                </a:xfrm>
                                <a:prstGeom prst="ellipse">
                                  <a:avLst/>
                                </a:prstGeom>
                                <a:solidFill>
                                  <a:srgbClr val="FFFFFF"/>
                                </a:solidFill>
                                <a:ln w="9525" cap="flat" cmpd="sng">
                                  <a:solidFill>
                                    <a:srgbClr val="000000"/>
                                  </a:solidFill>
                                  <a:prstDash val="solid"/>
                                  <a:headEnd type="none" w="med" len="med"/>
                                  <a:tailEnd type="none" w="med" len="med"/>
                                </a:ln>
                                <a:effectLst/>
                              </p:spPr>
                              <p:txBody>
                                <a:bodyPr upright="1"/>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返回</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11" name="组合 211"/>
                                <p:cNvGrpSpPr/>
                                <p:nvPr/>
                              </p:nvGrpSpPr>
                              <p:grpSpPr>
                                <a:xfrm>
                                  <a:off x="3757" y="361390"/>
                                  <a:ext cx="7923" cy="8378"/>
                                  <a:chOff x="3757" y="361390"/>
                                  <a:chExt cx="7923" cy="8378"/>
                                </a:xfrm>
                              </p:grpSpPr>
                              <p:sp>
                                <p:nvSpPr>
                                  <p:cNvPr id="41" name="矩形 6"/>
                                  <p:cNvSpPr/>
                                  <p:nvPr/>
                                </p:nvSpPr>
                                <p:spPr>
                                  <a:xfrm>
                                    <a:off x="10976" y="369289"/>
                                    <a:ext cx="704" cy="451"/>
                                  </a:xfrm>
                                  <a:prstGeom prst="rect">
                                    <a:avLst/>
                                  </a:prstGeom>
                                  <a:solidFill>
                                    <a:srgbClr val="FFFFFF"/>
                                  </a:solidFill>
                                  <a:ln w="12700" cap="flat"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是</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10" name="组合 210"/>
                                  <p:cNvGrpSpPr/>
                                  <p:nvPr/>
                                </p:nvGrpSpPr>
                                <p:grpSpPr>
                                  <a:xfrm>
                                    <a:off x="3757" y="361390"/>
                                    <a:ext cx="7882" cy="8378"/>
                                    <a:chOff x="3757" y="361390"/>
                                    <a:chExt cx="7882" cy="8378"/>
                                  </a:xfrm>
                                </p:grpSpPr>
                                <p:sp>
                                  <p:nvSpPr>
                                    <p:cNvPr id="43" name="矩形 43"/>
                                    <p:cNvSpPr/>
                                    <p:nvPr/>
                                  </p:nvSpPr>
                                  <p:spPr>
                                    <a:xfrm>
                                      <a:off x="6866" y="369362"/>
                                      <a:ext cx="1656" cy="407"/>
                                    </a:xfrm>
                                    <a:prstGeom prst="rect">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蜂鸣器报警</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9" name="组合 209"/>
                                    <p:cNvGrpSpPr/>
                                    <p:nvPr/>
                                  </p:nvGrpSpPr>
                                  <p:grpSpPr>
                                    <a:xfrm>
                                      <a:off x="3757" y="361390"/>
                                      <a:ext cx="7882" cy="8329"/>
                                      <a:chOff x="3757" y="361390"/>
                                      <a:chExt cx="7882" cy="8329"/>
                                    </a:xfrm>
                                  </p:grpSpPr>
                                  <p:sp>
                                    <p:nvSpPr>
                                      <p:cNvPr id="42" name="矩形 5"/>
                                      <p:cNvSpPr/>
                                      <p:nvPr/>
                                    </p:nvSpPr>
                                    <p:spPr>
                                      <a:xfrm>
                                        <a:off x="4036" y="369197"/>
                                        <a:ext cx="661" cy="523"/>
                                      </a:xfrm>
                                      <a:prstGeom prst="rect">
                                        <a:avLst/>
                                      </a:prstGeom>
                                      <a:solidFill>
                                        <a:srgbClr val="FFFFFF"/>
                                      </a:solidFill>
                                      <a:ln w="12700" cap="flat"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是</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8" name="组合 208"/>
                                      <p:cNvGrpSpPr/>
                                      <p:nvPr/>
                                    </p:nvGrpSpPr>
                                    <p:grpSpPr>
                                      <a:xfrm>
                                        <a:off x="3757" y="361390"/>
                                        <a:ext cx="7882" cy="7508"/>
                                        <a:chOff x="3757" y="361390"/>
                                        <a:chExt cx="7882" cy="7508"/>
                                      </a:xfrm>
                                    </p:grpSpPr>
                                    <p:sp>
                                      <p:nvSpPr>
                                        <p:cNvPr id="44" name="矩形 4"/>
                                        <p:cNvSpPr/>
                                        <p:nvPr/>
                                      </p:nvSpPr>
                                      <p:spPr>
                                        <a:xfrm>
                                          <a:off x="3947" y="367523"/>
                                          <a:ext cx="775" cy="432"/>
                                        </a:xfrm>
                                        <a:prstGeom prst="rect">
                                          <a:avLst/>
                                        </a:prstGeom>
                                        <a:solidFill>
                                          <a:srgbClr val="FFFFFF"/>
                                        </a:solidFill>
                                        <a:ln w="12700" cap="flat"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否</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7" name="组合 207"/>
                                        <p:cNvGrpSpPr/>
                                        <p:nvPr/>
                                      </p:nvGrpSpPr>
                                      <p:grpSpPr>
                                        <a:xfrm>
                                          <a:off x="3757" y="361390"/>
                                          <a:ext cx="7883" cy="7508"/>
                                          <a:chOff x="3757" y="361390"/>
                                          <a:chExt cx="7883" cy="7508"/>
                                        </a:xfrm>
                                      </p:grpSpPr>
                                      <p:sp>
                                        <p:nvSpPr>
                                          <p:cNvPr id="45" name="矩形 3"/>
                                          <p:cNvSpPr/>
                                          <p:nvPr/>
                                        </p:nvSpPr>
                                        <p:spPr>
                                          <a:xfrm>
                                            <a:off x="10754" y="367509"/>
                                            <a:ext cx="887" cy="430"/>
                                          </a:xfrm>
                                          <a:prstGeom prst="rect">
                                            <a:avLst/>
                                          </a:prstGeom>
                                          <a:solidFill>
                                            <a:srgbClr val="FFFFFF"/>
                                          </a:solidFill>
                                          <a:ln w="12700" cap="flat"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否</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6" name="组合 206"/>
                                          <p:cNvGrpSpPr/>
                                          <p:nvPr/>
                                        </p:nvGrpSpPr>
                                        <p:grpSpPr>
                                          <a:xfrm>
                                            <a:off x="3757" y="361390"/>
                                            <a:ext cx="7808" cy="7508"/>
                                            <a:chOff x="3757" y="361390"/>
                                            <a:chExt cx="7808" cy="7508"/>
                                          </a:xfrm>
                                        </p:grpSpPr>
                                        <p:sp>
                                          <p:nvSpPr>
                                            <p:cNvPr id="47" name="菱形 47"/>
                                            <p:cNvSpPr/>
                                            <p:nvPr/>
                                          </p:nvSpPr>
                                          <p:spPr>
                                            <a:xfrm rot="21540000">
                                              <a:off x="9187" y="368040"/>
                                              <a:ext cx="2379" cy="858"/>
                                            </a:xfrm>
                                            <a:prstGeom prst="diamond">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超过下限</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5" name="组合 205"/>
                                            <p:cNvGrpSpPr/>
                                            <p:nvPr/>
                                          </p:nvGrpSpPr>
                                          <p:grpSpPr>
                                            <a:xfrm>
                                              <a:off x="3757" y="361390"/>
                                              <a:ext cx="6530" cy="7459"/>
                                              <a:chOff x="3757" y="361390"/>
                                              <a:chExt cx="6530" cy="7459"/>
                                            </a:xfrm>
                                          </p:grpSpPr>
                                          <p:sp>
                                            <p:nvSpPr>
                                              <p:cNvPr id="46" name="菱形 46"/>
                                              <p:cNvSpPr/>
                                              <p:nvPr/>
                                            </p:nvSpPr>
                                            <p:spPr>
                                              <a:xfrm rot="21540000">
                                                <a:off x="3757" y="367951"/>
                                                <a:ext cx="2411" cy="898"/>
                                              </a:xfrm>
                                              <a:prstGeom prst="diamond">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ctr"/>
                                                <a:r>
                                                  <a:rPr lang="en-US" altLang="zh-CN" sz="1000" kern="100">
                                                    <a:latin typeface="Times New Roman" panose="02020603050405020304"/>
                                                    <a:ea typeface="宋体" panose="02010600030101010101" pitchFamily="2" charset="-122"/>
                                                    <a:cs typeface="Times New Roman" panose="02020603050405020304"/>
                                                    <a:sym typeface="Times New Roman" panose="02020603050405020304"/>
                                                  </a:rPr>
                                                  <a:t>超过上限</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4" name="组合 204"/>
                                              <p:cNvGrpSpPr/>
                                              <p:nvPr/>
                                            </p:nvGrpSpPr>
                                            <p:grpSpPr>
                                              <a:xfrm>
                                                <a:off x="6331" y="361390"/>
                                                <a:ext cx="3956" cy="5760"/>
                                                <a:chOff x="6331" y="361390"/>
                                                <a:chExt cx="3956" cy="5760"/>
                                              </a:xfrm>
                                            </p:grpSpPr>
                                            <p:sp>
                                              <p:nvSpPr>
                                                <p:cNvPr id="48" name="矩形 39"/>
                                                <p:cNvSpPr/>
                                                <p:nvPr/>
                                              </p:nvSpPr>
                                              <p:spPr>
                                                <a:xfrm>
                                                  <a:off x="9351" y="364696"/>
                                                  <a:ext cx="937" cy="492"/>
                                                </a:xfrm>
                                                <a:prstGeom prst="rect">
                                                  <a:avLst/>
                                                </a:prstGeom>
                                                <a:solidFill>
                                                  <a:srgbClr val="FFFFFF"/>
                                                </a:solidFill>
                                                <a:ln w="12700" cap="flat"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solidFill>
                                                        <a:srgbClr val="000000"/>
                                                      </a:solidFill>
                                                      <a:latin typeface="Times New Roman" panose="02020603050405020304"/>
                                                      <a:ea typeface="宋体" panose="02010600030101010101" pitchFamily="2" charset="-122"/>
                                                      <a:cs typeface="Times New Roman" panose="02020603050405020304"/>
                                                      <a:sym typeface="Times New Roman" panose="02020603050405020304"/>
                                                    </a:rPr>
                                                    <a:t>否</a:t>
                                                  </a:r>
                                                  <a:endParaRPr lang="en-US" altLang="zh-CN" sz="1050" kern="100">
                                                    <a:solidFill>
                                                      <a:srgbClr val="000000"/>
                                                    </a:solidFill>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3" name="组合 203"/>
                                                <p:cNvGrpSpPr/>
                                                <p:nvPr/>
                                              </p:nvGrpSpPr>
                                              <p:grpSpPr>
                                                <a:xfrm>
                                                  <a:off x="6331" y="361390"/>
                                                  <a:ext cx="3061" cy="5760"/>
                                                  <a:chOff x="6331" y="361390"/>
                                                  <a:chExt cx="3061" cy="5760"/>
                                                </a:xfrm>
                                              </p:grpSpPr>
                                              <p:sp>
                                                <p:nvSpPr>
                                                  <p:cNvPr id="49" name="矩形 40"/>
                                                  <p:cNvSpPr/>
                                                  <p:nvPr/>
                                                </p:nvSpPr>
                                                <p:spPr>
                                                  <a:xfrm>
                                                    <a:off x="8372" y="366162"/>
                                                    <a:ext cx="1020" cy="430"/>
                                                  </a:xfrm>
                                                  <a:prstGeom prst="rect">
                                                    <a:avLst/>
                                                  </a:prstGeom>
                                                  <a:solidFill>
                                                    <a:srgbClr val="FFFFFF"/>
                                                  </a:solidFill>
                                                  <a:ln w="12700" cap="flat" cmpd="sng" algn="ctr">
                                                    <a:solidFill>
                                                      <a:srgbClr val="00000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是</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2" name="组合 202"/>
                                                  <p:cNvGrpSpPr/>
                                                  <p:nvPr/>
                                                </p:nvGrpSpPr>
                                                <p:grpSpPr>
                                                  <a:xfrm>
                                                    <a:off x="6331" y="361390"/>
                                                    <a:ext cx="2380" cy="5761"/>
                                                    <a:chOff x="6331" y="361390"/>
                                                    <a:chExt cx="2380" cy="5761"/>
                                                  </a:xfrm>
                                                </p:grpSpPr>
                                                <p:sp>
                                                  <p:nvSpPr>
                                                    <p:cNvPr id="50" name="矩形 14"/>
                                                    <p:cNvSpPr/>
                                                    <p:nvPr/>
                                                  </p:nvSpPr>
                                                  <p:spPr>
                                                    <a:xfrm>
                                                      <a:off x="6775" y="366697"/>
                                                      <a:ext cx="1531" cy="454"/>
                                                    </a:xfrm>
                                                    <a:prstGeom prst="rect">
                                                      <a:avLst/>
                                                    </a:prstGeom>
                                                    <a:solidFill>
                                                      <a:srgbClr val="FFFFFF"/>
                                                    </a:solidFill>
                                                    <a:ln w="9525" cap="flat" cmpd="sng">
                                                      <a:solidFill>
                                                        <a:srgbClr val="000000"/>
                                                      </a:solidFill>
                                                      <a:prstDash val="solid"/>
                                                      <a:miter/>
                                                      <a:headEnd type="none" w="med" len="med"/>
                                                      <a:tailEnd type="none" w="med" len="med"/>
                                                    </a:ln>
                                                    <a:effectLst/>
                                                  </p:spPr>
                                                  <p:txBody>
                                                    <a:bodyPr upright="1"/>
                                                    <a:lstStyle/>
                                                    <a:p>
                                                      <a:pPr indent="133350" algn="just"/>
                                                      <a:r>
                                                        <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rPr>
                                                        <a:t>按键设置</a:t>
                                                      </a:r>
                                                      <a:endParaRPr lang="en-US" altLang="zh-CN" sz="90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1" name="组合 201"/>
                                                    <p:cNvGrpSpPr/>
                                                    <p:nvPr/>
                                                  </p:nvGrpSpPr>
                                                  <p:grpSpPr>
                                                    <a:xfrm>
                                                      <a:off x="6331" y="361390"/>
                                                      <a:ext cx="2380" cy="5009"/>
                                                      <a:chOff x="6331" y="361390"/>
                                                      <a:chExt cx="2380" cy="5009"/>
                                                    </a:xfrm>
                                                  </p:grpSpPr>
                                                  <p:sp>
                                                    <p:nvSpPr>
                                                      <p:cNvPr id="51" name="菱形 18"/>
                                                      <p:cNvSpPr/>
                                                      <p:nvPr/>
                                                    </p:nvSpPr>
                                                    <p:spPr>
                                                      <a:xfrm rot="21540000">
                                                        <a:off x="6619" y="364901"/>
                                                        <a:ext cx="1834" cy="1498"/>
                                                      </a:xfrm>
                                                      <a:prstGeom prst="diamond">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是否按下按键</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grpSp>
                                                    <p:nvGrpSpPr>
                                                      <p:cNvPr id="200" name="组合 200"/>
                                                      <p:cNvGrpSpPr/>
                                                      <p:nvPr/>
                                                    </p:nvGrpSpPr>
                                                    <p:grpSpPr>
                                                      <a:xfrm>
                                                        <a:off x="6331" y="361390"/>
                                                        <a:ext cx="2380" cy="3158"/>
                                                        <a:chOff x="6331" y="361390"/>
                                                        <a:chExt cx="2380" cy="3158"/>
                                                      </a:xfrm>
                                                    </p:grpSpPr>
                                                    <p:sp>
                                                      <p:nvSpPr>
                                                        <p:cNvPr id="52" name="矩形 37"/>
                                                        <p:cNvSpPr/>
                                                        <p:nvPr/>
                                                      </p:nvSpPr>
                                                      <p:spPr>
                                                        <a:xfrm>
                                                          <a:off x="6331" y="363978"/>
                                                          <a:ext cx="2381" cy="571"/>
                                                        </a:xfrm>
                                                        <a:prstGeom prst="rect">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just">
                                                            <a:lnSpc>
                                                              <a:spcPct val="150000"/>
                                                            </a:lnSpc>
                                                          </a:pPr>
                                                          <a:r>
                                                            <a:rPr lang="en-US" altLang="zh-CN" sz="910" kern="100">
                                                              <a:latin typeface="黑体" panose="02010609060101010101" charset="-122"/>
                                                              <a:ea typeface="黑体" panose="02010609060101010101" charset="-122"/>
                                                              <a:cs typeface="黑体" panose="02010609060101010101" charset="-122"/>
                                                              <a:sym typeface="Times New Roman" panose="02020603050405020304"/>
                                                            </a:rPr>
                                                            <a:t>LCD1602显示当前信息</a:t>
                                                          </a:r>
                                                          <a:endParaRPr lang="en-US" altLang="zh-CN" sz="910" kern="100">
                                                            <a:latin typeface="黑体" panose="02010609060101010101" charset="-122"/>
                                                            <a:ea typeface="黑体" panose="02010609060101010101" charset="-122"/>
                                                            <a:cs typeface="黑体" panose="02010609060101010101" charset="-122"/>
                                                            <a:sym typeface="Times New Roman" panose="02020603050405020304"/>
                                                          </a:endParaRPr>
                                                        </a:p>
                                                      </p:txBody>
                                                    </p:sp>
                                                    <p:grpSp>
                                                      <p:nvGrpSpPr>
                                                        <p:cNvPr id="197" name="组合 197"/>
                                                        <p:cNvGrpSpPr/>
                                                        <p:nvPr/>
                                                      </p:nvGrpSpPr>
                                                      <p:grpSpPr>
                                                        <a:xfrm>
                                                          <a:off x="6437" y="361390"/>
                                                          <a:ext cx="2154" cy="2586"/>
                                                          <a:chOff x="6437" y="361390"/>
                                                          <a:chExt cx="2154" cy="2586"/>
                                                        </a:xfrm>
                                                      </p:grpSpPr>
                                                      <p:grpSp>
                                                        <p:nvGrpSpPr>
                                                          <p:cNvPr id="196" name="组合 196"/>
                                                          <p:cNvGrpSpPr/>
                                                          <p:nvPr/>
                                                        </p:nvGrpSpPr>
                                                        <p:grpSpPr>
                                                          <a:xfrm>
                                                            <a:off x="6437" y="363090"/>
                                                            <a:ext cx="2154" cy="887"/>
                                                            <a:chOff x="6437" y="363090"/>
                                                            <a:chExt cx="2154" cy="887"/>
                                                          </a:xfrm>
                                                        </p:grpSpPr>
                                                        <p:sp>
                                                          <p:nvSpPr>
                                                            <p:cNvPr id="53" name="矩形 7"/>
                                                            <p:cNvSpPr/>
                                                            <p:nvPr/>
                                                          </p:nvSpPr>
                                                          <p:spPr>
                                                            <a:xfrm>
                                                              <a:off x="6437" y="363090"/>
                                                              <a:ext cx="2154" cy="505"/>
                                                            </a:xfrm>
                                                            <a:prstGeom prst="rect">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just"/>
                                                              <a:r>
                                                                <a:rPr lang="en-US" altLang="zh-CN" sz="900" kern="100">
                                                                  <a:latin typeface="黑体" panose="02010609060101010101" charset="-122"/>
                                                                  <a:ea typeface="黑体" panose="02010609060101010101" charset="-122"/>
                                                                  <a:cs typeface="黑体" panose="02010609060101010101" charset="-122"/>
                                                                  <a:sym typeface="Times New Roman" panose="02020603050405020304"/>
                                                                </a:rPr>
                                                                <a:t>DHT11温湿度初始化</a:t>
                                                              </a:r>
                                                              <a:endParaRPr lang="en-US" altLang="zh-CN" sz="900" kern="100">
                                                                <a:latin typeface="黑体" panose="02010609060101010101" charset="-122"/>
                                                                <a:ea typeface="黑体" panose="02010609060101010101" charset="-122"/>
                                                                <a:cs typeface="黑体" panose="02010609060101010101" charset="-122"/>
                                                                <a:sym typeface="Times New Roman" panose="02020603050405020304"/>
                                                              </a:endParaRPr>
                                                            </a:p>
                                                          </p:txBody>
                                                        </p:sp>
                                                        <p:cxnSp>
                                                          <p:nvCxnSpPr>
                                                            <p:cNvPr id="177" name="直接箭头连接符 177"/>
                                                            <p:cNvCxnSpPr>
                                                              <a:stCxn id="53" idx="2"/>
                                                              <a:endCxn id="52" idx="0"/>
                                                            </p:cNvCxnSpPr>
                                                            <p:nvPr/>
                                                          </p:nvCxnSpPr>
                                                          <p:spPr>
                                                            <a:xfrm>
                                                              <a:off x="7514" y="363595"/>
                                                              <a:ext cx="8" cy="383"/>
                                                            </a:xfrm>
                                                            <a:prstGeom prst="straightConnector1">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grpSp>
                                                        <p:nvGrpSpPr>
                                                          <p:cNvPr id="195" name="组合 195"/>
                                                          <p:cNvGrpSpPr/>
                                                          <p:nvPr/>
                                                        </p:nvGrpSpPr>
                                                        <p:grpSpPr>
                                                          <a:xfrm>
                                                            <a:off x="6625" y="361390"/>
                                                            <a:ext cx="1756" cy="1699"/>
                                                            <a:chOff x="6625" y="361390"/>
                                                            <a:chExt cx="1756" cy="1699"/>
                                                          </a:xfrm>
                                                        </p:grpSpPr>
                                                        <p:grpSp>
                                                          <p:nvGrpSpPr>
                                                            <p:cNvPr id="164" name="组合 164"/>
                                                            <p:cNvGrpSpPr/>
                                                            <p:nvPr/>
                                                          </p:nvGrpSpPr>
                                                          <p:grpSpPr>
                                                            <a:xfrm>
                                                              <a:off x="6901" y="361390"/>
                                                              <a:ext cx="1134" cy="872"/>
                                                              <a:chOff x="7095" y="361359"/>
                                                              <a:chExt cx="1134" cy="872"/>
                                                            </a:xfrm>
                                                          </p:grpSpPr>
                                                          <p:cxnSp>
                                                            <p:nvCxnSpPr>
                                                              <p:cNvPr id="54" name="直接连接符 16"/>
                                                              <p:cNvCxnSpPr/>
                                                              <p:nvPr/>
                                                            </p:nvCxnSpPr>
                                                            <p:spPr>
                                                              <a:xfrm>
                                                                <a:off x="7690" y="361750"/>
                                                                <a:ext cx="1" cy="481"/>
                                                              </a:xfrm>
                                                              <a:prstGeom prst="line">
                                                                <a:avLst/>
                                                              </a:prstGeom>
                                                              <a:ln w="6350" cap="flat" cmpd="sng">
                                                                <a:solidFill>
                                                                  <a:srgbClr val="000000"/>
                                                                </a:solidFill>
                                                                <a:prstDash val="solid"/>
                                                                <a:headEnd type="none" w="med" len="med"/>
                                                                <a:tailEnd type="triangle" w="med" len="med"/>
                                                              </a:ln>
                                                              <a:effectLst/>
                                                            </p:spPr>
                                                          </p:cxnSp>
                                                          <p:sp>
                                                            <p:nvSpPr>
                                                              <p:cNvPr id="55" name="矩形 11"/>
                                                              <p:cNvSpPr/>
                                                              <p:nvPr/>
                                                            </p:nvSpPr>
                                                            <p:spPr>
                                                              <a:xfrm>
                                                                <a:off x="7095" y="361359"/>
                                                                <a:ext cx="1134" cy="397"/>
                                                              </a:xfrm>
                                                              <a:prstGeom prst="rect">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ctr"/>
                                                                <a:r>
                                                                  <a:rPr lang="en-US" altLang="zh-CN" sz="1050" kern="100">
                                                                    <a:latin typeface="黑体" panose="02010609060101010101" charset="-122"/>
                                                                    <a:ea typeface="黑体" panose="02010609060101010101" charset="-122"/>
                                                                    <a:cs typeface="Times New Roman" panose="02020603050405020304"/>
                                                                    <a:sym typeface="Times New Roman" panose="02020603050405020304"/>
                                                                  </a:rPr>
                                                                  <a:t>开始</a:t>
                                                                </a:r>
                                                                <a:endParaRPr lang="en-US" altLang="zh-CN" sz="1050" kern="100">
                                                                  <a:latin typeface="黑体" panose="02010609060101010101" charset="-122"/>
                                                                  <a:ea typeface="黑体" panose="02010609060101010101" charset="-122"/>
                                                                  <a:cs typeface="Times New Roman" panose="02020603050405020304"/>
                                                                  <a:sym typeface="Times New Roman" panose="02020603050405020304"/>
                                                                </a:endParaRPr>
                                                              </a:p>
                                                            </p:txBody>
                                                          </p:sp>
                                                        </p:grpSp>
                                                        <p:sp>
                                                          <p:nvSpPr>
                                                            <p:cNvPr id="56" name="矩形 31"/>
                                                            <p:cNvSpPr/>
                                                            <p:nvPr/>
                                                          </p:nvSpPr>
                                                          <p:spPr>
                                                            <a:xfrm>
                                                              <a:off x="6625" y="362227"/>
                                                              <a:ext cx="1757" cy="454"/>
                                                            </a:xfrm>
                                                            <a:prstGeom prst="rect">
                                                              <a:avLst/>
                                                            </a:prstGeom>
                                                            <a:solidFill>
                                                              <a:srgbClr val="FFFFFF"/>
                                                            </a:solidFill>
                                                            <a:ln w="9525" cap="flat" cmpd="sng">
                                                              <a:solidFill>
                                                                <a:srgbClr val="000000"/>
                                                              </a:solidFill>
                                                              <a:prstDash val="solid"/>
                                                              <a:miter/>
                                                              <a:headEnd type="none" w="med" len="med"/>
                                                              <a:tailEnd type="none" w="med" len="med"/>
                                                            </a:ln>
                                                            <a:effectLst/>
                                                          </p:spPr>
                                                          <p:txBody>
                                                            <a:bodyPr upright="1"/>
                                                            <a:lstStyle/>
                                                            <a:p>
                                                              <a:pPr algn="ctr"/>
                                                              <a:r>
                                                                <a:rPr lang="en-US" altLang="zh-CN" sz="910" kern="100">
                                                                  <a:latin typeface="黑体" panose="02010609060101010101" charset="-122"/>
                                                                  <a:ea typeface="黑体" panose="02010609060101010101" charset="-122"/>
                                                                  <a:cs typeface="黑体" panose="02010609060101010101" charset="-122"/>
                                                                  <a:sym typeface="Times New Roman" panose="02020603050405020304"/>
                                                                </a:rPr>
                                                                <a:t>Lcd1602初始化</a:t>
                                                              </a:r>
                                                              <a:endParaRPr lang="en-US" altLang="zh-CN" sz="910" kern="100">
                                                                <a:latin typeface="黑体" panose="02010609060101010101" charset="-122"/>
                                                                <a:ea typeface="黑体" panose="02010609060101010101" charset="-122"/>
                                                                <a:cs typeface="黑体" panose="02010609060101010101" charset="-122"/>
                                                                <a:sym typeface="Times New Roman" panose="02020603050405020304"/>
                                                              </a:endParaRPr>
                                                            </a:p>
                                                            <a:p>
                                                              <a:pPr algn="just"/>
                                                              <a:r>
                                                                <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rPr>
                                                                <a:t> </a:t>
                                                              </a:r>
                                                              <a:endParaRPr lang="en-US" altLang="zh-CN" sz="1050" kern="100">
                                                                <a:latin typeface="Times New Roman" panose="02020603050405020304"/>
                                                                <a:ea typeface="宋体" panose="02010600030101010101" pitchFamily="2" charset="-122"/>
                                                                <a:cs typeface="Times New Roman" panose="02020603050405020304"/>
                                                                <a:sym typeface="Times New Roman" panose="02020603050405020304"/>
                                                              </a:endParaRPr>
                                                            </a:p>
                                                          </p:txBody>
                                                        </p:sp>
                                                        <p:cxnSp>
                                                          <p:nvCxnSpPr>
                                                            <p:cNvPr id="179" name="直接箭头连接符 179"/>
                                                            <p:cNvCxnSpPr>
                                                              <a:stCxn id="56" idx="2"/>
                                                              <a:endCxn id="53" idx="0"/>
                                                            </p:cNvCxnSpPr>
                                                            <p:nvPr/>
                                                          </p:nvCxnSpPr>
                                                          <p:spPr>
                                                            <a:xfrm>
                                                              <a:off x="7504" y="362681"/>
                                                              <a:ext cx="10" cy="409"/>
                                                            </a:xfrm>
                                                            <a:prstGeom prst="straightConnector1">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grpSp>
                                                  </p:grpSp>
                                                </p:grpSp>
                                              </p:grpSp>
                                            </p:grpSp>
                                          </p:grpSp>
                                        </p:grpSp>
                                      </p:grpSp>
                                    </p:grpSp>
                                  </p:grpSp>
                                </p:grpSp>
                              </p:grpSp>
                            </p:grpSp>
                          </p:grpSp>
                          <p:cxnSp>
                            <p:nvCxnSpPr>
                              <p:cNvPr id="193" name="肘形连接符 193"/>
                              <p:cNvCxnSpPr>
                                <a:stCxn id="46" idx="1"/>
                                <a:endCxn id="52" idx="1"/>
                              </p:cNvCxnSpPr>
                              <p:nvPr/>
                            </p:nvCxnSpPr>
                            <p:spPr>
                              <a:xfrm rot="10800000" flipH="1">
                                <a:off x="3757" y="364264"/>
                                <a:ext cx="2574" cy="4157"/>
                              </a:xfrm>
                              <a:prstGeom prst="bentConnector3">
                                <a:avLst>
                                  <a:gd name="adj1" fmla="val -14880"/>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grpSp>
                      <p:cxnSp>
                        <p:nvCxnSpPr>
                          <p:cNvPr id="198" name="直接箭头连接符 198"/>
                          <p:cNvCxnSpPr>
                            <a:stCxn id="50" idx="2"/>
                          </p:cNvCxnSpPr>
                          <p:nvPr/>
                        </p:nvCxnSpPr>
                        <p:spPr>
                          <a:xfrm>
                            <a:off x="7541" y="367151"/>
                            <a:ext cx="10" cy="414"/>
                          </a:xfrm>
                          <a:prstGeom prst="straightConnector1">
                            <a:avLst/>
                          </a:prstGeom>
                          <a:ln w="6350">
                            <a:solidFill>
                              <a:schemeClr val="tx1"/>
                            </a:solidFill>
                            <a:tailEnd type="triangle"/>
                          </a:ln>
                        </p:spPr>
                        <p:style>
                          <a:lnRef idx="2">
                            <a:schemeClr val="accent1"/>
                          </a:lnRef>
                          <a:fillRef idx="0">
                            <a:srgbClr val="FFFFFF"/>
                          </a:fillRef>
                          <a:effectRef idx="0">
                            <a:srgbClr val="FFFFFF"/>
                          </a:effectRef>
                          <a:fontRef idx="minor">
                            <a:schemeClr val="tx1"/>
                          </a:fontRef>
                        </p:style>
                      </p:cxnSp>
                    </p:grpSp>
                  </p:grpSp>
                </p:grpSp>
              </p:grpSp>
              <p:cxnSp>
                <p:nvCxnSpPr>
                  <p:cNvPr id="199" name="肘形连接符 199"/>
                  <p:cNvCxnSpPr/>
                  <p:nvPr/>
                </p:nvCxnSpPr>
                <p:spPr>
                  <a:xfrm flipH="1" flipV="1">
                    <a:off x="9091" y="364243"/>
                    <a:ext cx="2475" cy="4205"/>
                  </a:xfrm>
                  <a:prstGeom prst="bentConnector4">
                    <a:avLst>
                      <a:gd name="adj1" fmla="val -15475"/>
                      <a:gd name="adj2" fmla="val 99476"/>
                    </a:avLst>
                  </a:prstGeom>
                  <a:ln w="6350">
                    <a:solidFill>
                      <a:schemeClr val="tx1"/>
                    </a:solidFill>
                  </a:ln>
                </p:spPr>
                <p:style>
                  <a:lnRef idx="2">
                    <a:schemeClr val="accent1"/>
                  </a:lnRef>
                  <a:fillRef idx="0">
                    <a:srgbClr val="FFFFFF"/>
                  </a:fillRef>
                  <a:effectRef idx="0">
                    <a:srgbClr val="FFFFFF"/>
                  </a:effectRef>
                  <a:fontRef idx="minor">
                    <a:schemeClr val="tx1"/>
                  </a:fontRef>
                </p:style>
              </p:cxnSp>
            </p:grpSp>
          </p:gr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5400000">
            <a:off x="4229100" y="-4229100"/>
            <a:ext cx="3733800" cy="12192000"/>
          </a:xfrm>
          <a:prstGeom prst="roundRect">
            <a:avLst>
              <a:gd name="adj" fmla="val 0"/>
            </a:avLst>
          </a:prstGeom>
          <a:solidFill>
            <a:schemeClr val="accent1">
              <a:lumMod val="40000"/>
              <a:lumOff val="60000"/>
            </a:schemeClr>
          </a:solidFill>
          <a:ln w="25400" cap="flat" cmpd="sng">
            <a:noFill/>
            <a:prstDash val="solid"/>
            <a:round/>
          </a:ln>
        </p:spPr>
        <p:txBody>
          <a:bodyPr vert="horz" wrap="square" lIns="63500" tIns="63500" rIns="63500" bIns="63500" rtlCol="0" anchor="ctr">
            <a:noAutofit/>
          </a:bodyPr>
          <a:lstStyle/>
          <a:p>
            <a:pPr lvl="0" algn="ctr">
              <a:buSzTx/>
              <a:defRPr/>
            </a:pPr>
            <a:endParaRPr>
              <a:sym typeface="+mn-ea"/>
            </a:endParaRPr>
          </a:p>
        </p:txBody>
      </p:sp>
      <p:sp>
        <p:nvSpPr>
          <p:cNvPr id="4" name="Freeform 4"/>
          <p:cNvSpPr/>
          <p:nvPr/>
        </p:nvSpPr>
        <p:spPr>
          <a:xfrm>
            <a:off x="5321300" y="3048000"/>
            <a:ext cx="1549400" cy="1378900"/>
          </a:xfrm>
          <a:custGeom>
            <a:avLst/>
            <a:gdLst/>
            <a:ahLst/>
            <a:cxnLst/>
            <a:rect l="l" t="t" r="r" b="b"/>
            <a:pathLst>
              <a:path w="1549400" h="1378900">
                <a:moveTo>
                  <a:pt x="455144" y="0"/>
                </a:moveTo>
                <a:lnTo>
                  <a:pt x="682201" y="0"/>
                </a:lnTo>
                <a:lnTo>
                  <a:pt x="867199" y="0"/>
                </a:lnTo>
                <a:lnTo>
                  <a:pt x="1094256" y="0"/>
                </a:lnTo>
                <a:cubicBezTo>
                  <a:pt x="1138385" y="0"/>
                  <a:pt x="1193828" y="31699"/>
                  <a:pt x="1216458" y="70190"/>
                </a:cubicBezTo>
                <a:cubicBezTo>
                  <a:pt x="1533276" y="619260"/>
                  <a:pt x="1533276" y="619260"/>
                  <a:pt x="1533276" y="619260"/>
                </a:cubicBezTo>
                <a:cubicBezTo>
                  <a:pt x="1544025" y="638505"/>
                  <a:pt x="1549400" y="663978"/>
                  <a:pt x="1549400" y="689450"/>
                </a:cubicBezTo>
                <a:cubicBezTo>
                  <a:pt x="1549400" y="714922"/>
                  <a:pt x="1544025" y="740395"/>
                  <a:pt x="1533276" y="759640"/>
                </a:cubicBezTo>
                <a:cubicBezTo>
                  <a:pt x="1216458" y="1308710"/>
                  <a:pt x="1216458" y="1308710"/>
                  <a:pt x="1216458" y="1308710"/>
                </a:cubicBezTo>
                <a:cubicBezTo>
                  <a:pt x="1193828" y="1347202"/>
                  <a:pt x="1138385" y="1378900"/>
                  <a:pt x="1094256" y="1378900"/>
                </a:cubicBezTo>
                <a:cubicBezTo>
                  <a:pt x="1015053" y="1378900"/>
                  <a:pt x="945747" y="1378900"/>
                  <a:pt x="885107" y="1378900"/>
                </a:cubicBezTo>
                <a:lnTo>
                  <a:pt x="867199" y="1378900"/>
                </a:lnTo>
                <a:lnTo>
                  <a:pt x="821465" y="1378900"/>
                </a:lnTo>
                <a:lnTo>
                  <a:pt x="800487" y="1378900"/>
                </a:lnTo>
                <a:lnTo>
                  <a:pt x="748913" y="1378900"/>
                </a:lnTo>
                <a:lnTo>
                  <a:pt x="727935" y="1378900"/>
                </a:lnTo>
                <a:lnTo>
                  <a:pt x="682201" y="1378900"/>
                </a:lnTo>
                <a:lnTo>
                  <a:pt x="664293" y="1378900"/>
                </a:lnTo>
                <a:cubicBezTo>
                  <a:pt x="603653" y="1378900"/>
                  <a:pt x="534347" y="1378900"/>
                  <a:pt x="455144" y="1378900"/>
                </a:cubicBezTo>
                <a:cubicBezTo>
                  <a:pt x="411015" y="1378900"/>
                  <a:pt x="355572" y="1347202"/>
                  <a:pt x="332942" y="1308710"/>
                </a:cubicBezTo>
                <a:cubicBezTo>
                  <a:pt x="332942" y="1308710"/>
                  <a:pt x="332942" y="1308710"/>
                  <a:pt x="16124" y="759640"/>
                </a:cubicBezTo>
                <a:cubicBezTo>
                  <a:pt x="5375" y="740395"/>
                  <a:pt x="0" y="714922"/>
                  <a:pt x="0" y="689450"/>
                </a:cubicBezTo>
                <a:cubicBezTo>
                  <a:pt x="0" y="663978"/>
                  <a:pt x="5375" y="638505"/>
                  <a:pt x="16124" y="619260"/>
                </a:cubicBezTo>
                <a:cubicBezTo>
                  <a:pt x="16124" y="619260"/>
                  <a:pt x="16124" y="619260"/>
                  <a:pt x="332942" y="70190"/>
                </a:cubicBezTo>
                <a:cubicBezTo>
                  <a:pt x="355572" y="31699"/>
                  <a:pt x="411015" y="0"/>
                  <a:pt x="455144" y="0"/>
                </a:cubicBezTo>
                <a:close/>
              </a:path>
            </a:pathLst>
          </a:custGeom>
          <a:solidFill>
            <a:srgbClr val="FFFFFF">
              <a:alpha val="100000"/>
            </a:srgbClr>
          </a:solidFill>
          <a:ln w="25400" cap="flat" cmpd="sng">
            <a:noFill/>
            <a:prstDash val="solid"/>
            <a:round/>
          </a:ln>
          <a:effectLst>
            <a:outerShdw blurRad="63500" algn="ctr" rotWithShape="0">
              <a:srgbClr val="000000">
                <a:alpha val="40000"/>
              </a:srgbClr>
            </a:outerShdw>
          </a:effectLst>
        </p:spPr>
        <p:txBody>
          <a:bodyPr vert="horz" wrap="square" lIns="63500" tIns="63500" rIns="63500" bIns="63500" rtlCol="0" anchor="ctr"/>
          <a:lstStyle/>
          <a:p>
            <a:pPr algn="ctr">
              <a:defRPr/>
            </a:pPr>
          </a:p>
        </p:txBody>
      </p:sp>
      <p:sp>
        <p:nvSpPr>
          <p:cNvPr id="5" name="Freeform 5"/>
          <p:cNvSpPr/>
          <p:nvPr/>
        </p:nvSpPr>
        <p:spPr>
          <a:xfrm>
            <a:off x="5422900" y="3136900"/>
            <a:ext cx="1342415" cy="1194692"/>
          </a:xfrm>
          <a:custGeom>
            <a:avLst/>
            <a:gdLst/>
            <a:ahLst/>
            <a:cxnLst/>
            <a:rect l="l" t="t" r="r" b="b"/>
            <a:pathLst>
              <a:path w="1342415" h="1194692">
                <a:moveTo>
                  <a:pt x="394341" y="0"/>
                </a:moveTo>
                <a:lnTo>
                  <a:pt x="591066" y="0"/>
                </a:lnTo>
                <a:lnTo>
                  <a:pt x="751351" y="0"/>
                </a:lnTo>
                <a:lnTo>
                  <a:pt x="948075" y="0"/>
                </a:lnTo>
                <a:cubicBezTo>
                  <a:pt x="986309" y="0"/>
                  <a:pt x="1034345" y="27465"/>
                  <a:pt x="1053951" y="60814"/>
                </a:cubicBezTo>
                <a:cubicBezTo>
                  <a:pt x="1328447" y="536532"/>
                  <a:pt x="1328447" y="536532"/>
                  <a:pt x="1328447" y="536532"/>
                </a:cubicBezTo>
                <a:cubicBezTo>
                  <a:pt x="1337760" y="553207"/>
                  <a:pt x="1342415" y="575277"/>
                  <a:pt x="1342415" y="597346"/>
                </a:cubicBezTo>
                <a:cubicBezTo>
                  <a:pt x="1342415" y="619416"/>
                  <a:pt x="1337760" y="641486"/>
                  <a:pt x="1328447" y="658160"/>
                </a:cubicBezTo>
                <a:cubicBezTo>
                  <a:pt x="1053951" y="1133879"/>
                  <a:pt x="1053951" y="1133879"/>
                  <a:pt x="1053951" y="1133879"/>
                </a:cubicBezTo>
                <a:cubicBezTo>
                  <a:pt x="1034345" y="1167228"/>
                  <a:pt x="986309" y="1194692"/>
                  <a:pt x="948075" y="1194692"/>
                </a:cubicBezTo>
                <a:cubicBezTo>
                  <a:pt x="879451" y="1194692"/>
                  <a:pt x="819405" y="1194692"/>
                  <a:pt x="766865" y="1194692"/>
                </a:cubicBezTo>
                <a:lnTo>
                  <a:pt x="751351" y="1194692"/>
                </a:lnTo>
                <a:lnTo>
                  <a:pt x="711726" y="1194692"/>
                </a:lnTo>
                <a:lnTo>
                  <a:pt x="693551" y="1194692"/>
                </a:lnTo>
                <a:lnTo>
                  <a:pt x="648866" y="1194692"/>
                </a:lnTo>
                <a:lnTo>
                  <a:pt x="630690" y="1194692"/>
                </a:lnTo>
                <a:lnTo>
                  <a:pt x="591066" y="1194692"/>
                </a:lnTo>
                <a:lnTo>
                  <a:pt x="575550" y="1194692"/>
                </a:lnTo>
                <a:cubicBezTo>
                  <a:pt x="523011" y="1194692"/>
                  <a:pt x="462965" y="1194692"/>
                  <a:pt x="394341" y="1194692"/>
                </a:cubicBezTo>
                <a:cubicBezTo>
                  <a:pt x="356107" y="1194692"/>
                  <a:pt x="308072" y="1167228"/>
                  <a:pt x="288465" y="1133879"/>
                </a:cubicBezTo>
                <a:cubicBezTo>
                  <a:pt x="288465" y="1133879"/>
                  <a:pt x="288465" y="1133879"/>
                  <a:pt x="13970" y="658160"/>
                </a:cubicBezTo>
                <a:cubicBezTo>
                  <a:pt x="4657" y="641486"/>
                  <a:pt x="0" y="619416"/>
                  <a:pt x="0" y="597346"/>
                </a:cubicBezTo>
                <a:cubicBezTo>
                  <a:pt x="0" y="575277"/>
                  <a:pt x="4657" y="553207"/>
                  <a:pt x="13970" y="536532"/>
                </a:cubicBezTo>
                <a:cubicBezTo>
                  <a:pt x="13970" y="536532"/>
                  <a:pt x="13970" y="536532"/>
                  <a:pt x="288465" y="60814"/>
                </a:cubicBezTo>
                <a:cubicBezTo>
                  <a:pt x="308072" y="27465"/>
                  <a:pt x="356107" y="0"/>
                  <a:pt x="394341" y="0"/>
                </a:cubicBezTo>
                <a:close/>
              </a:path>
            </a:pathLst>
          </a:custGeom>
          <a:solidFill>
            <a:srgbClr val="9CC5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486400" y="3505200"/>
            <a:ext cx="1206500" cy="4572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400" b="0"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Part.04</a:t>
            </a:r>
            <a:endParaRPr lang="en-US" sz="1100"/>
          </a:p>
        </p:txBody>
      </p:sp>
      <p:sp>
        <p:nvSpPr>
          <p:cNvPr id="7" name="AutoShape 7"/>
          <p:cNvSpPr/>
          <p:nvPr/>
        </p:nvSpPr>
        <p:spPr>
          <a:xfrm>
            <a:off x="3327400" y="4787900"/>
            <a:ext cx="5537200" cy="7112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4000" b="1" i="0" u="none" strike="noStrike" spc="600">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系统测试与验证</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2367915" y="1019810"/>
            <a:ext cx="7456805" cy="1207135"/>
          </a:xfrm>
          <a:prstGeom prst="rect">
            <a:avLst/>
          </a:prstGeom>
          <a:noFill/>
          <a:ln>
            <a:noFill/>
          </a:ln>
        </p:spPr>
      </p:pic>
      <p:pic>
        <p:nvPicPr>
          <p:cNvPr id="10" name="Picture 9"/>
          <p:cNvPicPr>
            <a:picLocks noChangeAspect="1"/>
          </p:cNvPicPr>
          <p:nvPr/>
        </p:nvPicPr>
        <p:blipFill>
          <a:blip r:embed="rId2"/>
          <a:srcRect t="34" b="34"/>
          <a:stretch>
            <a:fillRect/>
          </a:stretch>
        </p:blipFill>
        <p:spPr>
          <a:xfrm>
            <a:off x="10020300" y="165100"/>
            <a:ext cx="1905000" cy="1879600"/>
          </a:xfrm>
          <a:prstGeom prst="rect">
            <a:avLst/>
          </a:prstGeom>
          <a:noFill/>
          <a:ln w="25400" cap="flat" cmpd="sng">
            <a:noFill/>
            <a:prstDash val="solid"/>
            <a:rou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9"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
        <p:nvSpPr>
          <p:cNvPr id="10" name="AutoShape 10"/>
          <p:cNvSpPr/>
          <p:nvPr/>
        </p:nvSpPr>
        <p:spPr>
          <a:xfrm>
            <a:off x="812800" y="11049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实物与仿真测试</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140970" y="107315"/>
            <a:ext cx="3034030" cy="491490"/>
          </a:xfrm>
          <a:prstGeom prst="rect">
            <a:avLst/>
          </a:prstGeom>
          <a:noFill/>
          <a:ln>
            <a:noFill/>
          </a:ln>
        </p:spPr>
      </p:pic>
      <p:cxnSp>
        <p:nvCxnSpPr>
          <p:cNvPr id="20" name="Connector 16"/>
          <p:cNvCxnSpPr/>
          <p:nvPr/>
        </p:nvCxnSpPr>
        <p:spPr>
          <a:xfrm flipH="1">
            <a:off x="3238484" y="195108"/>
            <a:ext cx="6951" cy="338293"/>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2" name="AutoShape 7"/>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23"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cxnSp>
        <p:nvCxnSpPr>
          <p:cNvPr id="37" name="Connector 15"/>
          <p:cNvCxnSpPr/>
          <p:nvPr/>
        </p:nvCxnSpPr>
        <p:spPr>
          <a:xfrm>
            <a:off x="4930995" y="295869"/>
            <a:ext cx="2540" cy="302895"/>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7"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cxnSp>
        <p:nvCxnSpPr>
          <p:cNvPr id="24" name="Connector 12"/>
          <p:cNvCxnSpPr/>
          <p:nvPr/>
        </p:nvCxnSpPr>
        <p:spPr>
          <a:xfrm>
            <a:off x="6608986" y="252735"/>
            <a:ext cx="7698" cy="280666"/>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25" name="Connector 4"/>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39" name="AutoShape 10"/>
          <p:cNvSpPr/>
          <p:nvPr/>
        </p:nvSpPr>
        <p:spPr>
          <a:xfrm>
            <a:off x="8401050" y="635"/>
            <a:ext cx="1507490" cy="786765"/>
          </a:xfrm>
          <a:prstGeom prst="rect">
            <a:avLst/>
          </a:prstGeom>
          <a:solidFill>
            <a:srgbClr val="7030A0"/>
          </a:solidFill>
          <a:ln w="25400" cap="flat" cmpd="sng">
            <a:noFill/>
            <a:prstDash val="solid"/>
            <a:round/>
          </a:ln>
        </p:spPr>
        <p:txBody>
          <a:bodyPr vert="horz" wrap="square" lIns="63500" tIns="63500" rIns="63500" bIns="63500" rtlCol="0" anchor="ctr" anchorCtr="0">
            <a:noAutofit/>
          </a:bodyPr>
          <a:lstStyle/>
          <a:p>
            <a:pPr lvl="0" algn="ctr">
              <a:buSzTx/>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cxnSp>
        <p:nvCxnSpPr>
          <p:cNvPr id="30" name="Connector 6"/>
          <p:cNvCxnSpPr/>
          <p:nvPr/>
        </p:nvCxnSpPr>
        <p:spPr>
          <a:xfrm flipH="1">
            <a:off x="10001885" y="279400"/>
            <a:ext cx="5715" cy="262255"/>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4" name="AutoShape 4"/>
          <p:cNvSpPr/>
          <p:nvPr>
            <p:custDataLst>
              <p:tags r:id="rId2"/>
            </p:custDataLst>
          </p:nvPr>
        </p:nvSpPr>
        <p:spPr>
          <a:xfrm>
            <a:off x="762000" y="1524000"/>
            <a:ext cx="5207000" cy="1714500"/>
          </a:xfrm>
          <a:prstGeom prst="roundRect">
            <a:avLst>
              <a:gd name="adj" fmla="val 5925"/>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752600"/>
            <a:ext cx="304800" cy="304800"/>
          </a:xfrm>
          <a:prstGeom prst="rect">
            <a:avLst/>
          </a:prstGeom>
        </p:spPr>
      </p:pic>
      <p:sp>
        <p:nvSpPr>
          <p:cNvPr id="6" name="AutoShape 6"/>
          <p:cNvSpPr/>
          <p:nvPr>
            <p:custDataLst>
              <p:tags r:id="rId6"/>
            </p:custDataLst>
          </p:nvPr>
        </p:nvSpPr>
        <p:spPr>
          <a:xfrm>
            <a:off x="1397000" y="17145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双重验证方法 (实物 + 仿真)</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7"/>
            </p:custDataLst>
          </p:nvPr>
        </p:nvSpPr>
        <p:spPr>
          <a:xfrm>
            <a:off x="952500" y="2286000"/>
            <a:ext cx="4826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实物测试：</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基于实际焊接PCB板，还原真实环境，验证系统实际运行状况。</a:t>
            </a:r>
            <a:endParaRPr lang="en-US" sz="1100"/>
          </a:p>
          <a:p>
            <a:pPr indent="0" algn="l">
              <a:lnSpc>
                <a:spcPct val="108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软件仿真：</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利用Proteus搭建虚拟电路，低成本、高效率地快速验证软件逻辑。</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8"/>
          <p:cNvSpPr/>
          <p:nvPr>
            <p:custDataLst>
              <p:tags r:id="rId8"/>
            </p:custDataLst>
          </p:nvPr>
        </p:nvSpPr>
        <p:spPr>
          <a:xfrm>
            <a:off x="746760" y="3429000"/>
            <a:ext cx="5207000" cy="1714500"/>
          </a:xfrm>
          <a:prstGeom prst="roundRect">
            <a:avLst>
              <a:gd name="adj" fmla="val 5925"/>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6" name="Picture 9"/>
          <p:cNvPicPr>
            <a:picLocks noChangeAspect="1"/>
          </p:cNvPicPr>
          <p:nvPr>
            <p:custDataLst>
              <p:tags r:id="rId9"/>
            </p:custDataLst>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3657600"/>
            <a:ext cx="304800" cy="304800"/>
          </a:xfrm>
          <a:prstGeom prst="rect">
            <a:avLst/>
          </a:prstGeom>
        </p:spPr>
      </p:pic>
      <p:sp>
        <p:nvSpPr>
          <p:cNvPr id="28" name="AutoShape 10"/>
          <p:cNvSpPr/>
          <p:nvPr>
            <p:custDataLst>
              <p:tags r:id="rId12"/>
            </p:custDataLst>
          </p:nvPr>
        </p:nvSpPr>
        <p:spPr>
          <a:xfrm>
            <a:off x="1397000" y="3619500"/>
            <a:ext cx="4318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rPr>
              <a:t>软硬件测试平台搭建</a:t>
            </a:r>
            <a:endParaRPr lang="en-US" sz="1800" b="1" i="0" u="none" strike="noStrike">
              <a:solidFill>
                <a:schemeClr val="tx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9" name="AutoShape 11"/>
          <p:cNvSpPr/>
          <p:nvPr>
            <p:custDataLst>
              <p:tags r:id="rId13"/>
            </p:custDataLst>
          </p:nvPr>
        </p:nvSpPr>
        <p:spPr>
          <a:xfrm>
            <a:off x="952500" y="4191000"/>
            <a:ext cx="4826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硬件平台：</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系统PCB板、STM32核心板、各类传感器模组、LCD显示屏等。</a:t>
            </a:r>
            <a:endParaRPr lang="en-US" sz="1100"/>
          </a:p>
          <a:p>
            <a:pPr indent="0" algn="l">
              <a:lnSpc>
                <a:spcPct val="108000"/>
              </a:lnSpc>
            </a:pPr>
            <a:r>
              <a:rPr lang="en-US" sz="13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软件平台：</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Keil uVision5 (代码编写与程序烧录)、Proteus 8 (电路与逻辑仿真)。</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1" name="AutoShape 12"/>
          <p:cNvSpPr/>
          <p:nvPr/>
        </p:nvSpPr>
        <p:spPr>
          <a:xfrm>
            <a:off x="762000" y="5334000"/>
            <a:ext cx="5207000" cy="1333500"/>
          </a:xfrm>
          <a:prstGeom prst="roundRect">
            <a:avLst>
              <a:gd name="adj" fmla="val 7619"/>
            </a:avLst>
          </a:prstGeom>
          <a:solidFill>
            <a:srgbClr val="FFFFFF">
              <a:alpha val="9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32" name="Picture 13"/>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486400"/>
            <a:ext cx="279400" cy="279400"/>
          </a:xfrm>
          <a:prstGeom prst="rect">
            <a:avLst/>
          </a:prstGeom>
        </p:spPr>
      </p:pic>
      <p:sp>
        <p:nvSpPr>
          <p:cNvPr id="33" name="AutoShape 14"/>
          <p:cNvSpPr/>
          <p:nvPr/>
        </p:nvSpPr>
        <p:spPr>
          <a:xfrm>
            <a:off x="1397000" y="5461000"/>
            <a:ext cx="1270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核心测试清单</a:t>
            </a:r>
            <a:endParaRPr lang="en-US" sz="1100"/>
          </a:p>
        </p:txBody>
      </p:sp>
      <p:sp>
        <p:nvSpPr>
          <p:cNvPr id="34" name="AutoShape 15"/>
          <p:cNvSpPr/>
          <p:nvPr/>
        </p:nvSpPr>
        <p:spPr>
          <a:xfrm>
            <a:off x="1127760" y="5778500"/>
            <a:ext cx="3048000" cy="952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1.初始化 | 2.采集显示 | 3.按键功能</a:t>
            </a:r>
            <a:b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4.报警功能 | 5.系统稳定性 | 6.精度分析</a:t>
            </a:r>
            <a:endParaRPr lang="en-US" sz="1100"/>
          </a:p>
        </p:txBody>
      </p:sp>
      <p:sp>
        <p:nvSpPr>
          <p:cNvPr id="35" name="AutoShape 12"/>
          <p:cNvSpPr/>
          <p:nvPr/>
        </p:nvSpPr>
        <p:spPr>
          <a:xfrm>
            <a:off x="7599045" y="1524000"/>
            <a:ext cx="2402840" cy="2476500"/>
          </a:xfrm>
          <a:prstGeom prst="roundRect">
            <a:avLst>
              <a:gd name="adj" fmla="val 0"/>
            </a:avLst>
          </a:prstGeom>
          <a:solidFill>
            <a:srgbClr val="FFFFFF">
              <a:alpha val="100000"/>
            </a:srgbClr>
          </a:solidFill>
          <a:ln w="12700" cap="flat" cmpd="sng">
            <a:solidFill>
              <a:srgbClr val="448AD7">
                <a:alpha val="100000"/>
              </a:srgbClr>
            </a:solidFill>
            <a:prstDash val="solid"/>
            <a:round/>
          </a:ln>
        </p:spPr>
        <p:txBody>
          <a:bodyPr vert="horz" wrap="square" lIns="63500" tIns="63500" rIns="63500" bIns="63500" rtlCol="0" anchor="ctr"/>
          <a:lstStyle/>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Proteus 仿真电路示意</a:t>
            </a: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图</a:t>
            </a: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36" name="图片 35"/>
          <p:cNvPicPr>
            <a:picLocks noChangeAspect="1"/>
          </p:cNvPicPr>
          <p:nvPr/>
        </p:nvPicPr>
        <p:blipFill>
          <a:blip r:embed="rId16"/>
          <a:stretch>
            <a:fillRect/>
          </a:stretch>
        </p:blipFill>
        <p:spPr>
          <a:xfrm>
            <a:off x="7771765" y="1714500"/>
            <a:ext cx="2057400" cy="1440815"/>
          </a:xfrm>
          <a:prstGeom prst="rect">
            <a:avLst/>
          </a:prstGeom>
        </p:spPr>
      </p:pic>
      <p:sp>
        <p:nvSpPr>
          <p:cNvPr id="38" name="AutoShape 12"/>
          <p:cNvSpPr/>
          <p:nvPr/>
        </p:nvSpPr>
        <p:spPr>
          <a:xfrm>
            <a:off x="7599045" y="4191000"/>
            <a:ext cx="2402840" cy="2476500"/>
          </a:xfrm>
          <a:prstGeom prst="roundRect">
            <a:avLst>
              <a:gd name="adj" fmla="val 0"/>
            </a:avLst>
          </a:prstGeom>
          <a:solidFill>
            <a:srgbClr val="FFFFFF">
              <a:alpha val="100000"/>
            </a:srgbClr>
          </a:solidFill>
          <a:ln w="12700" cap="flat" cmpd="sng">
            <a:solidFill>
              <a:srgbClr val="448AD7">
                <a:alpha val="100000"/>
              </a:srgbClr>
            </a:solidFill>
            <a:prstDash val="solid"/>
            <a:round/>
          </a:ln>
        </p:spPr>
        <p:txBody>
          <a:bodyPr vert="horz" wrap="square" lIns="63500" tIns="63500" rIns="63500" bIns="63500" rtlCol="0" anchor="ctr"/>
          <a:lstStyle/>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endPar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25000"/>
              </a:lnSpc>
              <a:defRPr/>
            </a:pP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实物</a:t>
            </a:r>
            <a:r>
              <a:rPr 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电路示意</a:t>
            </a:r>
            <a:r>
              <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图</a:t>
            </a:r>
            <a:endParaRPr lang="zh-CN" altLang="en-US" b="1">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40" name="图片 10" descr="58ef06bf6508b354217a149a319d7c81"/>
          <p:cNvPicPr>
            <a:picLocks noChangeAspect="1"/>
          </p:cNvPicPr>
          <p:nvPr/>
        </p:nvPicPr>
        <p:blipFill>
          <a:blip r:embed="rId17"/>
          <a:stretch>
            <a:fillRect/>
          </a:stretch>
        </p:blipFill>
        <p:spPr>
          <a:xfrm rot="16200000">
            <a:off x="7941310" y="3961765"/>
            <a:ext cx="1685290" cy="224853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812800" y="1104900"/>
            <a:ext cx="279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实物与仿真测试</a:t>
            </a:r>
            <a:endParaRPr lang="en-US" sz="1100"/>
          </a:p>
        </p:txBody>
      </p:sp>
      <p:sp>
        <p:nvSpPr>
          <p:cNvPr id="11" name="AutoShape 11"/>
          <p:cNvSpPr/>
          <p:nvPr/>
        </p:nvSpPr>
        <p:spPr>
          <a:xfrm>
            <a:off x="965200" y="1991995"/>
            <a:ext cx="10223500" cy="787400"/>
          </a:xfrm>
          <a:prstGeom prst="roundRect">
            <a:avLst>
              <a:gd name="adj" fmla="val 0"/>
            </a:avLst>
          </a:prstGeom>
          <a:gradFill>
            <a:gsLst>
              <a:gs pos="50000">
                <a:srgbClr val="1F5FBF"/>
              </a:gs>
              <a:gs pos="0">
                <a:srgbClr val="1486CB"/>
              </a:gs>
              <a:gs pos="100000">
                <a:srgbClr val="2A34B2"/>
              </a:gs>
            </a:gsLst>
            <a:lin ang="5400000" scaled="1"/>
          </a:gradFill>
          <a:ln w="254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a:t>
            </a: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各模块</a:t>
            </a:r>
            <a:r>
              <a:rPr 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功能</a:t>
            </a:r>
            <a:r>
              <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测试</a:t>
            </a:r>
            <a:endParaRPr lang="zh-CN" altLang="en-US" sz="24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87" name="图片 1" descr="lQLPDhrGSL3Q8RPNAUXNB_Gw-UljzDPDeBW9Elf1rMOXFg_2033_325"/>
          <p:cNvPicPr>
            <a:picLocks noChangeAspect="1"/>
          </p:cNvPicPr>
          <p:nvPr/>
        </p:nvPicPr>
        <p:blipFill>
          <a:blip r:embed="rId1"/>
          <a:stretch>
            <a:fillRect/>
          </a:stretch>
        </p:blipFill>
        <p:spPr>
          <a:xfrm>
            <a:off x="140970" y="107315"/>
            <a:ext cx="3034030" cy="491490"/>
          </a:xfrm>
          <a:prstGeom prst="rect">
            <a:avLst/>
          </a:prstGeom>
          <a:noFill/>
          <a:ln>
            <a:noFill/>
          </a:ln>
        </p:spPr>
      </p:pic>
      <p:cxnSp>
        <p:nvCxnSpPr>
          <p:cNvPr id="20" name="Connector 16"/>
          <p:cNvCxnSpPr/>
          <p:nvPr/>
        </p:nvCxnSpPr>
        <p:spPr>
          <a:xfrm flipH="1">
            <a:off x="3238484" y="195108"/>
            <a:ext cx="6951" cy="338293"/>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2" name="AutoShape 7"/>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23"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cxnSp>
        <p:nvCxnSpPr>
          <p:cNvPr id="37" name="Connector 15"/>
          <p:cNvCxnSpPr/>
          <p:nvPr/>
        </p:nvCxnSpPr>
        <p:spPr>
          <a:xfrm>
            <a:off x="4930995" y="295869"/>
            <a:ext cx="2540" cy="302895"/>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27"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cxnSp>
        <p:nvCxnSpPr>
          <p:cNvPr id="24" name="Connector 12"/>
          <p:cNvCxnSpPr/>
          <p:nvPr/>
        </p:nvCxnSpPr>
        <p:spPr>
          <a:xfrm>
            <a:off x="6608986" y="252735"/>
            <a:ext cx="7698" cy="280666"/>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25" name="Connector 4"/>
          <p:cNvCxnSpPr/>
          <p:nvPr/>
        </p:nvCxnSpPr>
        <p:spPr>
          <a:xfrm rot="5056725">
            <a:off x="818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39" name="AutoShape 10"/>
          <p:cNvSpPr/>
          <p:nvPr/>
        </p:nvSpPr>
        <p:spPr>
          <a:xfrm>
            <a:off x="8401050" y="635"/>
            <a:ext cx="1507490" cy="786765"/>
          </a:xfrm>
          <a:prstGeom prst="rect">
            <a:avLst/>
          </a:prstGeom>
          <a:solidFill>
            <a:srgbClr val="7030A0"/>
          </a:solidFill>
          <a:ln w="25400" cap="flat" cmpd="sng">
            <a:noFill/>
            <a:prstDash val="solid"/>
            <a:round/>
          </a:ln>
        </p:spPr>
        <p:txBody>
          <a:bodyPr vert="horz" wrap="square" lIns="63500" tIns="63500" rIns="63500" bIns="63500" rtlCol="0" anchor="ctr" anchorCtr="0">
            <a:noAutofit/>
          </a:bodyPr>
          <a:lstStyle/>
          <a:p>
            <a:pPr lvl="0" algn="ctr">
              <a:buSzTx/>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cxnSp>
        <p:nvCxnSpPr>
          <p:cNvPr id="30" name="Connector 6"/>
          <p:cNvCxnSpPr/>
          <p:nvPr/>
        </p:nvCxnSpPr>
        <p:spPr>
          <a:xfrm flipH="1">
            <a:off x="10001885" y="279400"/>
            <a:ext cx="5715" cy="262255"/>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41" name="组合 40"/>
          <p:cNvGrpSpPr/>
          <p:nvPr/>
        </p:nvGrpSpPr>
        <p:grpSpPr>
          <a:xfrm>
            <a:off x="685800" y="3727450"/>
            <a:ext cx="2032000" cy="2413000"/>
            <a:chOff x="1200" y="6400"/>
            <a:chExt cx="3200" cy="3800"/>
          </a:xfrm>
        </p:grpSpPr>
        <p:grpSp>
          <p:nvGrpSpPr>
            <p:cNvPr id="40" name="组合 39"/>
            <p:cNvGrpSpPr/>
            <p:nvPr/>
          </p:nvGrpSpPr>
          <p:grpSpPr>
            <a:xfrm>
              <a:off x="1200" y="6400"/>
              <a:ext cx="3200" cy="3800"/>
              <a:chOff x="1200" y="6400"/>
              <a:chExt cx="3200" cy="3800"/>
            </a:xfrm>
          </p:grpSpPr>
          <p:sp>
            <p:nvSpPr>
              <p:cNvPr id="4" name="AutoShape 13"/>
              <p:cNvSpPr/>
              <p:nvPr/>
            </p:nvSpPr>
            <p:spPr>
              <a:xfrm>
                <a:off x="1200" y="6400"/>
                <a:ext cx="3200" cy="38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5" name="Picture 1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360" y="6700"/>
                <a:ext cx="880" cy="880"/>
              </a:xfrm>
              <a:prstGeom prst="rect">
                <a:avLst/>
              </a:prstGeom>
            </p:spPr>
          </p:pic>
        </p:grpSp>
        <p:sp>
          <p:nvSpPr>
            <p:cNvPr id="6" name="AutoShape 15"/>
            <p:cNvSpPr/>
            <p:nvPr/>
          </p:nvSpPr>
          <p:spPr>
            <a:xfrm>
              <a:off x="1400" y="7800"/>
              <a:ext cx="2800" cy="2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初始化测试</a:t>
              </a:r>
              <a:endParaRPr lang="en-US" sz="1100"/>
            </a:p>
            <a:p>
              <a:pPr indent="0" algn="ctr">
                <a:lnSpc>
                  <a:spcPct val="125000"/>
                </a:lnSpc>
                <a:spcBef>
                  <a:spcPts val="400"/>
                </a:spcBef>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PASSED</a:t>
              </a:r>
              <a:endPar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系统上电后，各硬件模块均正确加载并初始化，运行稳定。</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nvGrpSpPr>
          <p:cNvPr id="44" name="组合 43"/>
          <p:cNvGrpSpPr/>
          <p:nvPr/>
        </p:nvGrpSpPr>
        <p:grpSpPr>
          <a:xfrm>
            <a:off x="2997200" y="3727450"/>
            <a:ext cx="2032000" cy="2413000"/>
            <a:chOff x="4720" y="6400"/>
            <a:chExt cx="3200" cy="3800"/>
          </a:xfrm>
        </p:grpSpPr>
        <p:sp>
          <p:nvSpPr>
            <p:cNvPr id="7" name="AutoShape 16"/>
            <p:cNvSpPr/>
            <p:nvPr/>
          </p:nvSpPr>
          <p:spPr>
            <a:xfrm>
              <a:off x="4720" y="6400"/>
              <a:ext cx="3200" cy="38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grpSp>
          <p:nvGrpSpPr>
            <p:cNvPr id="43" name="组合 42"/>
            <p:cNvGrpSpPr/>
            <p:nvPr/>
          </p:nvGrpSpPr>
          <p:grpSpPr>
            <a:xfrm>
              <a:off x="4920" y="6700"/>
              <a:ext cx="2800" cy="3300"/>
              <a:chOff x="4920" y="6700"/>
              <a:chExt cx="2800" cy="3300"/>
            </a:xfrm>
          </p:grpSpPr>
          <p:pic>
            <p:nvPicPr>
              <p:cNvPr id="8" name="Picture 1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80" y="6700"/>
                <a:ext cx="880" cy="880"/>
              </a:xfrm>
              <a:prstGeom prst="rect">
                <a:avLst/>
              </a:prstGeom>
            </p:spPr>
          </p:pic>
          <p:sp>
            <p:nvSpPr>
              <p:cNvPr id="21" name="AutoShape 18"/>
              <p:cNvSpPr/>
              <p:nvPr/>
            </p:nvSpPr>
            <p:spPr>
              <a:xfrm>
                <a:off x="4920" y="7800"/>
                <a:ext cx="2800" cy="2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显示测试</a:t>
                </a:r>
                <a:endParaRPr lang="en-US" sz="1100"/>
              </a:p>
              <a:p>
                <a:pPr indent="0" algn="ctr">
                  <a:lnSpc>
                    <a:spcPct val="125000"/>
                  </a:lnSpc>
                  <a:spcBef>
                    <a:spcPts val="400"/>
                  </a:spcBef>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PASSED</a:t>
                </a:r>
                <a:endPar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LCD屏幕响应迅速，能实时、清晰、准确地显示各类数据。</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grpSp>
        <p:nvGrpSpPr>
          <p:cNvPr id="46" name="组合 45"/>
          <p:cNvGrpSpPr/>
          <p:nvPr/>
        </p:nvGrpSpPr>
        <p:grpSpPr>
          <a:xfrm>
            <a:off x="5168900" y="3727450"/>
            <a:ext cx="2032000" cy="2413000"/>
            <a:chOff x="8240" y="6400"/>
            <a:chExt cx="3200" cy="3800"/>
          </a:xfrm>
        </p:grpSpPr>
        <p:sp>
          <p:nvSpPr>
            <p:cNvPr id="26" name="AutoShape 19"/>
            <p:cNvSpPr/>
            <p:nvPr/>
          </p:nvSpPr>
          <p:spPr>
            <a:xfrm>
              <a:off x="8240" y="6400"/>
              <a:ext cx="3200" cy="38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grpSp>
          <p:nvGrpSpPr>
            <p:cNvPr id="45" name="组合 44"/>
            <p:cNvGrpSpPr/>
            <p:nvPr/>
          </p:nvGrpSpPr>
          <p:grpSpPr>
            <a:xfrm>
              <a:off x="8440" y="6700"/>
              <a:ext cx="2800" cy="3300"/>
              <a:chOff x="8440" y="6700"/>
              <a:chExt cx="2800" cy="3300"/>
            </a:xfrm>
          </p:grpSpPr>
          <p:pic>
            <p:nvPicPr>
              <p:cNvPr id="28" name="Picture 2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400" y="6700"/>
                <a:ext cx="880" cy="880"/>
              </a:xfrm>
              <a:prstGeom prst="rect">
                <a:avLst/>
              </a:prstGeom>
            </p:spPr>
          </p:pic>
          <p:sp>
            <p:nvSpPr>
              <p:cNvPr id="29" name="AutoShape 21"/>
              <p:cNvSpPr/>
              <p:nvPr/>
            </p:nvSpPr>
            <p:spPr>
              <a:xfrm>
                <a:off x="8440" y="7800"/>
                <a:ext cx="2800" cy="2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按键测试</a:t>
                </a:r>
                <a:endParaRPr lang="en-US" sz="1100"/>
              </a:p>
              <a:p>
                <a:pPr indent="0" algn="ctr">
                  <a:lnSpc>
                    <a:spcPct val="125000"/>
                  </a:lnSpc>
                  <a:spcBef>
                    <a:spcPts val="400"/>
                  </a:spcBef>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PASSED</a:t>
                </a:r>
                <a:endPar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物理按键灵敏度高，阈值设置、保存与切换功能均正常。</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grpSp>
        <p:nvGrpSpPr>
          <p:cNvPr id="48" name="组合 47"/>
          <p:cNvGrpSpPr/>
          <p:nvPr/>
        </p:nvGrpSpPr>
        <p:grpSpPr>
          <a:xfrm>
            <a:off x="7414895" y="3727450"/>
            <a:ext cx="2032000" cy="2413000"/>
            <a:chOff x="11760" y="6400"/>
            <a:chExt cx="3200" cy="3800"/>
          </a:xfrm>
        </p:grpSpPr>
        <p:sp>
          <p:nvSpPr>
            <p:cNvPr id="31" name="AutoShape 22"/>
            <p:cNvSpPr/>
            <p:nvPr/>
          </p:nvSpPr>
          <p:spPr>
            <a:xfrm>
              <a:off x="11760" y="6400"/>
              <a:ext cx="3200" cy="38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grpSp>
          <p:nvGrpSpPr>
            <p:cNvPr id="47" name="组合 46"/>
            <p:cNvGrpSpPr/>
            <p:nvPr/>
          </p:nvGrpSpPr>
          <p:grpSpPr>
            <a:xfrm>
              <a:off x="11960" y="6700"/>
              <a:ext cx="2800" cy="3300"/>
              <a:chOff x="11960" y="6700"/>
              <a:chExt cx="2800" cy="3300"/>
            </a:xfrm>
          </p:grpSpPr>
          <p:pic>
            <p:nvPicPr>
              <p:cNvPr id="32" name="Picture 2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920" y="6700"/>
                <a:ext cx="880" cy="880"/>
              </a:xfrm>
              <a:prstGeom prst="rect">
                <a:avLst/>
              </a:prstGeom>
            </p:spPr>
          </p:pic>
          <p:sp>
            <p:nvSpPr>
              <p:cNvPr id="33" name="AutoShape 24"/>
              <p:cNvSpPr/>
              <p:nvPr/>
            </p:nvSpPr>
            <p:spPr>
              <a:xfrm>
                <a:off x="11960" y="7800"/>
                <a:ext cx="2800" cy="2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报警测试</a:t>
                </a:r>
                <a:endParaRPr lang="en-US" sz="1100"/>
              </a:p>
              <a:p>
                <a:pPr indent="0" algn="ctr">
                  <a:lnSpc>
                    <a:spcPct val="125000"/>
                  </a:lnSpc>
                  <a:spcBef>
                    <a:spcPts val="400"/>
                  </a:spcBef>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PASSED</a:t>
                </a:r>
                <a:endPar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越限自动触发蜂鸣器报警，参数恢复正常后，报警即时解除。</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grpSp>
        <p:nvGrpSpPr>
          <p:cNvPr id="52" name="组合 51"/>
          <p:cNvGrpSpPr/>
          <p:nvPr/>
        </p:nvGrpSpPr>
        <p:grpSpPr>
          <a:xfrm>
            <a:off x="9652000" y="3727450"/>
            <a:ext cx="2023110" cy="2413000"/>
            <a:chOff x="15214" y="6400"/>
            <a:chExt cx="3186" cy="3800"/>
          </a:xfrm>
        </p:grpSpPr>
        <p:sp>
          <p:nvSpPr>
            <p:cNvPr id="34" name="AutoShape 25"/>
            <p:cNvSpPr/>
            <p:nvPr/>
          </p:nvSpPr>
          <p:spPr>
            <a:xfrm>
              <a:off x="15214" y="6400"/>
              <a:ext cx="3186" cy="3800"/>
            </a:xfrm>
            <a:prstGeom prst="roundRect">
              <a:avLst>
                <a:gd name="adj" fmla="val 75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grpSp>
          <p:nvGrpSpPr>
            <p:cNvPr id="51" name="组合 50"/>
            <p:cNvGrpSpPr/>
            <p:nvPr/>
          </p:nvGrpSpPr>
          <p:grpSpPr>
            <a:xfrm>
              <a:off x="15400" y="6700"/>
              <a:ext cx="2800" cy="3300"/>
              <a:chOff x="15400" y="6700"/>
              <a:chExt cx="2800" cy="3300"/>
            </a:xfrm>
          </p:grpSpPr>
          <p:pic>
            <p:nvPicPr>
              <p:cNvPr id="35" name="Picture 2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6360" y="6700"/>
                <a:ext cx="880" cy="880"/>
              </a:xfrm>
              <a:prstGeom prst="rect">
                <a:avLst/>
              </a:prstGeom>
            </p:spPr>
          </p:pic>
          <p:sp>
            <p:nvSpPr>
              <p:cNvPr id="36" name="AutoShape 27"/>
              <p:cNvSpPr/>
              <p:nvPr/>
            </p:nvSpPr>
            <p:spPr>
              <a:xfrm>
                <a:off x="15400" y="7800"/>
                <a:ext cx="2800" cy="2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综合测试</a:t>
                </a:r>
                <a:endParaRPr lang="en-US" sz="1100"/>
              </a:p>
              <a:p>
                <a:pPr indent="0" algn="ctr">
                  <a:lnSpc>
                    <a:spcPct val="125000"/>
                  </a:lnSpc>
                  <a:spcBef>
                    <a:spcPts val="400"/>
                  </a:spcBef>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PASSED</a:t>
                </a:r>
                <a:endPar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ctr">
                  <a:lnSpc>
                    <a:spcPct val="108000"/>
                  </a:lnSpc>
                  <a:spcBef>
                    <a:spcPts val="800"/>
                  </a:spcBef>
                </a:pPr>
                <a:r>
                  <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各软硬件模块协同工作，运行流畅，完整实现了所有核心功能。</a:t>
                </a:r>
                <a:endParaRPr lang="en-US" sz="12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pSp>
      </p:grpSp>
      <p:sp>
        <p:nvSpPr>
          <p:cNvPr id="38" name="AutoShape 17"/>
          <p:cNvSpPr/>
          <p:nvPr>
            <p:custDataLst>
              <p:tags r:id="rId12"/>
            </p:custDataLst>
          </p:nvPr>
        </p:nvSpPr>
        <p:spPr>
          <a:xfrm>
            <a:off x="455295" y="3054985"/>
            <a:ext cx="11492230" cy="3620135"/>
          </a:xfrm>
          <a:prstGeom prst="roundRect">
            <a:avLst>
              <a:gd name="adj" fmla="val 0"/>
            </a:avLst>
          </a:prstGeom>
          <a:noFill/>
          <a:ln w="12700" cap="flat" cmpd="sng">
            <a:solidFill>
              <a:srgbClr val="0D84C8">
                <a:alpha val="100000"/>
              </a:srgbClr>
            </a:solidFill>
            <a:prstDash val="sysDot"/>
            <a:miter lim="10000000"/>
          </a:ln>
        </p:spPr>
        <p:txBody>
          <a:bodyPr vert="horz" wrap="square" lIns="63500" tIns="63500" rIns="63500" bIns="63500" rtlCol="0" anchor="ctr"/>
          <a:lstStyle/>
          <a:p>
            <a:pPr algn="ctr">
              <a:defRPr/>
            </a:pPr>
          </a:p>
        </p:txBody>
      </p:sp>
      <p:sp>
        <p:nvSpPr>
          <p:cNvPr id="9"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sp>
        <p:nvSpPr>
          <p:cNvPr id="5" name="AutoShape 5"/>
          <p:cNvSpPr/>
          <p:nvPr/>
        </p:nvSpPr>
        <p:spPr>
          <a:xfrm>
            <a:off x="33782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8" name="AutoShape 8"/>
          <p:cNvSpPr/>
          <p:nvPr/>
        </p:nvSpPr>
        <p:spPr>
          <a:xfrm>
            <a:off x="84836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cxnSp>
        <p:nvCxnSpPr>
          <p:cNvPr id="11" name="Connector 11"/>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2" name="AutoShape 12"/>
          <p:cNvSpPr/>
          <p:nvPr/>
        </p:nvSpPr>
        <p:spPr>
          <a:xfrm>
            <a:off x="431800" y="1104900"/>
            <a:ext cx="263271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实验测量与数据分析</a:t>
            </a:r>
            <a:endParaRPr lang="en-US" sz="1100"/>
          </a:p>
        </p:txBody>
      </p:sp>
      <p:cxnSp>
        <p:nvCxnSpPr>
          <p:cNvPr id="13" name="Connector 13"/>
          <p:cNvCxnSpPr/>
          <p:nvPr/>
        </p:nvCxnSpPr>
        <p:spPr>
          <a:xfrm rot="5056725">
            <a:off x="310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4" name="Connector 14"/>
          <p:cNvCxnSpPr/>
          <p:nvPr/>
        </p:nvCxnSpPr>
        <p:spPr>
          <a:xfrm rot="5056725">
            <a:off x="48067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5" name="Connector 15"/>
          <p:cNvCxnSpPr/>
          <p:nvPr/>
        </p:nvCxnSpPr>
        <p:spPr>
          <a:xfrm rot="5056725">
            <a:off x="65085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cxnSp>
        <p:nvCxnSpPr>
          <p:cNvPr id="16" name="Connector 16"/>
          <p:cNvCxnSpPr/>
          <p:nvPr/>
        </p:nvCxnSpPr>
        <p:spPr>
          <a:xfrm rot="5038714">
            <a:off x="8216742" y="431967"/>
            <a:ext cx="2416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pic>
        <p:nvPicPr>
          <p:cNvPr id="87" name="图片 1" descr="lQLPDhrGSL3Q8RPNAUXNB_Gw-UljzDPDeBW9Elf1rMOXFg_2033_325"/>
          <p:cNvPicPr>
            <a:picLocks noChangeAspect="1"/>
          </p:cNvPicPr>
          <p:nvPr/>
        </p:nvPicPr>
        <p:blipFill>
          <a:blip r:embed="rId1"/>
          <a:stretch>
            <a:fillRect/>
          </a:stretch>
        </p:blipFill>
        <p:spPr>
          <a:xfrm>
            <a:off x="140970" y="107315"/>
            <a:ext cx="3034030" cy="491490"/>
          </a:xfrm>
          <a:prstGeom prst="rect">
            <a:avLst/>
          </a:prstGeom>
          <a:noFill/>
          <a:ln>
            <a:noFill/>
          </a:ln>
        </p:spPr>
      </p:pic>
      <p:sp>
        <p:nvSpPr>
          <p:cNvPr id="30" name="AutoShape 8"/>
          <p:cNvSpPr/>
          <p:nvPr/>
        </p:nvSpPr>
        <p:spPr>
          <a:xfrm>
            <a:off x="50800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sp>
        <p:nvSpPr>
          <p:cNvPr id="31" name="AutoShape 9"/>
          <p:cNvSpPr/>
          <p:nvPr/>
        </p:nvSpPr>
        <p:spPr>
          <a:xfrm>
            <a:off x="67818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sp>
        <p:nvSpPr>
          <p:cNvPr id="39" name="AutoShape 10"/>
          <p:cNvSpPr/>
          <p:nvPr/>
        </p:nvSpPr>
        <p:spPr>
          <a:xfrm>
            <a:off x="8401050" y="635"/>
            <a:ext cx="1507490" cy="786765"/>
          </a:xfrm>
          <a:prstGeom prst="rect">
            <a:avLst/>
          </a:prstGeom>
          <a:solidFill>
            <a:srgbClr val="7030A0"/>
          </a:solidFill>
          <a:ln w="25400" cap="flat" cmpd="sng">
            <a:noFill/>
            <a:prstDash val="solid"/>
            <a:round/>
          </a:ln>
        </p:spPr>
        <p:txBody>
          <a:bodyPr vert="horz" wrap="square" lIns="63500" tIns="63500" rIns="63500" bIns="63500" rtlCol="0" anchor="ctr" anchorCtr="0">
            <a:noAutofit/>
          </a:bodyPr>
          <a:lstStyle/>
          <a:p>
            <a:pPr lvl="0" algn="ctr">
              <a:buSzTx/>
              <a:defRPr/>
            </a:pPr>
            <a:r>
              <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cxnSp>
        <p:nvCxnSpPr>
          <p:cNvPr id="32" name="Connector 6"/>
          <p:cNvCxnSpPr/>
          <p:nvPr/>
        </p:nvCxnSpPr>
        <p:spPr>
          <a:xfrm flipH="1">
            <a:off x="10001885" y="279400"/>
            <a:ext cx="5715" cy="262255"/>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4" name="AutoShape 4"/>
          <p:cNvSpPr/>
          <p:nvPr>
            <p:custDataLst>
              <p:tags r:id="rId2"/>
            </p:custDataLst>
          </p:nvPr>
        </p:nvSpPr>
        <p:spPr>
          <a:xfrm>
            <a:off x="762000" y="163195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6" name="Picture 5"/>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1714500"/>
            <a:ext cx="304800" cy="304800"/>
          </a:xfrm>
          <a:prstGeom prst="rect">
            <a:avLst/>
          </a:prstGeom>
        </p:spPr>
      </p:pic>
      <p:sp>
        <p:nvSpPr>
          <p:cNvPr id="7" name="AutoShape 6"/>
          <p:cNvSpPr/>
          <p:nvPr>
            <p:custDataLst>
              <p:tags r:id="rId6"/>
            </p:custDataLst>
          </p:nvPr>
        </p:nvSpPr>
        <p:spPr>
          <a:xfrm>
            <a:off x="1397000" y="1724660"/>
            <a:ext cx="4318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实验条件与基准值</a:t>
            </a:r>
            <a:endParaRPr lang="en-US" sz="1100">
              <a:solidFill>
                <a:schemeClr val="accent1"/>
              </a:solidFill>
            </a:endParaRPr>
          </a:p>
          <a:p>
            <a:pPr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实验环境：</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室内恒温恒湿的稳定环境，排除气流干扰。</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基准设备：</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采用工业级高精度温湿度计，设定基准值：温度</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17.5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湿度</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48.2</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RH。</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7"/>
          <p:cNvSpPr/>
          <p:nvPr>
            <p:custDataLst>
              <p:tags r:id="rId7"/>
            </p:custDataLst>
          </p:nvPr>
        </p:nvSpPr>
        <p:spPr>
          <a:xfrm>
            <a:off x="762000" y="3175000"/>
            <a:ext cx="5207000" cy="1397000"/>
          </a:xfrm>
          <a:prstGeom prst="roundRect">
            <a:avLst>
              <a:gd name="adj" fmla="val 7272"/>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19" name="Picture 8"/>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52500" y="3365500"/>
            <a:ext cx="304800" cy="304800"/>
          </a:xfrm>
          <a:prstGeom prst="rect">
            <a:avLst/>
          </a:prstGeom>
        </p:spPr>
      </p:pic>
      <p:sp>
        <p:nvSpPr>
          <p:cNvPr id="21" name="AutoShape 9"/>
          <p:cNvSpPr/>
          <p:nvPr>
            <p:custDataLst>
              <p:tags r:id="rId11"/>
            </p:custDataLst>
          </p:nvPr>
        </p:nvSpPr>
        <p:spPr>
          <a:xfrm>
            <a:off x="1397000" y="3327400"/>
            <a:ext cx="4318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关键指标统计分析</a:t>
            </a:r>
            <a:endParaRPr lang="en-US" sz="1100">
              <a:solidFill>
                <a:schemeClr val="accent1"/>
              </a:solidFill>
            </a:endParaRPr>
          </a:p>
          <a:p>
            <a:pPr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均值：</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17.51</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48.35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RH (与基准高度一致)</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b="1"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极值表现：</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最大偏差仅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±0.5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RH；波动范围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0.01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 </a:t>
            </a:r>
            <a:r>
              <a:rPr lang="en-US" altLang="zh-CN"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0.15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RH。</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3" name="AutoShape 10"/>
          <p:cNvSpPr/>
          <p:nvPr>
            <p:custDataLst>
              <p:tags r:id="rId12"/>
            </p:custDataLst>
          </p:nvPr>
        </p:nvSpPr>
        <p:spPr>
          <a:xfrm>
            <a:off x="762000" y="4826000"/>
            <a:ext cx="5207000" cy="1524000"/>
          </a:xfrm>
          <a:prstGeom prst="roundRect">
            <a:avLst>
              <a:gd name="adj" fmla="val 6666"/>
            </a:avLst>
          </a:prstGeom>
          <a:solidFill>
            <a:schemeClr val="accent1">
              <a:lumMod val="20000"/>
              <a:lumOff val="80000"/>
            </a:schemeClr>
          </a:solidFill>
          <a:ln w="12700" cap="flat" cmpd="sng">
            <a:solidFill>
              <a:srgbClr val="0070C0">
                <a:alpha val="100000"/>
              </a:srgbClr>
            </a:solidFill>
            <a:prstDash val="solid"/>
            <a:round/>
          </a:ln>
        </p:spPr>
        <p:txBody>
          <a:bodyPr vert="horz" wrap="square" lIns="63500" tIns="63500" rIns="63500" bIns="63500" rtlCol="0" anchor="ctr"/>
          <a:lstStyle/>
          <a:p>
            <a:pPr algn="ctr">
              <a:defRPr/>
            </a:pPr>
          </a:p>
        </p:txBody>
      </p:sp>
      <p:pic>
        <p:nvPicPr>
          <p:cNvPr id="25" name="Picture 11"/>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52500" y="5016500"/>
            <a:ext cx="304800" cy="304800"/>
          </a:xfrm>
          <a:prstGeom prst="rect">
            <a:avLst/>
          </a:prstGeom>
        </p:spPr>
      </p:pic>
      <p:sp>
        <p:nvSpPr>
          <p:cNvPr id="33" name="AutoShape 12"/>
          <p:cNvSpPr/>
          <p:nvPr>
            <p:custDataLst>
              <p:tags r:id="rId16"/>
            </p:custDataLst>
          </p:nvPr>
        </p:nvSpPr>
        <p:spPr>
          <a:xfrm>
            <a:off x="1397000" y="4978400"/>
            <a:ext cx="43180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chemeClr val="accent1"/>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实验结论与评价</a:t>
            </a:r>
            <a:endParaRPr lang="en-US" sz="1100">
              <a:solidFill>
                <a:schemeClr val="accent1"/>
              </a:solidFill>
            </a:endParaRPr>
          </a:p>
          <a:p>
            <a:pPr indent="0" algn="l">
              <a:lnSpc>
                <a:spcPct val="108000"/>
              </a:lnSpc>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 系统测量结果稳定，平均偏差极小，具有良好的准确性。</a:t>
            </a:r>
            <a:endPar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 实测最大偏差远优于 官方标称精度 (±2℃, ±5% RH)</a:t>
            </a:r>
            <a:r>
              <a:rPr lang="zh-CN" alt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300">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满足农业大棚高标准监测要求，达成设计目标。</a:t>
            </a:r>
            <a:endPar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08000"/>
              </a:lnSpc>
            </a:pPr>
            <a:r>
              <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4" name="AutoShape 13"/>
          <p:cNvSpPr/>
          <p:nvPr/>
        </p:nvSpPr>
        <p:spPr>
          <a:xfrm>
            <a:off x="6332220" y="1524000"/>
            <a:ext cx="5097780" cy="5041900"/>
          </a:xfrm>
          <a:prstGeom prst="roundRect">
            <a:avLst>
              <a:gd name="adj" fmla="val 21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graphicFrame>
        <p:nvGraphicFramePr>
          <p:cNvPr id="35" name="Table 14"/>
          <p:cNvGraphicFramePr>
            <a:graphicFrameLocks noGrp="1"/>
          </p:cNvGraphicFramePr>
          <p:nvPr/>
        </p:nvGraphicFramePr>
        <p:xfrm>
          <a:off x="6531610" y="1631950"/>
          <a:ext cx="4834890" cy="4787900"/>
        </p:xfrm>
        <a:graphic>
          <a:graphicData uri="http://schemas.openxmlformats.org/drawingml/2006/table">
            <a:tbl>
              <a:tblPr>
                <a:effectLst/>
              </a:tblPr>
              <a:tblGrid>
                <a:gridCol w="770890"/>
                <a:gridCol w="889000"/>
                <a:gridCol w="889000"/>
                <a:gridCol w="1143000"/>
                <a:gridCol w="1143000"/>
              </a:tblGrid>
              <a:tr h="508000">
                <a:tc>
                  <a:txBody>
                    <a:bodyPr rtlCol="0"/>
                    <a:lstStyle/>
                    <a:p>
                      <a:pPr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次数</a:t>
                      </a:r>
                      <a:endParaRPr lang="en-US" sz="1100"/>
                    </a:p>
                  </a:txBody>
                  <a:tcPr marL="101600" marR="101600" marT="101600" marB="101600" anchor="t" anchorCtr="0">
                    <a:lnL>
                      <a:noFill/>
                    </a:lnL>
                    <a:lnR>
                      <a:noFill/>
                    </a:lnR>
                    <a:lnT>
                      <a:noFill/>
                    </a:lnT>
                    <a:lnB>
                      <a:noFill/>
                    </a:lnB>
                    <a:solidFill>
                      <a:srgbClr val="0070C0"/>
                    </a:solidFill>
                  </a:tcPr>
                </a:tc>
                <a:tc>
                  <a:txBody>
                    <a:bodyPr rtlCol="0"/>
                    <a:lstStyle/>
                    <a:p>
                      <a:pPr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温度(℃)</a:t>
                      </a:r>
                      <a:endParaRPr lang="en-US" sz="1100"/>
                    </a:p>
                  </a:txBody>
                  <a:tcPr marL="101600" marR="101600" marT="101600" marB="101600" anchor="t" anchorCtr="0">
                    <a:lnL>
                      <a:noFill/>
                    </a:lnL>
                    <a:lnR>
                      <a:noFill/>
                    </a:lnR>
                    <a:lnT>
                      <a:noFill/>
                    </a:lnT>
                    <a:lnB>
                      <a:noFill/>
                    </a:lnB>
                    <a:solidFill>
                      <a:srgbClr val="0070C0"/>
                    </a:solidFill>
                  </a:tcPr>
                </a:tc>
                <a:tc>
                  <a:txBody>
                    <a:bodyPr rtlCol="0"/>
                    <a:lstStyle/>
                    <a:p>
                      <a:pPr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湿度(%)</a:t>
                      </a:r>
                      <a:endParaRPr lang="en-US" sz="1100"/>
                    </a:p>
                  </a:txBody>
                  <a:tcPr marL="101600" marR="101600" marT="101600" marB="101600" anchor="t" anchorCtr="0">
                    <a:lnL>
                      <a:noFill/>
                    </a:lnL>
                    <a:lnR>
                      <a:noFill/>
                    </a:lnR>
                    <a:lnT>
                      <a:noFill/>
                    </a:lnT>
                    <a:lnB>
                      <a:noFill/>
                    </a:lnB>
                    <a:solidFill>
                      <a:srgbClr val="0070C0"/>
                    </a:solidFill>
                  </a:tcPr>
                </a:tc>
                <a:tc>
                  <a:txBody>
                    <a:bodyPr rtlCol="0"/>
                    <a:lstStyle/>
                    <a:p>
                      <a:pPr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温偏差(℃)</a:t>
                      </a:r>
                      <a:endParaRPr lang="en-US" sz="1100"/>
                    </a:p>
                  </a:txBody>
                  <a:tcPr marL="101600" marR="101600" marT="101600" marB="101600" anchor="t" anchorCtr="0">
                    <a:lnL>
                      <a:noFill/>
                    </a:lnL>
                    <a:lnR>
                      <a:noFill/>
                    </a:lnR>
                    <a:lnT>
                      <a:noFill/>
                    </a:lnT>
                    <a:lnB>
                      <a:noFill/>
                    </a:lnB>
                    <a:solidFill>
                      <a:srgbClr val="0070C0"/>
                    </a:solidFill>
                  </a:tcPr>
                </a:tc>
                <a:tc>
                  <a:txBody>
                    <a:bodyPr rtlCol="0"/>
                    <a:lstStyle/>
                    <a:p>
                      <a:pPr indent="0" algn="ctr">
                        <a:lnSpc>
                          <a:spcPct val="100000"/>
                        </a:lnSpc>
                        <a:defRPr/>
                      </a:pPr>
                      <a:r>
                        <a:rPr lang="en-US" sz="1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湿偏差(%)</a:t>
                      </a:r>
                      <a:endParaRPr lang="en-US" sz="1100"/>
                    </a:p>
                  </a:txBody>
                  <a:tcPr marL="101600" marR="101600" marT="101600" marB="101600" anchor="t" anchorCtr="0">
                    <a:lnL>
                      <a:noFill/>
                    </a:lnL>
                    <a:lnR>
                      <a:noFill/>
                    </a:lnR>
                    <a:lnT>
                      <a:noFill/>
                    </a:lnT>
                    <a:lnB>
                      <a:noFill/>
                    </a:lnB>
                    <a:solidFill>
                      <a:srgbClr val="0070C0"/>
                    </a:solidFill>
                  </a:tcPr>
                </a:tc>
              </a:tr>
              <a:tr h="317500">
                <a:tc>
                  <a:txBody>
                    <a:bodyPr rtlCol="0"/>
                    <a:lstStyle/>
                    <a:p>
                      <a:pPr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altLang="zh-CN" sz="1100"/>
                        <a:t>17.5</a:t>
                      </a:r>
                      <a:endParaRPr lang="en-US" altLang="zh-CN"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t>48.7</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t>0.0</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t>+0.5</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r>
              <a:tr h="317500">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2</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17.6</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sz="1100">
                          <a:sym typeface="+mn-ea"/>
                        </a:rPr>
                        <a:t>48.1</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+0.1</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-0.1</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r>
              <a:tr h="317500">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3</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17.3</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sz="1100">
                          <a:sym typeface="+mn-ea"/>
                        </a:rPr>
                        <a:t>48.3</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-0.2</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rPr>
                        <a:t>+0.1</a:t>
                      </a:r>
                      <a:endParaRPr 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r>
              <a:tr h="317500">
                <a:tc>
                  <a:txBody>
                    <a:bodyPr/>
                    <a:p>
                      <a:pPr algn="ctr">
                        <a:lnSpc>
                          <a:spcPct val="100000"/>
                        </a:lnSpc>
                        <a:buSzTx/>
                        <a:buNone/>
                        <a:defRPr/>
                      </a:pPr>
                      <a:r>
                        <a:rPr lang="en-US" altLang="en-US" sz="1100">
                          <a:solidFill>
                            <a:srgbClr val="374151"/>
                          </a:solidFill>
                          <a:latin typeface="Noto Sans SC" panose="020B0200000000000000" charset="-122"/>
                          <a:ea typeface="Noto Sans SC" panose="020B0200000000000000" charset="-122"/>
                          <a:cs typeface="Noto Sans SC" panose="020B0200000000000000" charset="-122"/>
                        </a:rPr>
                        <a:t>4</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sym typeface="+mn-ea"/>
                        </a:rPr>
                        <a:t>17.4</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sz="1100">
                          <a:sym typeface="+mn-ea"/>
                        </a:rPr>
                        <a:t>48.4</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altLang="en-US" sz="1100">
                          <a:solidFill>
                            <a:srgbClr val="374151"/>
                          </a:solidFill>
                          <a:latin typeface="Noto Sans SC" panose="020B0200000000000000" charset="-122"/>
                          <a:ea typeface="Noto Sans SC" panose="020B0200000000000000" charset="-122"/>
                          <a:cs typeface="Noto Sans SC" panose="020B0200000000000000" charset="-122"/>
                        </a:rPr>
                        <a:t>-0.1</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c>
                  <a:txBody>
                    <a:bodyPr/>
                    <a:p>
                      <a:pPr algn="ctr">
                        <a:lnSpc>
                          <a:spcPct val="100000"/>
                        </a:lnSpc>
                        <a:buSzTx/>
                        <a:buNone/>
                        <a:defRPr/>
                      </a:pPr>
                      <a:r>
                        <a:rPr lang="en-US" altLang="en-US" sz="1100">
                          <a:solidFill>
                            <a:srgbClr val="374151"/>
                          </a:solidFill>
                          <a:latin typeface="Noto Sans SC" panose="020B0200000000000000" charset="-122"/>
                          <a:ea typeface="Noto Sans SC" panose="020B0200000000000000" charset="-122"/>
                          <a:cs typeface="Noto Sans SC" panose="020B0200000000000000" charset="-122"/>
                        </a:rPr>
                        <a:t>+0.2</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noFill/>
                  </a:tcPr>
                </a:tc>
              </a:tr>
              <a:tr h="317500">
                <a:tc>
                  <a:txBody>
                    <a:bodyPr/>
                    <a:p>
                      <a:pPr algn="ctr">
                        <a:lnSpc>
                          <a:spcPct val="100000"/>
                        </a:lnSpc>
                        <a:buSzTx/>
                        <a:buNone/>
                        <a:defRPr/>
                      </a:pPr>
                      <a:r>
                        <a:rPr lang="en-US" altLang="en-US" sz="1100">
                          <a:solidFill>
                            <a:srgbClr val="374151"/>
                          </a:solidFill>
                          <a:latin typeface="Noto Sans SC" panose="020B0200000000000000" charset="-122"/>
                          <a:ea typeface="Noto Sans SC" panose="020B0200000000000000" charset="-122"/>
                          <a:cs typeface="Noto Sans SC" panose="020B0200000000000000" charset="-122"/>
                        </a:rPr>
                        <a:t>5</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sz="1100">
                          <a:solidFill>
                            <a:srgbClr val="374151"/>
                          </a:solidFill>
                          <a:latin typeface="Noto Sans SC" panose="020B0200000000000000" charset="-122"/>
                          <a:ea typeface="Noto Sans SC" panose="020B0200000000000000" charset="-122"/>
                          <a:cs typeface="Noto Sans SC" panose="020B0200000000000000" charset="-122"/>
                          <a:sym typeface="+mn-ea"/>
                        </a:rPr>
                        <a:t>17.4</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sz="1100">
                          <a:sym typeface="+mn-ea"/>
                        </a:rPr>
                        <a:t>48.5</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altLang="en-US" sz="1100">
                          <a:solidFill>
                            <a:srgbClr val="374151"/>
                          </a:solidFill>
                          <a:latin typeface="Noto Sans SC" panose="020B0200000000000000" charset="-122"/>
                          <a:ea typeface="Noto Sans SC" panose="020B0200000000000000" charset="-122"/>
                          <a:cs typeface="Noto Sans SC" panose="020B0200000000000000" charset="-122"/>
                        </a:rPr>
                        <a:t>-0.1</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c>
                  <a:txBody>
                    <a:bodyPr/>
                    <a:p>
                      <a:pPr algn="ctr">
                        <a:lnSpc>
                          <a:spcPct val="100000"/>
                        </a:lnSpc>
                        <a:buSzTx/>
                        <a:buNone/>
                        <a:defRPr/>
                      </a:pPr>
                      <a:r>
                        <a:rPr lang="en-US" altLang="en-US" sz="1100">
                          <a:solidFill>
                            <a:srgbClr val="374151"/>
                          </a:solidFill>
                          <a:latin typeface="Noto Sans SC" panose="020B0200000000000000" charset="-122"/>
                          <a:ea typeface="Noto Sans SC" panose="020B0200000000000000" charset="-122"/>
                          <a:cs typeface="Noto Sans SC" panose="020B0200000000000000" charset="-122"/>
                        </a:rPr>
                        <a:t>+0.3</a:t>
                      </a:r>
                      <a:endParaRPr lang="en-US" altLang="en-US" sz="1100">
                        <a:solidFill>
                          <a:srgbClr val="374151"/>
                        </a:solidFill>
                        <a:latin typeface="Noto Sans SC" panose="020B0200000000000000" charset="-122"/>
                        <a:ea typeface="Noto Sans SC" panose="020B0200000000000000" charset="-122"/>
                        <a:cs typeface="Noto Sans SC" panose="020B0200000000000000" charset="-122"/>
                      </a:endParaRPr>
                    </a:p>
                  </a:txBody>
                  <a:tcPr marL="101600" marR="101600" marT="101600" marB="101600" anchor="t" anchorCtr="0">
                    <a:lnL>
                      <a:noFill/>
                    </a:lnL>
                    <a:lnR>
                      <a:noFill/>
                    </a:lnR>
                    <a:lnT>
                      <a:noFill/>
                    </a:lnT>
                    <a:lnB>
                      <a:noFill/>
                    </a:lnB>
                    <a:solidFill>
                      <a:schemeClr val="accent3">
                        <a:lumMod val="20000"/>
                        <a:lumOff val="80000"/>
                      </a:schemeClr>
                    </a:solidFill>
                  </a:tcPr>
                </a:tc>
              </a:tr>
              <a:tr h="317500">
                <a:tc>
                  <a:txBody>
                    <a:bodyPr rtlCol="0"/>
                    <a:lstStyle/>
                    <a:p>
                      <a:pPr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6</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solidFill>
                            <a:srgbClr val="374151"/>
                          </a:solidFill>
                          <a:latin typeface="Noto Sans SC" panose="020B0200000000000000" charset="-122"/>
                          <a:ea typeface="Noto Sans SC" panose="020B0200000000000000" charset="-122"/>
                          <a:cs typeface="Noto Sans SC" panose="020B0200000000000000" charset="-122"/>
                          <a:sym typeface="+mn-ea"/>
                        </a:rPr>
                        <a:t>17.7</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sym typeface="+mn-ea"/>
                        </a:rPr>
                        <a:t>48.3</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t>+0.2</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t>+0.1</a:t>
                      </a:r>
                      <a:endParaRPr lang="en-US" sz="1100"/>
                    </a:p>
                  </a:txBody>
                  <a:tcPr marL="101600" marR="101600" marT="101600" marB="101600" anchor="t" anchorCtr="0">
                    <a:lnL>
                      <a:noFill/>
                    </a:lnL>
                    <a:lnR>
                      <a:noFill/>
                    </a:lnR>
                    <a:lnT>
                      <a:noFill/>
                    </a:lnT>
                    <a:lnB>
                      <a:noFill/>
                    </a:lnB>
                    <a:solidFill>
                      <a:schemeClr val="bg1"/>
                    </a:solidFill>
                  </a:tcPr>
                </a:tc>
              </a:tr>
              <a:tr h="317500">
                <a:tc>
                  <a:txBody>
                    <a:bodyPr rtlCol="0"/>
                    <a:lstStyle/>
                    <a:p>
                      <a:pPr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7</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solidFill>
                            <a:srgbClr val="374151"/>
                          </a:solidFill>
                          <a:latin typeface="Noto Sans SC" panose="020B0200000000000000" charset="-122"/>
                          <a:ea typeface="Noto Sans SC" panose="020B0200000000000000" charset="-122"/>
                          <a:cs typeface="Noto Sans SC" panose="020B0200000000000000" charset="-122"/>
                          <a:sym typeface="+mn-ea"/>
                        </a:rPr>
                        <a:t>17.7</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sym typeface="+mn-ea"/>
                        </a:rPr>
                        <a:t>48.5</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t>+0.2</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t>+0.3</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r>
              <a:tr h="317500">
                <a:tc>
                  <a:txBody>
                    <a:bodyPr rtlCol="0"/>
                    <a:lstStyle/>
                    <a:p>
                      <a:pPr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8</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solidFill>
                            <a:srgbClr val="374151"/>
                          </a:solidFill>
                          <a:latin typeface="Noto Sans SC" panose="020B0200000000000000" charset="-122"/>
                          <a:ea typeface="Noto Sans SC" panose="020B0200000000000000" charset="-122"/>
                          <a:cs typeface="Noto Sans SC" panose="020B0200000000000000" charset="-122"/>
                          <a:sym typeface="+mn-ea"/>
                        </a:rPr>
                        <a:t>17.4</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sym typeface="+mn-ea"/>
                        </a:rPr>
                        <a:t>48.1</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t>-0.1</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t>-0.1</a:t>
                      </a:r>
                      <a:endParaRPr lang="en-US" sz="1100"/>
                    </a:p>
                  </a:txBody>
                  <a:tcPr marL="101600" marR="101600" marT="101600" marB="101600" anchor="t" anchorCtr="0">
                    <a:lnL>
                      <a:noFill/>
                    </a:lnL>
                    <a:lnR>
                      <a:noFill/>
                    </a:lnR>
                    <a:lnT>
                      <a:noFill/>
                    </a:lnT>
                    <a:lnB>
                      <a:noFill/>
                    </a:lnB>
                    <a:solidFill>
                      <a:schemeClr val="bg1"/>
                    </a:solidFill>
                  </a:tcPr>
                </a:tc>
              </a:tr>
              <a:tr h="317500">
                <a:tc>
                  <a:txBody>
                    <a:bodyPr rtlCol="0"/>
                    <a:lstStyle/>
                    <a:p>
                      <a:pPr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9</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solidFill>
                            <a:srgbClr val="374151"/>
                          </a:solidFill>
                          <a:latin typeface="Noto Sans SC" panose="020B0200000000000000" charset="-122"/>
                          <a:ea typeface="Noto Sans SC" panose="020B0200000000000000" charset="-122"/>
                          <a:cs typeface="Noto Sans SC" panose="020B0200000000000000" charset="-122"/>
                          <a:sym typeface="+mn-ea"/>
                        </a:rPr>
                        <a:t>17.5</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sym typeface="+mn-ea"/>
                        </a:rPr>
                        <a:t>48.4</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t>0.0</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c>
                  <a:txBody>
                    <a:bodyPr rtlCol="0"/>
                    <a:lstStyle/>
                    <a:p>
                      <a:pPr indent="0" algn="ctr">
                        <a:lnSpc>
                          <a:spcPct val="100000"/>
                        </a:lnSpc>
                        <a:defRPr/>
                      </a:pPr>
                      <a:r>
                        <a:rPr lang="en-US" sz="1100"/>
                        <a:t>+0.2</a:t>
                      </a:r>
                      <a:endParaRPr lang="en-US" sz="1100"/>
                    </a:p>
                  </a:txBody>
                  <a:tcPr marL="101600" marR="101600" marT="101600" marB="101600" anchor="t" anchorCtr="0">
                    <a:lnL>
                      <a:noFill/>
                    </a:lnL>
                    <a:lnR>
                      <a:noFill/>
                    </a:lnR>
                    <a:lnT>
                      <a:noFill/>
                    </a:lnT>
                    <a:lnB>
                      <a:noFill/>
                    </a:lnB>
                    <a:solidFill>
                      <a:schemeClr val="accent3">
                        <a:lumMod val="20000"/>
                        <a:lumOff val="80000"/>
                      </a:schemeClr>
                    </a:solidFill>
                  </a:tcPr>
                </a:tc>
              </a:tr>
              <a:tr h="317500">
                <a:tc>
                  <a:txBody>
                    <a:bodyPr rtlCol="0"/>
                    <a:lstStyle/>
                    <a:p>
                      <a:pPr indent="0" algn="ctr">
                        <a:lnSpc>
                          <a:spcPct val="100000"/>
                        </a:lnSpc>
                        <a:defRPr/>
                      </a:pPr>
                      <a:r>
                        <a:rPr lang="en-US" sz="11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10</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solidFill>
                            <a:srgbClr val="374151"/>
                          </a:solidFill>
                          <a:latin typeface="Noto Sans SC" panose="020B0200000000000000" charset="-122"/>
                          <a:ea typeface="Noto Sans SC" panose="020B0200000000000000" charset="-122"/>
                          <a:cs typeface="Noto Sans SC" panose="020B0200000000000000" charset="-122"/>
                          <a:sym typeface="+mn-ea"/>
                        </a:rPr>
                        <a:t>17.6</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sym typeface="+mn-ea"/>
                        </a:rPr>
                        <a:t>48.2</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t>+0.1</a:t>
                      </a:r>
                      <a:endParaRPr lang="en-US" sz="1100"/>
                    </a:p>
                  </a:txBody>
                  <a:tcPr marL="101600" marR="101600" marT="101600" marB="101600" anchor="t" anchorCtr="0">
                    <a:lnL>
                      <a:noFill/>
                    </a:lnL>
                    <a:lnR>
                      <a:noFill/>
                    </a:lnR>
                    <a:lnT>
                      <a:noFill/>
                    </a:lnT>
                    <a:lnB>
                      <a:noFill/>
                    </a:lnB>
                    <a:solidFill>
                      <a:schemeClr val="bg1"/>
                    </a:solidFill>
                  </a:tcPr>
                </a:tc>
                <a:tc>
                  <a:txBody>
                    <a:bodyPr rtlCol="0"/>
                    <a:lstStyle/>
                    <a:p>
                      <a:pPr indent="0" algn="ctr">
                        <a:lnSpc>
                          <a:spcPct val="100000"/>
                        </a:lnSpc>
                        <a:defRPr/>
                      </a:pPr>
                      <a:r>
                        <a:rPr lang="en-US" sz="1100"/>
                        <a:t>0.0</a:t>
                      </a:r>
                      <a:endParaRPr lang="en-US" sz="1100"/>
                    </a:p>
                  </a:txBody>
                  <a:tcPr marL="101600" marR="101600" marT="101600" marB="101600" anchor="t" anchorCtr="0">
                    <a:lnL>
                      <a:noFill/>
                    </a:lnL>
                    <a:lnR>
                      <a:noFill/>
                    </a:lnR>
                    <a:lnT>
                      <a:noFill/>
                    </a:lnT>
                    <a:lnB>
                      <a:noFill/>
                    </a:lnB>
                    <a:solidFill>
                      <a:schemeClr val="bg1"/>
                    </a:solidFill>
                  </a:tcPr>
                </a:tc>
              </a:tr>
              <a:tr h="571500">
                <a:tc>
                  <a:txBody>
                    <a:bodyPr rtlCol="0"/>
                    <a:lstStyle/>
                    <a:p>
                      <a:pPr indent="0" algn="ctr">
                        <a:lnSpc>
                          <a:spcPct val="100000"/>
                        </a:lnSpc>
                        <a:defRPr/>
                      </a:pPr>
                      <a:r>
                        <a:rPr lang="en-US" sz="12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统计</a:t>
                      </a:r>
                      <a:endParaRPr lang="en-US" sz="1100"/>
                    </a:p>
                  </a:txBody>
                  <a:tcPr marL="101600" marR="101600" marT="101600" marB="101600" anchor="t" anchorCtr="0">
                    <a:lnL>
                      <a:noFill/>
                    </a:lnL>
                    <a:lnR>
                      <a:noFill/>
                    </a:lnR>
                    <a:lnT>
                      <a:noFill/>
                    </a:lnT>
                    <a:lnB>
                      <a:noFill/>
                    </a:lnB>
                    <a:solidFill>
                      <a:srgbClr val="ECFDF5">
                        <a:alpha val="100000"/>
                      </a:srgbClr>
                    </a:solidFill>
                  </a:tcPr>
                </a:tc>
                <a:tc>
                  <a:txBody>
                    <a:bodyPr rtlCol="0"/>
                    <a:lstStyle/>
                    <a:p>
                      <a:pPr indent="0" algn="ctr">
                        <a:lnSpc>
                          <a:spcPct val="100000"/>
                        </a:lnSpc>
                        <a:defRPr/>
                      </a:pPr>
                      <a:r>
                        <a:rPr lang="en-US" sz="1100"/>
                        <a:t>17.51</a:t>
                      </a:r>
                      <a:endParaRPr lang="en-US" sz="1100"/>
                    </a:p>
                  </a:txBody>
                  <a:tcPr marL="101600" marR="101600" marT="101600" marB="101600" anchor="t" anchorCtr="0">
                    <a:lnL>
                      <a:noFill/>
                    </a:lnL>
                    <a:lnR>
                      <a:noFill/>
                    </a:lnR>
                    <a:lnT>
                      <a:noFill/>
                    </a:lnT>
                    <a:lnB>
                      <a:noFill/>
                    </a:lnB>
                    <a:solidFill>
                      <a:srgbClr val="ECFDF5">
                        <a:alpha val="100000"/>
                      </a:srgbClr>
                    </a:solidFill>
                  </a:tcPr>
                </a:tc>
                <a:tc>
                  <a:txBody>
                    <a:bodyPr rtlCol="0"/>
                    <a:lstStyle/>
                    <a:p>
                      <a:pPr indent="0" algn="ctr">
                        <a:lnSpc>
                          <a:spcPct val="100000"/>
                        </a:lnSpc>
                        <a:defRPr/>
                      </a:pPr>
                      <a:r>
                        <a:rPr lang="en-US" sz="1100"/>
                        <a:t>48.35</a:t>
                      </a:r>
                      <a:endParaRPr lang="en-US" sz="1100"/>
                    </a:p>
                  </a:txBody>
                  <a:tcPr marL="101600" marR="101600" marT="101600" marB="101600" anchor="t" anchorCtr="0">
                    <a:lnL>
                      <a:noFill/>
                    </a:lnL>
                    <a:lnR>
                      <a:noFill/>
                    </a:lnR>
                    <a:lnT>
                      <a:noFill/>
                    </a:lnT>
                    <a:lnB>
                      <a:noFill/>
                    </a:lnB>
                    <a:solidFill>
                      <a:srgbClr val="ECFDF5">
                        <a:alpha val="100000"/>
                      </a:srgbClr>
                    </a:solidFill>
                  </a:tcPr>
                </a:tc>
                <a:tc>
                  <a:txBody>
                    <a:bodyPr rtlCol="0"/>
                    <a:lstStyle/>
                    <a:p>
                      <a:pPr indent="0" algn="ctr">
                        <a:lnSpc>
                          <a:spcPct val="100000"/>
                        </a:lnSpc>
                        <a:defRPr/>
                      </a:pPr>
                      <a:r>
                        <a:rPr lang="en-US" sz="1100"/>
                        <a:t>+0.01</a:t>
                      </a:r>
                      <a:endParaRPr lang="en-US" sz="1100"/>
                    </a:p>
                  </a:txBody>
                  <a:tcPr marL="101600" marR="101600" marT="101600" marB="101600" anchor="t" anchorCtr="0">
                    <a:lnL>
                      <a:noFill/>
                    </a:lnL>
                    <a:lnR>
                      <a:noFill/>
                    </a:lnR>
                    <a:lnT>
                      <a:noFill/>
                    </a:lnT>
                    <a:lnB>
                      <a:noFill/>
                    </a:lnB>
                    <a:solidFill>
                      <a:srgbClr val="FEF2F2">
                        <a:alpha val="100000"/>
                      </a:srgbClr>
                    </a:solidFill>
                  </a:tcPr>
                </a:tc>
                <a:tc>
                  <a:txBody>
                    <a:bodyPr rtlCol="0"/>
                    <a:lstStyle/>
                    <a:p>
                      <a:pPr indent="0" algn="ctr">
                        <a:lnSpc>
                          <a:spcPct val="100000"/>
                        </a:lnSpc>
                        <a:defRPr/>
                      </a:pPr>
                      <a:r>
                        <a:rPr lang="en-US" sz="1100"/>
                        <a:t>+0.15</a:t>
                      </a:r>
                      <a:endParaRPr lang="en-US" sz="1100"/>
                    </a:p>
                  </a:txBody>
                  <a:tcPr marL="101600" marR="101600" marT="101600" marB="101600" anchor="t" anchorCtr="0">
                    <a:lnL>
                      <a:noFill/>
                    </a:lnL>
                    <a:lnR>
                      <a:noFill/>
                    </a:lnR>
                    <a:lnT>
                      <a:noFill/>
                    </a:lnT>
                    <a:lnB>
                      <a:noFill/>
                    </a:lnB>
                    <a:solidFill>
                      <a:srgbClr val="FEF2F2">
                        <a:alpha val="100000"/>
                      </a:srgbClr>
                    </a:solidFill>
                  </a:tcPr>
                </a:tc>
              </a:tr>
            </a:tbl>
          </a:graphicData>
        </a:graphic>
      </p:graphicFrame>
      <p:sp>
        <p:nvSpPr>
          <p:cNvPr id="20"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rot="5400000">
            <a:off x="4229100" y="-4229100"/>
            <a:ext cx="3733800" cy="12192000"/>
          </a:xfrm>
          <a:prstGeom prst="roundRect">
            <a:avLst>
              <a:gd name="adj" fmla="val 0"/>
            </a:avLst>
          </a:prstGeom>
          <a:solidFill>
            <a:schemeClr val="accent1">
              <a:lumMod val="40000"/>
              <a:lumOff val="60000"/>
            </a:schemeClr>
          </a:solidFill>
          <a:ln w="25400" cap="flat" cmpd="sng">
            <a:noFill/>
            <a:prstDash val="solid"/>
            <a:round/>
          </a:ln>
        </p:spPr>
        <p:txBody>
          <a:bodyPr vert="horz" wrap="square" lIns="63500" tIns="63500" rIns="63500" bIns="63500" rtlCol="0" anchor="ctr">
            <a:noAutofit/>
          </a:bodyPr>
          <a:lstStyle/>
          <a:p>
            <a:pPr lvl="0" algn="ctr">
              <a:buSzTx/>
              <a:defRPr/>
            </a:pPr>
            <a:endParaRPr>
              <a:sym typeface="+mn-ea"/>
            </a:endParaRPr>
          </a:p>
        </p:txBody>
      </p:sp>
      <p:sp>
        <p:nvSpPr>
          <p:cNvPr id="4" name="Freeform 4"/>
          <p:cNvSpPr/>
          <p:nvPr/>
        </p:nvSpPr>
        <p:spPr>
          <a:xfrm>
            <a:off x="5321300" y="3048000"/>
            <a:ext cx="1549400" cy="1378900"/>
          </a:xfrm>
          <a:custGeom>
            <a:avLst/>
            <a:gdLst/>
            <a:ahLst/>
            <a:cxnLst/>
            <a:rect l="l" t="t" r="r" b="b"/>
            <a:pathLst>
              <a:path w="1549400" h="1378900">
                <a:moveTo>
                  <a:pt x="455144" y="0"/>
                </a:moveTo>
                <a:lnTo>
                  <a:pt x="682201" y="0"/>
                </a:lnTo>
                <a:lnTo>
                  <a:pt x="867199" y="0"/>
                </a:lnTo>
                <a:lnTo>
                  <a:pt x="1094256" y="0"/>
                </a:lnTo>
                <a:cubicBezTo>
                  <a:pt x="1138385" y="0"/>
                  <a:pt x="1193828" y="31699"/>
                  <a:pt x="1216458" y="70190"/>
                </a:cubicBezTo>
                <a:cubicBezTo>
                  <a:pt x="1533276" y="619260"/>
                  <a:pt x="1533276" y="619260"/>
                  <a:pt x="1533276" y="619260"/>
                </a:cubicBezTo>
                <a:cubicBezTo>
                  <a:pt x="1544025" y="638505"/>
                  <a:pt x="1549400" y="663978"/>
                  <a:pt x="1549400" y="689450"/>
                </a:cubicBezTo>
                <a:cubicBezTo>
                  <a:pt x="1549400" y="714922"/>
                  <a:pt x="1544025" y="740395"/>
                  <a:pt x="1533276" y="759640"/>
                </a:cubicBezTo>
                <a:cubicBezTo>
                  <a:pt x="1216458" y="1308710"/>
                  <a:pt x="1216458" y="1308710"/>
                  <a:pt x="1216458" y="1308710"/>
                </a:cubicBezTo>
                <a:cubicBezTo>
                  <a:pt x="1193828" y="1347202"/>
                  <a:pt x="1138385" y="1378900"/>
                  <a:pt x="1094256" y="1378900"/>
                </a:cubicBezTo>
                <a:cubicBezTo>
                  <a:pt x="1015053" y="1378900"/>
                  <a:pt x="945747" y="1378900"/>
                  <a:pt x="885107" y="1378900"/>
                </a:cubicBezTo>
                <a:lnTo>
                  <a:pt x="867199" y="1378900"/>
                </a:lnTo>
                <a:lnTo>
                  <a:pt x="821465" y="1378900"/>
                </a:lnTo>
                <a:lnTo>
                  <a:pt x="800487" y="1378900"/>
                </a:lnTo>
                <a:lnTo>
                  <a:pt x="748913" y="1378900"/>
                </a:lnTo>
                <a:lnTo>
                  <a:pt x="727935" y="1378900"/>
                </a:lnTo>
                <a:lnTo>
                  <a:pt x="682201" y="1378900"/>
                </a:lnTo>
                <a:lnTo>
                  <a:pt x="664293" y="1378900"/>
                </a:lnTo>
                <a:cubicBezTo>
                  <a:pt x="603653" y="1378900"/>
                  <a:pt x="534347" y="1378900"/>
                  <a:pt x="455144" y="1378900"/>
                </a:cubicBezTo>
                <a:cubicBezTo>
                  <a:pt x="411015" y="1378900"/>
                  <a:pt x="355572" y="1347202"/>
                  <a:pt x="332942" y="1308710"/>
                </a:cubicBezTo>
                <a:cubicBezTo>
                  <a:pt x="332942" y="1308710"/>
                  <a:pt x="332942" y="1308710"/>
                  <a:pt x="16124" y="759640"/>
                </a:cubicBezTo>
                <a:cubicBezTo>
                  <a:pt x="5375" y="740395"/>
                  <a:pt x="0" y="714922"/>
                  <a:pt x="0" y="689450"/>
                </a:cubicBezTo>
                <a:cubicBezTo>
                  <a:pt x="0" y="663978"/>
                  <a:pt x="5375" y="638505"/>
                  <a:pt x="16124" y="619260"/>
                </a:cubicBezTo>
                <a:cubicBezTo>
                  <a:pt x="16124" y="619260"/>
                  <a:pt x="16124" y="619260"/>
                  <a:pt x="332942" y="70190"/>
                </a:cubicBezTo>
                <a:cubicBezTo>
                  <a:pt x="355572" y="31699"/>
                  <a:pt x="411015" y="0"/>
                  <a:pt x="455144" y="0"/>
                </a:cubicBezTo>
                <a:close/>
              </a:path>
            </a:pathLst>
          </a:cu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Freeform 5"/>
          <p:cNvSpPr/>
          <p:nvPr/>
        </p:nvSpPr>
        <p:spPr>
          <a:xfrm>
            <a:off x="5422900" y="3136900"/>
            <a:ext cx="1342415" cy="1194692"/>
          </a:xfrm>
          <a:custGeom>
            <a:avLst/>
            <a:gdLst/>
            <a:ahLst/>
            <a:cxnLst/>
            <a:rect l="l" t="t" r="r" b="b"/>
            <a:pathLst>
              <a:path w="1342415" h="1194692">
                <a:moveTo>
                  <a:pt x="394341" y="0"/>
                </a:moveTo>
                <a:lnTo>
                  <a:pt x="591066" y="0"/>
                </a:lnTo>
                <a:lnTo>
                  <a:pt x="751351" y="0"/>
                </a:lnTo>
                <a:lnTo>
                  <a:pt x="948075" y="0"/>
                </a:lnTo>
                <a:cubicBezTo>
                  <a:pt x="986309" y="0"/>
                  <a:pt x="1034345" y="27465"/>
                  <a:pt x="1053951" y="60814"/>
                </a:cubicBezTo>
                <a:cubicBezTo>
                  <a:pt x="1328447" y="536532"/>
                  <a:pt x="1328447" y="536532"/>
                  <a:pt x="1328447" y="536532"/>
                </a:cubicBezTo>
                <a:cubicBezTo>
                  <a:pt x="1337760" y="553207"/>
                  <a:pt x="1342415" y="575277"/>
                  <a:pt x="1342415" y="597346"/>
                </a:cubicBezTo>
                <a:cubicBezTo>
                  <a:pt x="1342415" y="619416"/>
                  <a:pt x="1337760" y="641486"/>
                  <a:pt x="1328447" y="658160"/>
                </a:cubicBezTo>
                <a:cubicBezTo>
                  <a:pt x="1053951" y="1133879"/>
                  <a:pt x="1053951" y="1133879"/>
                  <a:pt x="1053951" y="1133879"/>
                </a:cubicBezTo>
                <a:cubicBezTo>
                  <a:pt x="1034345" y="1167228"/>
                  <a:pt x="986309" y="1194692"/>
                  <a:pt x="948075" y="1194692"/>
                </a:cubicBezTo>
                <a:cubicBezTo>
                  <a:pt x="879451" y="1194692"/>
                  <a:pt x="819405" y="1194692"/>
                  <a:pt x="766865" y="1194692"/>
                </a:cubicBezTo>
                <a:lnTo>
                  <a:pt x="751351" y="1194692"/>
                </a:lnTo>
                <a:lnTo>
                  <a:pt x="711726" y="1194692"/>
                </a:lnTo>
                <a:lnTo>
                  <a:pt x="693551" y="1194692"/>
                </a:lnTo>
                <a:lnTo>
                  <a:pt x="648866" y="1194692"/>
                </a:lnTo>
                <a:lnTo>
                  <a:pt x="630690" y="1194692"/>
                </a:lnTo>
                <a:lnTo>
                  <a:pt x="591066" y="1194692"/>
                </a:lnTo>
                <a:lnTo>
                  <a:pt x="575550" y="1194692"/>
                </a:lnTo>
                <a:cubicBezTo>
                  <a:pt x="523011" y="1194692"/>
                  <a:pt x="462965" y="1194692"/>
                  <a:pt x="394341" y="1194692"/>
                </a:cubicBezTo>
                <a:cubicBezTo>
                  <a:pt x="356107" y="1194692"/>
                  <a:pt x="308072" y="1167228"/>
                  <a:pt x="288465" y="1133879"/>
                </a:cubicBezTo>
                <a:cubicBezTo>
                  <a:pt x="288465" y="1133879"/>
                  <a:pt x="288465" y="1133879"/>
                  <a:pt x="13970" y="658160"/>
                </a:cubicBezTo>
                <a:cubicBezTo>
                  <a:pt x="4657" y="641486"/>
                  <a:pt x="0" y="619416"/>
                  <a:pt x="0" y="597346"/>
                </a:cubicBezTo>
                <a:cubicBezTo>
                  <a:pt x="0" y="575277"/>
                  <a:pt x="4657" y="553207"/>
                  <a:pt x="13970" y="536532"/>
                </a:cubicBezTo>
                <a:cubicBezTo>
                  <a:pt x="13970" y="536532"/>
                  <a:pt x="13970" y="536532"/>
                  <a:pt x="288465" y="60814"/>
                </a:cubicBezTo>
                <a:cubicBezTo>
                  <a:pt x="308072" y="27465"/>
                  <a:pt x="356107" y="0"/>
                  <a:pt x="394341" y="0"/>
                </a:cubicBezTo>
                <a:close/>
              </a:path>
            </a:pathLst>
          </a:custGeom>
          <a:solidFill>
            <a:srgbClr val="9CC5FD">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5486400" y="3505200"/>
            <a:ext cx="12065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0"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Part.05</a:t>
            </a:r>
            <a:endParaRPr lang="en-US" sz="1100"/>
          </a:p>
        </p:txBody>
      </p:sp>
      <p:sp>
        <p:nvSpPr>
          <p:cNvPr id="7" name="AutoShape 7"/>
          <p:cNvSpPr/>
          <p:nvPr/>
        </p:nvSpPr>
        <p:spPr>
          <a:xfrm>
            <a:off x="3327400" y="4787900"/>
            <a:ext cx="55372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spc="600">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2367915" y="1019810"/>
            <a:ext cx="7456805" cy="1207135"/>
          </a:xfrm>
          <a:prstGeom prst="rect">
            <a:avLst/>
          </a:prstGeom>
          <a:noFill/>
          <a:ln>
            <a:noFill/>
          </a:ln>
        </p:spPr>
      </p:pic>
      <p:pic>
        <p:nvPicPr>
          <p:cNvPr id="10" name="Picture 9"/>
          <p:cNvPicPr>
            <a:picLocks noChangeAspect="1"/>
          </p:cNvPicPr>
          <p:nvPr/>
        </p:nvPicPr>
        <p:blipFill>
          <a:blip r:embed="rId2"/>
          <a:srcRect t="34" b="34"/>
          <a:stretch>
            <a:fillRect/>
          </a:stretch>
        </p:blipFill>
        <p:spPr>
          <a:xfrm>
            <a:off x="10020300" y="165100"/>
            <a:ext cx="1905000" cy="1879600"/>
          </a:xfrm>
          <a:prstGeom prst="rect">
            <a:avLst/>
          </a:prstGeom>
          <a:noFill/>
          <a:ln w="25400" cap="flat" cmpd="sng">
            <a:noFill/>
            <a:prstDash val="solid"/>
            <a:rou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sp>
        <p:nvSpPr>
          <p:cNvPr id="9" name="AutoShape 9"/>
          <p:cNvSpPr/>
          <p:nvPr/>
        </p:nvSpPr>
        <p:spPr>
          <a:xfrm>
            <a:off x="10185400" y="215900"/>
            <a:ext cx="1346200" cy="3429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论文总结</a:t>
            </a:r>
            <a:endParaRPr lang="en-US" sz="1100"/>
          </a:p>
        </p:txBody>
      </p:sp>
      <p:cxnSp>
        <p:nvCxnSpPr>
          <p:cNvPr id="11" name="Connector 11"/>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2" name="AutoShape 12"/>
          <p:cNvSpPr/>
          <p:nvPr/>
        </p:nvSpPr>
        <p:spPr>
          <a:xfrm>
            <a:off x="457200" y="1104900"/>
            <a:ext cx="2286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课题基本结论</a:t>
            </a:r>
            <a:endParaRPr lang="en-US" sz="1100"/>
          </a:p>
        </p:txBody>
      </p:sp>
      <p:cxnSp>
        <p:nvCxnSpPr>
          <p:cNvPr id="13" name="Connector 13"/>
          <p:cNvCxnSpPr/>
          <p:nvPr/>
        </p:nvCxnSpPr>
        <p:spPr>
          <a:xfrm rot="5056725">
            <a:off x="310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7" name="AutoShape 17"/>
          <p:cNvSpPr/>
          <p:nvPr/>
        </p:nvSpPr>
        <p:spPr>
          <a:xfrm>
            <a:off x="1244600" y="1930400"/>
            <a:ext cx="9550400" cy="1600200"/>
          </a:xfrm>
          <a:prstGeom prst="roundRect">
            <a:avLst>
              <a:gd name="adj" fmla="val 0"/>
            </a:avLst>
          </a:prstGeom>
          <a:noFill/>
          <a:ln w="12700" cap="flat" cmpd="sng">
            <a:solidFill>
              <a:srgbClr val="808080">
                <a:alpha val="100000"/>
              </a:srgbClr>
            </a:solidFill>
            <a:prstDash val="solid"/>
            <a:miter lim="10000000"/>
          </a:ln>
        </p:spPr>
        <p:txBody>
          <a:bodyPr vert="horz" wrap="square" lIns="63500" tIns="63500" rIns="63500" bIns="63500" rtlCol="0" anchor="ctr"/>
          <a:lstStyle/>
          <a:p>
            <a:pPr algn="ctr">
              <a:defRPr/>
            </a:pPr>
          </a:p>
        </p:txBody>
      </p:sp>
      <p:sp>
        <p:nvSpPr>
          <p:cNvPr id="18" name="AutoShape 18"/>
          <p:cNvSpPr/>
          <p:nvPr/>
        </p:nvSpPr>
        <p:spPr>
          <a:xfrm>
            <a:off x="1219200" y="1905000"/>
            <a:ext cx="355600" cy="355600"/>
          </a:xfrm>
          <a:prstGeom prst="diagStripe">
            <a:avLst/>
          </a:pr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rot="10800000">
            <a:off x="10477500" y="3200400"/>
            <a:ext cx="355600" cy="355600"/>
          </a:xfrm>
          <a:prstGeom prst="diagStripe">
            <a:avLst/>
          </a:prstGeom>
          <a:solidFill>
            <a:srgbClr val="00B0F0">
              <a:alpha val="10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562100" y="2070100"/>
            <a:ext cx="8928100" cy="1295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indent="0" algn="just">
              <a:lnSpc>
                <a:spcPct val="125000"/>
              </a:lnSpc>
              <a:defRPr/>
            </a:pPr>
            <a:r>
              <a:rPr lang="en-US" sz="20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论文结论：</a:t>
            </a:r>
            <a:r>
              <a:rPr lang="en-US" sz="15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本设计成功实现了一个基于STM32的农业大棚温湿度监测系统，完整地实现了数据采集、实时显示、阈值设置、掉电保存和越限报警等核心功能。</a:t>
            </a:r>
            <a:endParaRPr lang="en-US" sz="1100"/>
          </a:p>
        </p:txBody>
      </p:sp>
      <p:sp>
        <p:nvSpPr>
          <p:cNvPr id="21" name="AutoShape 21"/>
          <p:cNvSpPr/>
          <p:nvPr/>
        </p:nvSpPr>
        <p:spPr>
          <a:xfrm>
            <a:off x="1270000" y="3835400"/>
            <a:ext cx="571500" cy="571500"/>
          </a:xfrm>
          <a:prstGeom prst="roundRect">
            <a:avLst>
              <a:gd name="adj" fmla="val 0"/>
            </a:avLst>
          </a:prstGeom>
          <a:solidFill>
            <a:srgbClr val="0070C0">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01</a:t>
            </a:r>
            <a:endParaRPr lang="en-US" sz="1100"/>
          </a:p>
        </p:txBody>
      </p:sp>
      <p:sp>
        <p:nvSpPr>
          <p:cNvPr id="22" name="AutoShape 22"/>
          <p:cNvSpPr/>
          <p:nvPr/>
        </p:nvSpPr>
        <p:spPr>
          <a:xfrm>
            <a:off x="1968500" y="3746500"/>
            <a:ext cx="8661400" cy="1079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系统功能实现：</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已完成所有预定功能开发。其中，数据采集单元能稳定获取环境温湿度数据；显示单元支持实时数据刷新；用户可灵活配置报警阈值，且配置参数支持断电永久保存；当监测值超出设定范围时，系统能立即触发声光报警机制。</a:t>
            </a:r>
            <a:endParaRPr lang="en-US" sz="1100"/>
          </a:p>
        </p:txBody>
      </p:sp>
      <p:sp>
        <p:nvSpPr>
          <p:cNvPr id="23" name="AutoShape 23"/>
          <p:cNvSpPr/>
          <p:nvPr/>
        </p:nvSpPr>
        <p:spPr>
          <a:xfrm>
            <a:off x="1270000" y="5143500"/>
            <a:ext cx="571500" cy="571500"/>
          </a:xfrm>
          <a:prstGeom prst="roundRect">
            <a:avLst>
              <a:gd name="adj" fmla="val 0"/>
            </a:avLst>
          </a:prstGeom>
          <a:solidFill>
            <a:srgbClr val="0070C0">
              <a:alpha val="100000"/>
            </a:srgbClr>
          </a:solidFill>
          <a:ln w="25400" cap="flat" cmpd="sng">
            <a:noFill/>
            <a:prstDash val="solid"/>
            <a:round/>
          </a:ln>
        </p:spPr>
        <p:txBody>
          <a:bodyPr vert="horz" wrap="square" lIns="0" tIns="0" rIns="0" bIns="0" rtlCol="0" anchor="ctr" anchorCtr="0"/>
          <a:lstStyle/>
          <a:p>
            <a:pPr indent="0" algn="ctr">
              <a:lnSpc>
                <a:spcPct val="100000"/>
              </a:lnSpc>
              <a:defRPr/>
            </a:pPr>
            <a:r>
              <a:rPr lang="en-US" sz="1800" b="1" i="0" u="none" strike="noStrike">
                <a:solidFill>
                  <a:srgbClr val="FFFFFF"/>
                </a:solidFill>
                <a:latin typeface="等线" panose="02010600030101010101" charset="-122"/>
                <a:ea typeface="等线" panose="02010600030101010101" charset="-122"/>
                <a:cs typeface="等线" panose="02010600030101010101" charset="-122"/>
                <a:sym typeface="等线" panose="02010600030101010101" charset="-122"/>
              </a:rPr>
              <a:t>02</a:t>
            </a:r>
            <a:endParaRPr lang="en-US" sz="1100"/>
          </a:p>
        </p:txBody>
      </p:sp>
      <p:sp>
        <p:nvSpPr>
          <p:cNvPr id="24" name="AutoShape 24"/>
          <p:cNvSpPr/>
          <p:nvPr/>
        </p:nvSpPr>
        <p:spPr>
          <a:xfrm>
            <a:off x="1968500" y="5054600"/>
            <a:ext cx="8661400" cy="1079500"/>
          </a:xfrm>
          <a:prstGeom prst="rect">
            <a:avLst/>
          </a:prstGeom>
          <a:noFill/>
          <a:ln w="12700" cap="flat" cmpd="sng">
            <a:noFill/>
            <a:prstDash val="solid"/>
            <a:round/>
          </a:ln>
        </p:spPr>
        <p:txBody>
          <a:bodyPr vert="horz" wrap="square" lIns="88900" tIns="50800" rIns="88900" bIns="50800" rtlCol="0" anchor="t" anchorCtr="0"/>
          <a:lstStyle/>
          <a:p>
            <a:pPr indent="0" algn="l">
              <a:lnSpc>
                <a:spcPct val="117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达成设计目标：</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经过实物测试与数据分析，系统整体运行稳定可靠，温湿度测量精度优于预期指标。方案采用高性价比的硬件选型和高效的软件设计，成功实现了低成本、易操作、高性价比的设计初衷，具有良好的农业推广应用潜力。</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140970" y="107315"/>
            <a:ext cx="3034030" cy="491490"/>
          </a:xfrm>
          <a:prstGeom prst="rect">
            <a:avLst/>
          </a:prstGeom>
          <a:noFill/>
          <a:ln>
            <a:noFill/>
          </a:ln>
        </p:spPr>
      </p:pic>
      <p:grpSp>
        <p:nvGrpSpPr>
          <p:cNvPr id="38" name="组合 37"/>
          <p:cNvGrpSpPr/>
          <p:nvPr/>
        </p:nvGrpSpPr>
        <p:grpSpPr>
          <a:xfrm>
            <a:off x="3378200" y="635"/>
            <a:ext cx="8308975" cy="786130"/>
            <a:chOff x="5320" y="1"/>
            <a:chExt cx="13085" cy="1238"/>
          </a:xfrm>
        </p:grpSpPr>
        <p:grpSp>
          <p:nvGrpSpPr>
            <p:cNvPr id="36" name="组合 35"/>
            <p:cNvGrpSpPr/>
            <p:nvPr/>
          </p:nvGrpSpPr>
          <p:grpSpPr>
            <a:xfrm rot="0">
              <a:off x="5320" y="1"/>
              <a:ext cx="13085" cy="1238"/>
              <a:chOff x="5320" y="1"/>
              <a:chExt cx="13085" cy="1238"/>
            </a:xfrm>
          </p:grpSpPr>
          <p:sp>
            <p:nvSpPr>
              <p:cNvPr id="39" name="AutoShape 10"/>
              <p:cNvSpPr/>
              <p:nvPr/>
            </p:nvSpPr>
            <p:spPr>
              <a:xfrm>
                <a:off x="16031" y="1"/>
                <a:ext cx="2374" cy="1239"/>
              </a:xfrm>
              <a:prstGeom prst="rect">
                <a:avLst/>
              </a:prstGeom>
              <a:solidFill>
                <a:srgbClr val="7030A0"/>
              </a:solidFill>
              <a:ln w="25400" cap="flat" cmpd="sng">
                <a:noFill/>
                <a:prstDash val="solid"/>
                <a:round/>
              </a:ln>
            </p:spPr>
            <p:txBody>
              <a:bodyPr vert="horz" wrap="square" lIns="63500" tIns="63500" rIns="63500" bIns="63500" rtlCol="0" anchor="ctr" anchorCtr="0">
                <a:noAutofit/>
              </a:bodyPr>
              <a:lstStyle/>
              <a:p>
                <a:pPr lvl="0" algn="ctr">
                  <a:buSzTx/>
                  <a:defRPr/>
                </a:pP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grpSp>
            <p:nvGrpSpPr>
              <p:cNvPr id="35" name="组合 34"/>
              <p:cNvGrpSpPr/>
              <p:nvPr/>
            </p:nvGrpSpPr>
            <p:grpSpPr>
              <a:xfrm>
                <a:off x="5320" y="340"/>
                <a:ext cx="10160" cy="540"/>
                <a:chOff x="5320" y="340"/>
                <a:chExt cx="10160" cy="540"/>
              </a:xfrm>
            </p:grpSpPr>
            <p:cxnSp>
              <p:nvCxnSpPr>
                <p:cNvPr id="16" name="Connector 16"/>
                <p:cNvCxnSpPr/>
                <p:nvPr/>
              </p:nvCxnSpPr>
              <p:spPr>
                <a:xfrm rot="5038714">
                  <a:off x="12940" y="680"/>
                  <a:ext cx="381"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34" name="组合 33"/>
                <p:cNvGrpSpPr/>
                <p:nvPr/>
              </p:nvGrpSpPr>
              <p:grpSpPr>
                <a:xfrm>
                  <a:off x="5320" y="340"/>
                  <a:ext cx="10160" cy="540"/>
                  <a:chOff x="5320" y="340"/>
                  <a:chExt cx="10160" cy="540"/>
                </a:xfrm>
              </p:grpSpPr>
              <p:grpSp>
                <p:nvGrpSpPr>
                  <p:cNvPr id="33" name="组合 32"/>
                  <p:cNvGrpSpPr/>
                  <p:nvPr/>
                </p:nvGrpSpPr>
                <p:grpSpPr>
                  <a:xfrm>
                    <a:off x="5320" y="340"/>
                    <a:ext cx="7480" cy="540"/>
                    <a:chOff x="5320" y="340"/>
                    <a:chExt cx="7480" cy="540"/>
                  </a:xfrm>
                </p:grpSpPr>
                <p:cxnSp>
                  <p:nvCxnSpPr>
                    <p:cNvPr id="15" name="Connector 15"/>
                    <p:cNvCxnSpPr/>
                    <p:nvPr/>
                  </p:nvCxnSpPr>
                  <p:spPr>
                    <a:xfrm rot="5056725">
                      <a:off x="10250" y="630"/>
                      <a:ext cx="400"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29" name="组合 28"/>
                    <p:cNvGrpSpPr/>
                    <p:nvPr/>
                  </p:nvGrpSpPr>
                  <p:grpSpPr>
                    <a:xfrm>
                      <a:off x="5320" y="340"/>
                      <a:ext cx="7480" cy="540"/>
                      <a:chOff x="5320" y="340"/>
                      <a:chExt cx="7480" cy="540"/>
                    </a:xfrm>
                  </p:grpSpPr>
                  <p:grpSp>
                    <p:nvGrpSpPr>
                      <p:cNvPr id="28" name="组合 27"/>
                      <p:cNvGrpSpPr/>
                      <p:nvPr/>
                    </p:nvGrpSpPr>
                    <p:grpSpPr>
                      <a:xfrm>
                        <a:off x="5320" y="340"/>
                        <a:ext cx="4800" cy="540"/>
                        <a:chOff x="5320" y="340"/>
                        <a:chExt cx="4800" cy="540"/>
                      </a:xfrm>
                    </p:grpSpPr>
                    <p:cxnSp>
                      <p:nvCxnSpPr>
                        <p:cNvPr id="14" name="Connector 14"/>
                        <p:cNvCxnSpPr/>
                        <p:nvPr/>
                      </p:nvCxnSpPr>
                      <p:spPr>
                        <a:xfrm rot="5056725">
                          <a:off x="7570" y="630"/>
                          <a:ext cx="400"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27" name="组合 26"/>
                        <p:cNvGrpSpPr/>
                        <p:nvPr/>
                      </p:nvGrpSpPr>
                      <p:grpSpPr>
                        <a:xfrm>
                          <a:off x="5320" y="340"/>
                          <a:ext cx="4800" cy="540"/>
                          <a:chOff x="5320" y="340"/>
                          <a:chExt cx="4800" cy="540"/>
                        </a:xfrm>
                      </p:grpSpPr>
                      <p:sp>
                        <p:nvSpPr>
                          <p:cNvPr id="5" name="AutoShape 5"/>
                          <p:cNvSpPr/>
                          <p:nvPr/>
                        </p:nvSpPr>
                        <p:spPr>
                          <a:xfrm>
                            <a:off x="532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30" name="AutoShape 8"/>
                          <p:cNvSpPr/>
                          <p:nvPr/>
                        </p:nvSpPr>
                        <p:spPr>
                          <a:xfrm>
                            <a:off x="800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grpSp>
                  </p:grpSp>
                  <p:sp>
                    <p:nvSpPr>
                      <p:cNvPr id="31" name="AutoShape 9"/>
                      <p:cNvSpPr/>
                      <p:nvPr/>
                    </p:nvSpPr>
                    <p:spPr>
                      <a:xfrm>
                        <a:off x="1068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grpSp>
              </p:grpSp>
              <p:sp>
                <p:nvSpPr>
                  <p:cNvPr id="25" name="AutoShape 10"/>
                  <p:cNvSpPr/>
                  <p:nvPr/>
                </p:nvSpPr>
                <p:spPr>
                  <a:xfrm>
                    <a:off x="1336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grpSp>
          </p:grpSp>
        </p:grpSp>
        <p:cxnSp>
          <p:nvCxnSpPr>
            <p:cNvPr id="32" name="Connector 6"/>
            <p:cNvCxnSpPr/>
            <p:nvPr/>
          </p:nvCxnSpPr>
          <p:spPr>
            <a:xfrm flipH="1">
              <a:off x="15751" y="440"/>
              <a:ext cx="9" cy="413"/>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sp>
        <p:nvSpPr>
          <p:cNvPr id="4"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11" name="Connector 11"/>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2" name="AutoShape 12"/>
          <p:cNvSpPr/>
          <p:nvPr/>
        </p:nvSpPr>
        <p:spPr>
          <a:xfrm>
            <a:off x="571500" y="1104900"/>
            <a:ext cx="2032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亮点与不足</a:t>
            </a:r>
            <a:endParaRPr lang="en-US" sz="1100"/>
          </a:p>
        </p:txBody>
      </p:sp>
      <p:cxnSp>
        <p:nvCxnSpPr>
          <p:cNvPr id="13" name="Connector 13"/>
          <p:cNvCxnSpPr/>
          <p:nvPr/>
        </p:nvCxnSpPr>
        <p:spPr>
          <a:xfrm rot="5056725">
            <a:off x="310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7" name="Freeform 17"/>
          <p:cNvSpPr/>
          <p:nvPr/>
        </p:nvSpPr>
        <p:spPr>
          <a:xfrm>
            <a:off x="5410200" y="2184400"/>
            <a:ext cx="3579932" cy="1408815"/>
          </a:xfrm>
          <a:custGeom>
            <a:avLst/>
            <a:gdLst/>
            <a:ahLst/>
            <a:cxnLst/>
            <a:rect l="l" t="t" r="r" b="b"/>
            <a:pathLst>
              <a:path w="3579932" h="1408815">
                <a:moveTo>
                  <a:pt x="3151796" y="0"/>
                </a:moveTo>
                <a:lnTo>
                  <a:pt x="3579932" y="428111"/>
                </a:lnTo>
                <a:lnTo>
                  <a:pt x="3151796" y="856220"/>
                </a:lnTo>
                <a:lnTo>
                  <a:pt x="3151796" y="642165"/>
                </a:lnTo>
                <a:lnTo>
                  <a:pt x="1207004" y="642165"/>
                </a:lnTo>
                <a:lnTo>
                  <a:pt x="1206975" y="643689"/>
                </a:lnTo>
                <a:cubicBezTo>
                  <a:pt x="1001671" y="640023"/>
                  <a:pt x="803504" y="719009"/>
                  <a:pt x="657019" y="862895"/>
                </a:cubicBezTo>
                <a:cubicBezTo>
                  <a:pt x="510532" y="1006779"/>
                  <a:pt x="428017" y="1203491"/>
                  <a:pt x="428017" y="1408815"/>
                </a:cubicBezTo>
                <a:lnTo>
                  <a:pt x="0" y="1408815"/>
                </a:lnTo>
                <a:cubicBezTo>
                  <a:pt x="0" y="1088657"/>
                  <a:pt x="128666" y="781925"/>
                  <a:pt x="357078" y="557569"/>
                </a:cubicBezTo>
                <a:cubicBezTo>
                  <a:pt x="528390" y="389302"/>
                  <a:pt x="745026" y="277957"/>
                  <a:pt x="977693" y="235213"/>
                </a:cubicBezTo>
                <a:lnTo>
                  <a:pt x="1193309" y="217517"/>
                </a:lnTo>
                <a:lnTo>
                  <a:pt x="1193309" y="214055"/>
                </a:lnTo>
                <a:lnTo>
                  <a:pt x="3151796" y="214055"/>
                </a:lnTo>
                <a:close/>
              </a:path>
            </a:pathLst>
          </a:custGeom>
          <a:solidFill>
            <a:srgbClr val="00B0F0">
              <a:alpha val="100000"/>
            </a:srgbClr>
          </a:solidFill>
          <a:ln w="25400" cap="flat" cmpd="sng">
            <a:noFill/>
            <a:prstDash val="solid"/>
            <a:round/>
          </a:ln>
          <a:effectLst>
            <a:reflection blurRad="6350" stA="52000" endA="300" endPos="35000" dir="5400000" sy="-100000" algn="bl" rotWithShape="0"/>
          </a:effectLst>
        </p:spPr>
        <p:txBody>
          <a:bodyPr vert="horz" wrap="square" lIns="63500" tIns="63500" rIns="63500" bIns="63500" rtlCol="0" anchor="ctr"/>
          <a:lstStyle/>
          <a:p>
            <a:pPr algn="ctr">
              <a:defRPr/>
            </a:pPr>
          </a:p>
        </p:txBody>
      </p:sp>
      <p:sp>
        <p:nvSpPr>
          <p:cNvPr id="18" name="Freeform 18"/>
          <p:cNvSpPr/>
          <p:nvPr/>
        </p:nvSpPr>
        <p:spPr>
          <a:xfrm rot="10800000" flipV="1">
            <a:off x="2895600" y="2184400"/>
            <a:ext cx="3579932" cy="1408815"/>
          </a:xfrm>
          <a:custGeom>
            <a:avLst/>
            <a:gdLst/>
            <a:ahLst/>
            <a:cxnLst/>
            <a:rect l="l" t="t" r="r" b="b"/>
            <a:pathLst>
              <a:path w="3579932" h="1408815">
                <a:moveTo>
                  <a:pt x="3151796" y="0"/>
                </a:moveTo>
                <a:lnTo>
                  <a:pt x="3579932" y="428111"/>
                </a:lnTo>
                <a:lnTo>
                  <a:pt x="3151796" y="856220"/>
                </a:lnTo>
                <a:lnTo>
                  <a:pt x="3151796" y="642165"/>
                </a:lnTo>
                <a:lnTo>
                  <a:pt x="1207004" y="642165"/>
                </a:lnTo>
                <a:lnTo>
                  <a:pt x="1206975" y="643689"/>
                </a:lnTo>
                <a:cubicBezTo>
                  <a:pt x="1001671" y="640023"/>
                  <a:pt x="803504" y="719009"/>
                  <a:pt x="657019" y="862895"/>
                </a:cubicBezTo>
                <a:cubicBezTo>
                  <a:pt x="510532" y="1006779"/>
                  <a:pt x="428017" y="1203491"/>
                  <a:pt x="428017" y="1408815"/>
                </a:cubicBezTo>
                <a:lnTo>
                  <a:pt x="0" y="1408815"/>
                </a:lnTo>
                <a:cubicBezTo>
                  <a:pt x="0" y="1088657"/>
                  <a:pt x="128666" y="781925"/>
                  <a:pt x="357078" y="557569"/>
                </a:cubicBezTo>
                <a:cubicBezTo>
                  <a:pt x="528390" y="389302"/>
                  <a:pt x="745026" y="277957"/>
                  <a:pt x="977693" y="235213"/>
                </a:cubicBezTo>
                <a:lnTo>
                  <a:pt x="1193309" y="217517"/>
                </a:lnTo>
                <a:lnTo>
                  <a:pt x="1193309" y="214055"/>
                </a:lnTo>
                <a:lnTo>
                  <a:pt x="3151796" y="214055"/>
                </a:lnTo>
                <a:close/>
              </a:path>
            </a:pathLst>
          </a:custGeom>
          <a:solidFill>
            <a:srgbClr val="0070C0">
              <a:alpha val="100000"/>
            </a:srgbClr>
          </a:solidFill>
          <a:ln w="25400" cap="flat" cmpd="sng">
            <a:noFill/>
            <a:prstDash val="solid"/>
            <a:round/>
          </a:ln>
          <a:effectLst>
            <a:reflection blurRad="6350" stA="52000" endA="300" endPos="35000" dir="5400000" sy="-100000" algn="bl" rotWithShape="0"/>
          </a:effectLst>
        </p:spPr>
        <p:txBody>
          <a:bodyPr vert="horz" wrap="square" lIns="63500" tIns="63500" rIns="63500" bIns="63500" rtlCol="0" anchor="ctr"/>
          <a:lstStyle/>
          <a:p>
            <a:pPr algn="ctr">
              <a:defRPr/>
            </a:pPr>
          </a:p>
        </p:txBody>
      </p:sp>
      <p:sp>
        <p:nvSpPr>
          <p:cNvPr id="19" name="Freeform 19"/>
          <p:cNvSpPr/>
          <p:nvPr/>
        </p:nvSpPr>
        <p:spPr>
          <a:xfrm rot="10800000">
            <a:off x="5232400" y="3563174"/>
            <a:ext cx="1273288" cy="1198766"/>
          </a:xfrm>
          <a:custGeom>
            <a:avLst/>
            <a:gdLst/>
            <a:ahLst/>
            <a:cxnLst/>
            <a:rect l="l" t="t" r="r" b="b"/>
            <a:pathLst>
              <a:path w="1273288" h="1198766">
                <a:moveTo>
                  <a:pt x="0" y="1198766"/>
                </a:moveTo>
                <a:cubicBezTo>
                  <a:pt x="0" y="878607"/>
                  <a:pt x="128665" y="571875"/>
                  <a:pt x="357078" y="347519"/>
                </a:cubicBezTo>
                <a:cubicBezTo>
                  <a:pt x="585492" y="123161"/>
                  <a:pt x="894489" y="0"/>
                  <a:pt x="1214615" y="5718"/>
                </a:cubicBezTo>
                <a:cubicBezTo>
                  <a:pt x="1248505" y="139248"/>
                  <a:pt x="1273288" y="304662"/>
                  <a:pt x="1206975" y="433639"/>
                </a:cubicBezTo>
                <a:cubicBezTo>
                  <a:pt x="1001671" y="429973"/>
                  <a:pt x="803504" y="508959"/>
                  <a:pt x="657019" y="652845"/>
                </a:cubicBezTo>
                <a:cubicBezTo>
                  <a:pt x="510532" y="796728"/>
                  <a:pt x="428017" y="993442"/>
                  <a:pt x="428017" y="1198766"/>
                </a:cubicBezTo>
                <a:lnTo>
                  <a:pt x="0" y="1198766"/>
                </a:lnTo>
                <a:close/>
              </a:path>
            </a:pathLst>
          </a:custGeom>
          <a:solidFill>
            <a:srgbClr val="0070C0">
              <a:alpha val="100000"/>
            </a:srgbClr>
          </a:solidFill>
          <a:ln w="25400" cap="flat" cmpd="sng">
            <a:noFill/>
            <a:prstDash val="solid"/>
            <a:round/>
          </a:ln>
          <a:effectLst>
            <a:reflection blurRad="6350" stA="52000" endA="300" endPos="35000" dir="5400000" sy="-100000" algn="bl" rotWithShape="0"/>
          </a:effectLst>
        </p:spPr>
        <p:txBody>
          <a:bodyPr vert="horz" wrap="square" lIns="63500" tIns="63500" rIns="63500" bIns="63500" rtlCol="0" anchor="ctr"/>
          <a:lstStyle/>
          <a:p>
            <a:pPr algn="ctr">
              <a:defRPr/>
            </a:pPr>
          </a:p>
        </p:txBody>
      </p:sp>
      <p:sp>
        <p:nvSpPr>
          <p:cNvPr id="20" name="Freeform 20"/>
          <p:cNvSpPr/>
          <p:nvPr/>
        </p:nvSpPr>
        <p:spPr>
          <a:xfrm flipV="1">
            <a:off x="5410200" y="3563174"/>
            <a:ext cx="1273288" cy="1198766"/>
          </a:xfrm>
          <a:custGeom>
            <a:avLst/>
            <a:gdLst/>
            <a:ahLst/>
            <a:cxnLst/>
            <a:rect l="l" t="t" r="r" b="b"/>
            <a:pathLst>
              <a:path w="1273288" h="1198766">
                <a:moveTo>
                  <a:pt x="0" y="1198766"/>
                </a:moveTo>
                <a:cubicBezTo>
                  <a:pt x="0" y="878607"/>
                  <a:pt x="128665" y="571875"/>
                  <a:pt x="357078" y="347519"/>
                </a:cubicBezTo>
                <a:cubicBezTo>
                  <a:pt x="585492" y="123161"/>
                  <a:pt x="894489" y="0"/>
                  <a:pt x="1214615" y="5718"/>
                </a:cubicBezTo>
                <a:cubicBezTo>
                  <a:pt x="1248505" y="139248"/>
                  <a:pt x="1273288" y="304662"/>
                  <a:pt x="1206975" y="433639"/>
                </a:cubicBezTo>
                <a:cubicBezTo>
                  <a:pt x="1001671" y="429973"/>
                  <a:pt x="803504" y="508959"/>
                  <a:pt x="657019" y="652845"/>
                </a:cubicBezTo>
                <a:cubicBezTo>
                  <a:pt x="510532" y="796728"/>
                  <a:pt x="428017" y="993442"/>
                  <a:pt x="428017" y="1198766"/>
                </a:cubicBezTo>
                <a:lnTo>
                  <a:pt x="0" y="1198766"/>
                </a:lnTo>
                <a:close/>
              </a:path>
            </a:pathLst>
          </a:custGeom>
          <a:solidFill>
            <a:srgbClr val="00B0F0">
              <a:alpha val="100000"/>
            </a:srgbClr>
          </a:solidFill>
          <a:ln w="25400" cap="flat" cmpd="sng">
            <a:noFill/>
            <a:prstDash val="solid"/>
            <a:round/>
          </a:ln>
          <a:effectLst>
            <a:reflection blurRad="6350" stA="52000" endA="300" endPos="35000" dir="5400000" sy="-100000" algn="bl" rotWithShape="0"/>
          </a:effectLst>
        </p:spPr>
        <p:txBody>
          <a:bodyPr vert="horz" wrap="square" lIns="63500" tIns="63500" rIns="63500" bIns="63500" rtlCol="0" anchor="ctr"/>
          <a:lstStyle/>
          <a:p>
            <a:pPr algn="ctr">
              <a:defRPr/>
            </a:pPr>
          </a:p>
        </p:txBody>
      </p:sp>
      <p:sp>
        <p:nvSpPr>
          <p:cNvPr id="21" name="AutoShape 21"/>
          <p:cNvSpPr/>
          <p:nvPr/>
        </p:nvSpPr>
        <p:spPr>
          <a:xfrm>
            <a:off x="7086600" y="3403600"/>
            <a:ext cx="3810000" cy="2794000"/>
          </a:xfrm>
          <a:prstGeom prst="rect">
            <a:avLst/>
          </a:prstGeom>
          <a:noFill/>
          <a:ln w="12700" cap="flat" cmpd="sng">
            <a:noFill/>
            <a:prstDash val="solid"/>
            <a:round/>
          </a:ln>
        </p:spPr>
        <p:txBody>
          <a:bodyPr vert="horz" wrap="square" lIns="114300" tIns="63500" rIns="114300" bIns="63500" rtlCol="0" anchor="t" anchorCtr="0"/>
          <a:lstStyle/>
          <a:p>
            <a:pPr indent="0" algn="r">
              <a:lnSpc>
                <a:spcPct val="133000"/>
              </a:lnSpc>
              <a:defRPr/>
            </a:pP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1. 仅限本地监控：</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缺少物联网远程访问功能，无法随时随地查看系统状态。</a:t>
            </a:r>
            <a:endParaRPr lang="en-US" sz="1100"/>
          </a:p>
          <a:p>
            <a:pPr indent="0" algn="r">
              <a:lnSpc>
                <a:spcPct val="133000"/>
              </a:lnSpc>
            </a:pP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2. 缺少历史数据回溯：</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系统未配备大容量存储模块，无法记录和分析历史环境数据。</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AutoShape 22"/>
          <p:cNvSpPr/>
          <p:nvPr/>
        </p:nvSpPr>
        <p:spPr>
          <a:xfrm>
            <a:off x="1003300" y="3403600"/>
            <a:ext cx="3759200" cy="2794000"/>
          </a:xfrm>
          <a:prstGeom prst="rect">
            <a:avLst/>
          </a:prstGeom>
          <a:noFill/>
          <a:ln w="12700" cap="flat" cmpd="sng">
            <a:noFill/>
            <a:prstDash val="solid"/>
            <a:round/>
          </a:ln>
        </p:spPr>
        <p:txBody>
          <a:bodyPr vert="horz" wrap="square" lIns="114300" tIns="63500" rIns="114300" bIns="63500" rtlCol="0" anchor="t" anchorCtr="0"/>
          <a:lstStyle/>
          <a:p>
            <a:pPr indent="0" algn="l">
              <a:lnSpc>
                <a:spcPct val="125000"/>
              </a:lnSpc>
              <a:defRPr/>
            </a:pP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1. 实用的掉电存储功能：</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利用STM32内置Flash实现报警阈值永久保存，掉电不丢失。</a:t>
            </a:r>
            <a:endParaRPr lang="en-US" sz="1100"/>
          </a:p>
          <a:p>
            <a:pPr indent="0" algn="l">
              <a:lnSpc>
                <a:spcPct val="125000"/>
              </a:lnSpc>
            </a:pP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2. 实测精度高：</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软硬件协同优化，系统实际温湿度测量精度优于传感器标称值。</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l">
              <a:lnSpc>
                <a:spcPct val="125000"/>
              </a:lnSpc>
            </a:pPr>
            <a:r>
              <a:rPr lang="en-US" sz="14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3. 高性价比：</a:t>
            </a:r>
            <a:r>
              <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选用成熟、通用的电子元器件，在保证性能的同时有效控制成本。</a:t>
            </a:r>
            <a:endParaRPr lang="en-US" sz="14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AutoShape 23"/>
          <p:cNvSpPr/>
          <p:nvPr/>
        </p:nvSpPr>
        <p:spPr>
          <a:xfrm>
            <a:off x="1003300" y="2324100"/>
            <a:ext cx="1549400" cy="5080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7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亮点之处</a:t>
            </a:r>
            <a:endParaRPr lang="en-US" sz="1100"/>
          </a:p>
        </p:txBody>
      </p:sp>
      <p:sp>
        <p:nvSpPr>
          <p:cNvPr id="24" name="AutoShape 24"/>
          <p:cNvSpPr/>
          <p:nvPr/>
        </p:nvSpPr>
        <p:spPr>
          <a:xfrm>
            <a:off x="9283700" y="2286000"/>
            <a:ext cx="1549400" cy="508000"/>
          </a:xfrm>
          <a:prstGeom prst="roundRect">
            <a:avLst>
              <a:gd name="adj" fmla="val 0"/>
            </a:avLst>
          </a:prstGeom>
          <a:noFill/>
          <a:ln w="25400" cap="flat" cmpd="sng">
            <a:noFill/>
            <a:prstDash val="solid"/>
            <a:round/>
          </a:ln>
        </p:spPr>
        <p:txBody>
          <a:bodyPr vert="horz" wrap="none" lIns="88900" tIns="50800" rIns="88900" bIns="50800" rtlCol="0" anchor="t" anchorCtr="0"/>
          <a:lstStyle/>
          <a:p>
            <a:pPr indent="0" algn="l">
              <a:lnSpc>
                <a:spcPct val="100000"/>
              </a:lnSpc>
              <a:defRPr/>
            </a:pPr>
            <a:r>
              <a:rPr lang="en-US" sz="2700" b="1" i="0" u="none" strike="noStrike">
                <a:solidFill>
                  <a:srgbClr val="404040"/>
                </a:solidFill>
                <a:latin typeface="微软雅黑" panose="020B0503020204020204" charset="-122"/>
                <a:ea typeface="微软雅黑" panose="020B0503020204020204" charset="-122"/>
                <a:cs typeface="微软雅黑" panose="020B0503020204020204" charset="-122"/>
                <a:sym typeface="微软雅黑" panose="020B0503020204020204" charset="-122"/>
              </a:rPr>
              <a:t>不足之处</a:t>
            </a:r>
            <a:endParaRPr lang="en-US" sz="1100"/>
          </a:p>
        </p:txBody>
      </p:sp>
      <p:pic>
        <p:nvPicPr>
          <p:cNvPr id="87" name="图片 1" descr="lQLPDhrGSL3Q8RPNAUXNB_Gw-UljzDPDeBW9Elf1rMOXFg_2033_325"/>
          <p:cNvPicPr>
            <a:picLocks noChangeAspect="1"/>
          </p:cNvPicPr>
          <p:nvPr/>
        </p:nvPicPr>
        <p:blipFill>
          <a:blip r:embed="rId1"/>
          <a:stretch>
            <a:fillRect/>
          </a:stretch>
        </p:blipFill>
        <p:spPr>
          <a:xfrm>
            <a:off x="140970" y="107315"/>
            <a:ext cx="3034030" cy="491490"/>
          </a:xfrm>
          <a:prstGeom prst="rect">
            <a:avLst/>
          </a:prstGeom>
          <a:noFill/>
          <a:ln>
            <a:noFill/>
          </a:ln>
        </p:spPr>
      </p:pic>
      <p:grpSp>
        <p:nvGrpSpPr>
          <p:cNvPr id="38" name="组合 37"/>
          <p:cNvGrpSpPr/>
          <p:nvPr/>
        </p:nvGrpSpPr>
        <p:grpSpPr>
          <a:xfrm>
            <a:off x="3378200" y="635"/>
            <a:ext cx="8308975" cy="786130"/>
            <a:chOff x="5320" y="1"/>
            <a:chExt cx="13085" cy="1238"/>
          </a:xfrm>
        </p:grpSpPr>
        <p:grpSp>
          <p:nvGrpSpPr>
            <p:cNvPr id="36" name="组合 35"/>
            <p:cNvGrpSpPr/>
            <p:nvPr/>
          </p:nvGrpSpPr>
          <p:grpSpPr>
            <a:xfrm rot="0">
              <a:off x="5320" y="1"/>
              <a:ext cx="13085" cy="1238"/>
              <a:chOff x="5320" y="1"/>
              <a:chExt cx="13085" cy="1238"/>
            </a:xfrm>
          </p:grpSpPr>
          <p:sp>
            <p:nvSpPr>
              <p:cNvPr id="39" name="AutoShape 10"/>
              <p:cNvSpPr/>
              <p:nvPr/>
            </p:nvSpPr>
            <p:spPr>
              <a:xfrm>
                <a:off x="16031" y="1"/>
                <a:ext cx="2374" cy="1239"/>
              </a:xfrm>
              <a:prstGeom prst="rect">
                <a:avLst/>
              </a:prstGeom>
              <a:solidFill>
                <a:srgbClr val="7030A0"/>
              </a:solidFill>
              <a:ln w="25400" cap="flat" cmpd="sng">
                <a:noFill/>
                <a:prstDash val="solid"/>
                <a:round/>
              </a:ln>
            </p:spPr>
            <p:txBody>
              <a:bodyPr vert="horz" wrap="square" lIns="63500" tIns="63500" rIns="63500" bIns="63500" rtlCol="0" anchor="ctr" anchorCtr="0">
                <a:noAutofit/>
              </a:bodyPr>
              <a:lstStyle/>
              <a:p>
                <a:pPr lvl="0" algn="ctr">
                  <a:buSzTx/>
                  <a:defRPr/>
                </a:pP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grpSp>
            <p:nvGrpSpPr>
              <p:cNvPr id="35" name="组合 34"/>
              <p:cNvGrpSpPr/>
              <p:nvPr/>
            </p:nvGrpSpPr>
            <p:grpSpPr>
              <a:xfrm>
                <a:off x="5320" y="340"/>
                <a:ext cx="10160" cy="540"/>
                <a:chOff x="5320" y="340"/>
                <a:chExt cx="10160" cy="540"/>
              </a:xfrm>
            </p:grpSpPr>
            <p:cxnSp>
              <p:nvCxnSpPr>
                <p:cNvPr id="25" name="Connector 16"/>
                <p:cNvCxnSpPr/>
                <p:nvPr/>
              </p:nvCxnSpPr>
              <p:spPr>
                <a:xfrm rot="5038714">
                  <a:off x="12940" y="680"/>
                  <a:ext cx="381"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34" name="组合 33"/>
                <p:cNvGrpSpPr/>
                <p:nvPr/>
              </p:nvGrpSpPr>
              <p:grpSpPr>
                <a:xfrm>
                  <a:off x="5320" y="340"/>
                  <a:ext cx="10160" cy="540"/>
                  <a:chOff x="5320" y="340"/>
                  <a:chExt cx="10160" cy="540"/>
                </a:xfrm>
              </p:grpSpPr>
              <p:grpSp>
                <p:nvGrpSpPr>
                  <p:cNvPr id="33" name="组合 32"/>
                  <p:cNvGrpSpPr/>
                  <p:nvPr/>
                </p:nvGrpSpPr>
                <p:grpSpPr>
                  <a:xfrm>
                    <a:off x="5320" y="340"/>
                    <a:ext cx="7480" cy="540"/>
                    <a:chOff x="5320" y="340"/>
                    <a:chExt cx="7480" cy="540"/>
                  </a:xfrm>
                </p:grpSpPr>
                <p:cxnSp>
                  <p:nvCxnSpPr>
                    <p:cNvPr id="26" name="Connector 15"/>
                    <p:cNvCxnSpPr/>
                    <p:nvPr/>
                  </p:nvCxnSpPr>
                  <p:spPr>
                    <a:xfrm rot="5056725">
                      <a:off x="10250" y="630"/>
                      <a:ext cx="400"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29" name="组合 28"/>
                    <p:cNvGrpSpPr/>
                    <p:nvPr/>
                  </p:nvGrpSpPr>
                  <p:grpSpPr>
                    <a:xfrm>
                      <a:off x="5320" y="340"/>
                      <a:ext cx="7480" cy="540"/>
                      <a:chOff x="5320" y="340"/>
                      <a:chExt cx="7480" cy="540"/>
                    </a:xfrm>
                  </p:grpSpPr>
                  <p:grpSp>
                    <p:nvGrpSpPr>
                      <p:cNvPr id="28" name="组合 27"/>
                      <p:cNvGrpSpPr/>
                      <p:nvPr/>
                    </p:nvGrpSpPr>
                    <p:grpSpPr>
                      <a:xfrm>
                        <a:off x="5320" y="340"/>
                        <a:ext cx="4800" cy="540"/>
                        <a:chOff x="5320" y="340"/>
                        <a:chExt cx="4800" cy="540"/>
                      </a:xfrm>
                    </p:grpSpPr>
                    <p:cxnSp>
                      <p:nvCxnSpPr>
                        <p:cNvPr id="27" name="Connector 14"/>
                        <p:cNvCxnSpPr/>
                        <p:nvPr/>
                      </p:nvCxnSpPr>
                      <p:spPr>
                        <a:xfrm rot="5056725">
                          <a:off x="7570" y="630"/>
                          <a:ext cx="400"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30" name="组合 29"/>
                        <p:cNvGrpSpPr/>
                        <p:nvPr/>
                      </p:nvGrpSpPr>
                      <p:grpSpPr>
                        <a:xfrm>
                          <a:off x="5320" y="340"/>
                          <a:ext cx="4800" cy="540"/>
                          <a:chOff x="5320" y="340"/>
                          <a:chExt cx="4800" cy="540"/>
                        </a:xfrm>
                      </p:grpSpPr>
                      <p:sp>
                        <p:nvSpPr>
                          <p:cNvPr id="31" name="AutoShape 5"/>
                          <p:cNvSpPr/>
                          <p:nvPr/>
                        </p:nvSpPr>
                        <p:spPr>
                          <a:xfrm>
                            <a:off x="532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32" name="AutoShape 8"/>
                          <p:cNvSpPr/>
                          <p:nvPr/>
                        </p:nvSpPr>
                        <p:spPr>
                          <a:xfrm>
                            <a:off x="800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grpSp>
                  </p:grpSp>
                  <p:sp>
                    <p:nvSpPr>
                      <p:cNvPr id="40" name="AutoShape 9"/>
                      <p:cNvSpPr/>
                      <p:nvPr/>
                    </p:nvSpPr>
                    <p:spPr>
                      <a:xfrm>
                        <a:off x="1068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grpSp>
              </p:grpSp>
              <p:sp>
                <p:nvSpPr>
                  <p:cNvPr id="41" name="AutoShape 10"/>
                  <p:cNvSpPr/>
                  <p:nvPr/>
                </p:nvSpPr>
                <p:spPr>
                  <a:xfrm>
                    <a:off x="1336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grpSp>
          </p:grpSp>
        </p:grpSp>
        <p:cxnSp>
          <p:nvCxnSpPr>
            <p:cNvPr id="43" name="Connector 6"/>
            <p:cNvCxnSpPr/>
            <p:nvPr/>
          </p:nvCxnSpPr>
          <p:spPr>
            <a:xfrm flipH="1">
              <a:off x="15751" y="440"/>
              <a:ext cx="9" cy="413"/>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sp>
        <p:nvSpPr>
          <p:cNvPr id="9"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0"/>
            <a:ext cx="12192000" cy="787400"/>
          </a:xfrm>
          <a:prstGeom prst="roundRect">
            <a:avLst>
              <a:gd name="adj" fmla="val 0"/>
            </a:avLst>
          </a:prstGeom>
          <a:solidFill>
            <a:srgbClr val="F2F2F2">
              <a:alpha val="100000"/>
            </a:srgbClr>
          </a:solidFill>
          <a:ln w="25400" cap="flat" cmpd="sng">
            <a:noFill/>
            <a:prstDash val="solid"/>
            <a:round/>
          </a:ln>
          <a:effectLst>
            <a:outerShdw blurRad="228600" dist="50800" dir="5400000" algn="t" rotWithShape="0">
              <a:srgbClr val="000000">
                <a:alpha val="28999"/>
              </a:srgbClr>
            </a:outerShdw>
          </a:effectLst>
        </p:spPr>
        <p:txBody>
          <a:bodyPr vert="horz" wrap="square" lIns="63500" tIns="63500" rIns="63500" bIns="63500" rtlCol="0" anchor="ctr"/>
          <a:lstStyle/>
          <a:p>
            <a:pPr algn="ctr">
              <a:defRPr/>
            </a:pPr>
          </a:p>
        </p:txBody>
      </p:sp>
      <p:cxnSp>
        <p:nvCxnSpPr>
          <p:cNvPr id="11" name="Connector 11"/>
          <p:cNvCxnSpPr/>
          <p:nvPr/>
        </p:nvCxnSpPr>
        <p:spPr>
          <a:xfrm>
            <a:off x="431800" y="1524000"/>
            <a:ext cx="2400334"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
        <p:nvSpPr>
          <p:cNvPr id="12" name="AutoShape 12"/>
          <p:cNvSpPr/>
          <p:nvPr/>
        </p:nvSpPr>
        <p:spPr>
          <a:xfrm>
            <a:off x="508000" y="1104900"/>
            <a:ext cx="2286000" cy="38100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9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 未来发展方向</a:t>
            </a:r>
            <a:endParaRPr lang="en-US" sz="1100"/>
          </a:p>
        </p:txBody>
      </p:sp>
      <p:grpSp>
        <p:nvGrpSpPr>
          <p:cNvPr id="38" name="组合 37"/>
          <p:cNvGrpSpPr/>
          <p:nvPr/>
        </p:nvGrpSpPr>
        <p:grpSpPr>
          <a:xfrm>
            <a:off x="3378200" y="635"/>
            <a:ext cx="8308975" cy="786130"/>
            <a:chOff x="5320" y="1"/>
            <a:chExt cx="13085" cy="1238"/>
          </a:xfrm>
        </p:grpSpPr>
        <p:grpSp>
          <p:nvGrpSpPr>
            <p:cNvPr id="36" name="组合 35"/>
            <p:cNvGrpSpPr/>
            <p:nvPr/>
          </p:nvGrpSpPr>
          <p:grpSpPr>
            <a:xfrm rot="0">
              <a:off x="5320" y="1"/>
              <a:ext cx="13085" cy="1238"/>
              <a:chOff x="5320" y="1"/>
              <a:chExt cx="13085" cy="1238"/>
            </a:xfrm>
          </p:grpSpPr>
          <p:sp>
            <p:nvSpPr>
              <p:cNvPr id="39" name="AutoShape 10"/>
              <p:cNvSpPr/>
              <p:nvPr/>
            </p:nvSpPr>
            <p:spPr>
              <a:xfrm>
                <a:off x="16031" y="1"/>
                <a:ext cx="2374" cy="1239"/>
              </a:xfrm>
              <a:prstGeom prst="rect">
                <a:avLst/>
              </a:prstGeom>
              <a:solidFill>
                <a:srgbClr val="7030A0"/>
              </a:solidFill>
              <a:ln w="25400" cap="flat" cmpd="sng">
                <a:noFill/>
                <a:prstDash val="solid"/>
                <a:round/>
              </a:ln>
            </p:spPr>
            <p:txBody>
              <a:bodyPr vert="horz" wrap="square" lIns="63500" tIns="63500" rIns="63500" bIns="63500" rtlCol="0" anchor="ctr" anchorCtr="0">
                <a:noAutofit/>
              </a:bodyPr>
              <a:lstStyle/>
              <a:p>
                <a:pPr lvl="0" algn="ctr">
                  <a:buSzTx/>
                  <a:defRPr/>
                </a:pPr>
                <a:endParaRPr lang="en-US" sz="1600" b="1">
                  <a:solidFill>
                    <a:srgbClr val="FFFFFF"/>
                  </a:solidFill>
                  <a:latin typeface="微软雅黑" panose="020B0503020204020204" charset="-122"/>
                  <a:ea typeface="微软雅黑" panose="020B0503020204020204" charset="-122"/>
                  <a:cs typeface="微软雅黑" panose="020B0503020204020204" charset="-122"/>
                  <a:sym typeface="等线" panose="02010600030101010101" charset="-122"/>
                </a:endParaRPr>
              </a:p>
            </p:txBody>
          </p:sp>
          <p:grpSp>
            <p:nvGrpSpPr>
              <p:cNvPr id="35" name="组合 34"/>
              <p:cNvGrpSpPr/>
              <p:nvPr/>
            </p:nvGrpSpPr>
            <p:grpSpPr>
              <a:xfrm>
                <a:off x="5320" y="340"/>
                <a:ext cx="10160" cy="540"/>
                <a:chOff x="5320" y="340"/>
                <a:chExt cx="10160" cy="540"/>
              </a:xfrm>
            </p:grpSpPr>
            <p:cxnSp>
              <p:nvCxnSpPr>
                <p:cNvPr id="32" name="Connector 16"/>
                <p:cNvCxnSpPr/>
                <p:nvPr/>
              </p:nvCxnSpPr>
              <p:spPr>
                <a:xfrm rot="5038714">
                  <a:off x="12940" y="680"/>
                  <a:ext cx="381"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34" name="组合 33"/>
                <p:cNvGrpSpPr/>
                <p:nvPr/>
              </p:nvGrpSpPr>
              <p:grpSpPr>
                <a:xfrm>
                  <a:off x="5320" y="340"/>
                  <a:ext cx="10160" cy="540"/>
                  <a:chOff x="5320" y="340"/>
                  <a:chExt cx="10160" cy="540"/>
                </a:xfrm>
              </p:grpSpPr>
              <p:grpSp>
                <p:nvGrpSpPr>
                  <p:cNvPr id="33" name="组合 32"/>
                  <p:cNvGrpSpPr/>
                  <p:nvPr/>
                </p:nvGrpSpPr>
                <p:grpSpPr>
                  <a:xfrm>
                    <a:off x="5320" y="340"/>
                    <a:ext cx="7480" cy="540"/>
                    <a:chOff x="5320" y="340"/>
                    <a:chExt cx="7480" cy="540"/>
                  </a:xfrm>
                </p:grpSpPr>
                <p:cxnSp>
                  <p:nvCxnSpPr>
                    <p:cNvPr id="40" name="Connector 15"/>
                    <p:cNvCxnSpPr/>
                    <p:nvPr/>
                  </p:nvCxnSpPr>
                  <p:spPr>
                    <a:xfrm rot="5056725">
                      <a:off x="10250" y="630"/>
                      <a:ext cx="400"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41" name="组合 40"/>
                    <p:cNvGrpSpPr/>
                    <p:nvPr/>
                  </p:nvGrpSpPr>
                  <p:grpSpPr>
                    <a:xfrm>
                      <a:off x="5320" y="340"/>
                      <a:ext cx="7480" cy="540"/>
                      <a:chOff x="5320" y="340"/>
                      <a:chExt cx="7480" cy="540"/>
                    </a:xfrm>
                  </p:grpSpPr>
                  <p:grpSp>
                    <p:nvGrpSpPr>
                      <p:cNvPr id="42" name="组合 41"/>
                      <p:cNvGrpSpPr/>
                      <p:nvPr/>
                    </p:nvGrpSpPr>
                    <p:grpSpPr>
                      <a:xfrm>
                        <a:off x="5320" y="340"/>
                        <a:ext cx="4800" cy="540"/>
                        <a:chOff x="5320" y="340"/>
                        <a:chExt cx="4800" cy="540"/>
                      </a:xfrm>
                    </p:grpSpPr>
                    <p:cxnSp>
                      <p:nvCxnSpPr>
                        <p:cNvPr id="43" name="Connector 14"/>
                        <p:cNvCxnSpPr/>
                        <p:nvPr/>
                      </p:nvCxnSpPr>
                      <p:spPr>
                        <a:xfrm rot="5056725">
                          <a:off x="7570" y="630"/>
                          <a:ext cx="400" cy="2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nvGrpSpPr>
                        <p:cNvPr id="44" name="组合 43"/>
                        <p:cNvGrpSpPr/>
                        <p:nvPr/>
                      </p:nvGrpSpPr>
                      <p:grpSpPr>
                        <a:xfrm>
                          <a:off x="5320" y="340"/>
                          <a:ext cx="4800" cy="540"/>
                          <a:chOff x="5320" y="340"/>
                          <a:chExt cx="4800" cy="540"/>
                        </a:xfrm>
                      </p:grpSpPr>
                      <p:sp>
                        <p:nvSpPr>
                          <p:cNvPr id="45" name="AutoShape 5"/>
                          <p:cNvSpPr/>
                          <p:nvPr/>
                        </p:nvSpPr>
                        <p:spPr>
                          <a:xfrm>
                            <a:off x="532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绪论背景</a:t>
                            </a:r>
                            <a:endParaRPr lang="en-US" sz="1100"/>
                          </a:p>
                        </p:txBody>
                      </p:sp>
                      <p:sp>
                        <p:nvSpPr>
                          <p:cNvPr id="46" name="AutoShape 8"/>
                          <p:cNvSpPr/>
                          <p:nvPr/>
                        </p:nvSpPr>
                        <p:spPr>
                          <a:xfrm>
                            <a:off x="800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总体方案设计</a:t>
                            </a:r>
                            <a:endParaRPr lang="en-US" sz="1100"/>
                          </a:p>
                        </p:txBody>
                      </p:sp>
                    </p:grpSp>
                  </p:grpSp>
                  <p:sp>
                    <p:nvSpPr>
                      <p:cNvPr id="47" name="AutoShape 9"/>
                      <p:cNvSpPr/>
                      <p:nvPr/>
                    </p:nvSpPr>
                    <p:spPr>
                      <a:xfrm>
                        <a:off x="1068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硬件软件设计</a:t>
                        </a:r>
                        <a:endParaRPr lang="en-US" sz="1600" b="1">
                          <a:solidFill>
                            <a:srgbClr val="808080"/>
                          </a:solidFill>
                          <a:latin typeface="微软雅黑" panose="020B0503020204020204" charset="-122"/>
                          <a:ea typeface="微软雅黑" panose="020B0503020204020204" charset="-122"/>
                          <a:cs typeface="微软雅黑" panose="020B0503020204020204" charset="-122"/>
                        </a:endParaRPr>
                      </a:p>
                    </p:txBody>
                  </p:sp>
                </p:grpSp>
              </p:grpSp>
              <p:sp>
                <p:nvSpPr>
                  <p:cNvPr id="48" name="AutoShape 10"/>
                  <p:cNvSpPr/>
                  <p:nvPr/>
                </p:nvSpPr>
                <p:spPr>
                  <a:xfrm>
                    <a:off x="13360" y="340"/>
                    <a:ext cx="2120" cy="540"/>
                  </a:xfrm>
                  <a:prstGeom prst="rect">
                    <a:avLst/>
                  </a:prstGeom>
                  <a:noFill/>
                  <a:ln w="12700" cap="flat" cmpd="sng">
                    <a:noFill/>
                    <a:prstDash val="solid"/>
                    <a:round/>
                  </a:ln>
                </p:spPr>
                <p:txBody>
                  <a:bodyPr vert="horz" wrap="square" lIns="0" tIns="50800" rIns="0" bIns="50800" rtlCol="0" anchor="t" anchorCtr="0"/>
                  <a:lstStyle/>
                  <a:p>
                    <a:pPr indent="0" algn="ctr">
                      <a:lnSpc>
                        <a:spcPct val="100000"/>
                      </a:lnSpc>
                      <a:defRPr/>
                    </a:pPr>
                    <a:r>
                      <a:rPr lang="en-US" sz="1600" b="1">
                        <a:solidFill>
                          <a:srgbClr val="595959"/>
                        </a:solidFill>
                        <a:latin typeface="微软雅黑" panose="020B0503020204020204" charset="-122"/>
                        <a:ea typeface="微软雅黑" panose="020B0503020204020204" charset="-122"/>
                        <a:cs typeface="微软雅黑" panose="020B0503020204020204" charset="-122"/>
                        <a:sym typeface="等线" panose="02010600030101010101" charset="-122"/>
                      </a:rPr>
                      <a:t>测试与验证</a:t>
                    </a:r>
                    <a:endParaRPr lang="en-US" sz="1100"/>
                  </a:p>
                </p:txBody>
              </p:sp>
            </p:grpSp>
          </p:grpSp>
        </p:grpSp>
        <p:cxnSp>
          <p:nvCxnSpPr>
            <p:cNvPr id="50" name="Connector 6"/>
            <p:cNvCxnSpPr/>
            <p:nvPr/>
          </p:nvCxnSpPr>
          <p:spPr>
            <a:xfrm flipH="1">
              <a:off x="15751" y="440"/>
              <a:ext cx="9" cy="413"/>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grpSp>
      <p:pic>
        <p:nvPicPr>
          <p:cNvPr id="87" name="图片 1" descr="lQLPDhrGSL3Q8RPNAUXNB_Gw-UljzDPDeBW9Elf1rMOXFg_2033_325"/>
          <p:cNvPicPr>
            <a:picLocks noChangeAspect="1"/>
          </p:cNvPicPr>
          <p:nvPr/>
        </p:nvPicPr>
        <p:blipFill>
          <a:blip r:embed="rId1"/>
          <a:stretch>
            <a:fillRect/>
          </a:stretch>
        </p:blipFill>
        <p:spPr>
          <a:xfrm>
            <a:off x="140970" y="107315"/>
            <a:ext cx="3034030" cy="491490"/>
          </a:xfrm>
          <a:prstGeom prst="rect">
            <a:avLst/>
          </a:prstGeom>
          <a:noFill/>
          <a:ln>
            <a:noFill/>
          </a:ln>
        </p:spPr>
      </p:pic>
      <p:sp>
        <p:nvSpPr>
          <p:cNvPr id="9" name="AutoShape 9"/>
          <p:cNvSpPr/>
          <p:nvPr/>
        </p:nvSpPr>
        <p:spPr>
          <a:xfrm>
            <a:off x="10181590" y="215900"/>
            <a:ext cx="1346200" cy="3429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总结展望</a:t>
            </a:r>
            <a:endParaRPr lang="en-US" sz="1600" b="1">
              <a:solidFill>
                <a:srgbClr val="595959"/>
              </a:solidFill>
              <a:latin typeface="微软雅黑" panose="020B0503020204020204" charset="-122"/>
              <a:ea typeface="微软雅黑" panose="020B0503020204020204" charset="-122"/>
              <a:cs typeface="微软雅黑" panose="020B0503020204020204" charset="-122"/>
            </a:endParaRPr>
          </a:p>
        </p:txBody>
      </p:sp>
      <p:grpSp>
        <p:nvGrpSpPr>
          <p:cNvPr id="51" name="组合 50"/>
          <p:cNvGrpSpPr/>
          <p:nvPr>
            <p:custDataLst>
              <p:tags r:id="rId2"/>
            </p:custDataLst>
          </p:nvPr>
        </p:nvGrpSpPr>
        <p:grpSpPr>
          <a:xfrm>
            <a:off x="1339492" y="1683332"/>
            <a:ext cx="8801566" cy="1513840"/>
            <a:chOff x="1339492" y="1216903"/>
            <a:chExt cx="8801566" cy="1513840"/>
          </a:xfrm>
        </p:grpSpPr>
        <p:sp>
          <p:nvSpPr>
            <p:cNvPr id="52" name="圆角矩形 51"/>
            <p:cNvSpPr/>
            <p:nvPr>
              <p:custDataLst>
                <p:tags r:id="rId3"/>
              </p:custDataLst>
            </p:nvPr>
          </p:nvSpPr>
          <p:spPr>
            <a:xfrm>
              <a:off x="1501058" y="1216903"/>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3" name="流程图: 离页连接符 52"/>
            <p:cNvSpPr/>
            <p:nvPr>
              <p:custDataLst>
                <p:tags r:id="rId4"/>
              </p:custDataLst>
            </p:nvPr>
          </p:nvSpPr>
          <p:spPr>
            <a:xfrm rot="16200000">
              <a:off x="1291871" y="1522904"/>
              <a:ext cx="851242" cy="756000"/>
            </a:xfrm>
            <a:prstGeom prst="flowChartOffpageConnector">
              <a:avLst/>
            </a:prstGeom>
            <a:solidFill>
              <a:srgbClr val="0070C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p:cNvSpPr/>
            <p:nvPr>
              <p:custDataLst>
                <p:tags r:id="rId5"/>
              </p:custDataLst>
            </p:nvPr>
          </p:nvSpPr>
          <p:spPr>
            <a:xfrm>
              <a:off x="1903372" y="1446773"/>
              <a:ext cx="2153285" cy="128397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r>
                <a:rPr lang="en-US" sz="2500" b="1">
                  <a:solidFill>
                    <a:srgbClr val="00B0F0"/>
                  </a:solidFill>
                  <a:latin typeface="微软雅黑" panose="020B0503020204020204" charset="-122"/>
                  <a:ea typeface="微软雅黑" panose="020B0503020204020204" charset="-122"/>
                  <a:cs typeface="微软雅黑" panose="020B0503020204020204" charset="-122"/>
                  <a:sym typeface="微软雅黑" panose="020B0503020204020204" charset="-122"/>
                </a:rPr>
                <a:t>功能升级</a:t>
              </a:r>
              <a:endParaRPr lang="en-US" sz="2500">
                <a:solidFill>
                  <a:srgbClr val="00B0F0"/>
                </a:solidFill>
              </a:endParaRPr>
            </a:p>
            <a:p>
              <a:pPr algn="ctr"/>
              <a:endParaRPr lang="en-US" altLang="en-US" sz="2500" spc="300" dirty="0">
                <a:solidFill>
                  <a:srgbClr val="00B0F0"/>
                </a:solidFill>
                <a:latin typeface="微软雅黑" panose="020B0503020204020204" charset="-122"/>
                <a:ea typeface="微软雅黑" panose="020B0503020204020204" charset="-122"/>
              </a:endParaRPr>
            </a:p>
          </p:txBody>
        </p:sp>
        <p:sp>
          <p:nvSpPr>
            <p:cNvPr id="55" name="矩形 54"/>
            <p:cNvSpPr/>
            <p:nvPr>
              <p:custDataLst>
                <p:tags r:id="rId6"/>
              </p:custDataLst>
            </p:nvPr>
          </p:nvSpPr>
          <p:spPr>
            <a:xfrm>
              <a:off x="4056657" y="1696963"/>
              <a:ext cx="6014085" cy="532130"/>
            </a:xfrm>
            <a:prstGeom prst="rect">
              <a:avLst/>
            </a:prstGeom>
          </p:spPr>
          <p:txBody>
            <a:bodyPr wrap="square">
              <a:noAutofit/>
            </a:bodyPr>
            <a:lstStyle/>
            <a:p>
              <a:pPr indent="0" algn="just">
                <a:lnSpc>
                  <a:spcPct val="108000"/>
                </a:lnSpc>
                <a:defRPr/>
              </a:pPr>
              <a:r>
                <a:rPr lang="en-US" sz="15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替换为更高精度的传感器，并引入FreeRTOS实时操作系统，增强系统并发能力。</a:t>
              </a:r>
              <a:endParaRPr lang="en-US" altLang="en-US" sz="1500" dirty="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6" name="文本框 55"/>
            <p:cNvSpPr txBox="1"/>
            <p:nvPr>
              <p:custDataLst>
                <p:tags r:id="rId7"/>
              </p:custDataLst>
            </p:nvPr>
          </p:nvSpPr>
          <p:spPr>
            <a:xfrm>
              <a:off x="1394458" y="1700848"/>
              <a:ext cx="656484" cy="400110"/>
            </a:xfrm>
            <a:prstGeom prst="rect">
              <a:avLst/>
            </a:prstGeom>
            <a:noFill/>
          </p:spPr>
          <p:txBody>
            <a:bodyPr wrap="square" rtlCol="0">
              <a:spAutoFit/>
            </a:bodyPr>
            <a:lstStyle/>
            <a:p>
              <a:pPr algn="ctr"/>
              <a:r>
                <a:rPr lang="en-US" altLang="zh-CN" sz="2000" b="1" dirty="0">
                  <a:solidFill>
                    <a:schemeClr val="bg1"/>
                  </a:solidFill>
                  <a:latin typeface="微软雅黑" panose="020B0503020204020204" charset="-122"/>
                  <a:ea typeface="微软雅黑" panose="020B0503020204020204" charset="-122"/>
                </a:rPr>
                <a:t>01</a:t>
              </a:r>
              <a:endParaRPr lang="zh-CN" altLang="en-US" sz="2000" b="1" dirty="0">
                <a:solidFill>
                  <a:schemeClr val="bg1"/>
                </a:solidFill>
                <a:latin typeface="微软雅黑" panose="020B0503020204020204" charset="-122"/>
                <a:ea typeface="微软雅黑" panose="020B0503020204020204" charset="-122"/>
              </a:endParaRPr>
            </a:p>
          </p:txBody>
        </p:sp>
      </p:grpSp>
      <p:grpSp>
        <p:nvGrpSpPr>
          <p:cNvPr id="57" name="组合 56"/>
          <p:cNvGrpSpPr/>
          <p:nvPr>
            <p:custDataLst>
              <p:tags r:id="rId8"/>
            </p:custDataLst>
          </p:nvPr>
        </p:nvGrpSpPr>
        <p:grpSpPr>
          <a:xfrm>
            <a:off x="2051577" y="3385816"/>
            <a:ext cx="9223526" cy="1368000"/>
            <a:chOff x="2050942" y="3052737"/>
            <a:chExt cx="9223526" cy="1368000"/>
          </a:xfrm>
        </p:grpSpPr>
        <p:sp>
          <p:nvSpPr>
            <p:cNvPr id="58" name="圆角矩形 57"/>
            <p:cNvSpPr/>
            <p:nvPr>
              <p:custDataLst>
                <p:tags r:id="rId9"/>
              </p:custDataLst>
            </p:nvPr>
          </p:nvSpPr>
          <p:spPr>
            <a:xfrm>
              <a:off x="2213143" y="3052737"/>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流程图: 离页连接符 58"/>
            <p:cNvSpPr/>
            <p:nvPr>
              <p:custDataLst>
                <p:tags r:id="rId10"/>
              </p:custDataLst>
            </p:nvPr>
          </p:nvSpPr>
          <p:spPr>
            <a:xfrm rot="16200000">
              <a:off x="2003321" y="3358736"/>
              <a:ext cx="851242" cy="756000"/>
            </a:xfrm>
            <a:prstGeom prst="flowChartOffpageConnector">
              <a:avLst/>
            </a:prstGeom>
            <a:solidFill>
              <a:srgbClr val="0070C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0" name="矩形 59"/>
            <p:cNvSpPr/>
            <p:nvPr>
              <p:custDataLst>
                <p:tags r:id="rId11"/>
              </p:custDataLst>
            </p:nvPr>
          </p:nvSpPr>
          <p:spPr>
            <a:xfrm>
              <a:off x="2726582" y="3241332"/>
              <a:ext cx="2187575" cy="920750"/>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algn="ctr">
                <a:lnSpc>
                  <a:spcPct val="100000"/>
                </a:lnSpc>
                <a:buSzTx/>
              </a:pPr>
              <a:r>
                <a:rPr lang="en-US" sz="2500" b="1">
                  <a:solidFill>
                    <a:srgbClr val="00B0F0"/>
                  </a:solidFill>
                  <a:latin typeface="微软雅黑" panose="020B0503020204020204" charset="-122"/>
                  <a:ea typeface="微软雅黑" panose="020B0503020204020204" charset="-122"/>
                  <a:cs typeface="微软雅黑" panose="020B0503020204020204" charset="-122"/>
                  <a:sym typeface="微软雅黑" panose="020B0503020204020204" charset="-122"/>
                </a:rPr>
                <a:t>联网扩展</a:t>
              </a:r>
              <a:endParaRPr lang="en-US" sz="2500" b="1">
                <a:solidFill>
                  <a:srgbClr val="00B0F0"/>
                </a:solidFill>
                <a:latin typeface="微软雅黑" panose="020B0503020204020204" charset="-122"/>
                <a:ea typeface="微软雅黑" panose="020B0503020204020204" charset="-122"/>
                <a:cs typeface="微软雅黑" panose="020B0503020204020204" charset="-122"/>
              </a:endParaRPr>
            </a:p>
          </p:txBody>
        </p:sp>
        <p:sp>
          <p:nvSpPr>
            <p:cNvPr id="61" name="矩形 60"/>
            <p:cNvSpPr/>
            <p:nvPr>
              <p:custDataLst>
                <p:tags r:id="rId12"/>
              </p:custDataLst>
            </p:nvPr>
          </p:nvSpPr>
          <p:spPr>
            <a:xfrm>
              <a:off x="4784910" y="3558785"/>
              <a:ext cx="6489558" cy="339725"/>
            </a:xfrm>
            <a:prstGeom prst="rect">
              <a:avLst/>
            </a:prstGeom>
          </p:spPr>
          <p:txBody>
            <a:bodyPr wrap="square">
              <a:spAutoFit/>
            </a:bodyPr>
            <a:lstStyle/>
            <a:p>
              <a:pPr indent="0" algn="just">
                <a:lnSpc>
                  <a:spcPct val="108000"/>
                </a:lnSpc>
                <a:defRPr/>
              </a:pPr>
              <a:r>
                <a:rPr lang="en-US" sz="15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集成Wi-Fi或NB-IoT模块，实现数据的远程传输，并对接云平台。</a:t>
              </a:r>
              <a:endParaRPr lang="en-US" altLang="en-US" sz="1500" dirty="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2" name="文本框 61"/>
            <p:cNvSpPr txBox="1"/>
            <p:nvPr>
              <p:custDataLst>
                <p:tags r:id="rId13"/>
              </p:custDataLst>
            </p:nvPr>
          </p:nvSpPr>
          <p:spPr>
            <a:xfrm>
              <a:off x="2105908" y="3559148"/>
              <a:ext cx="656484" cy="400110"/>
            </a:xfrm>
            <a:prstGeom prst="rect">
              <a:avLst/>
            </a:prstGeom>
            <a:noFill/>
          </p:spPr>
          <p:txBody>
            <a:bodyPr wrap="square" rtlCol="0">
              <a:spAutoFit/>
            </a:bodyPr>
            <a:lstStyle/>
            <a:p>
              <a:pPr algn="ctr"/>
              <a:r>
                <a:rPr lang="en-US" altLang="zh-CN" sz="2000" b="1" dirty="0">
                  <a:solidFill>
                    <a:schemeClr val="bg1"/>
                  </a:solidFill>
                  <a:latin typeface="微软雅黑" panose="020B0503020204020204" charset="-122"/>
                  <a:ea typeface="微软雅黑" panose="020B0503020204020204" charset="-122"/>
                </a:rPr>
                <a:t>02</a:t>
              </a:r>
              <a:endParaRPr lang="zh-CN" altLang="en-US" sz="2000" b="1" dirty="0">
                <a:solidFill>
                  <a:schemeClr val="bg1"/>
                </a:solidFill>
                <a:latin typeface="微软雅黑" panose="020B0503020204020204" charset="-122"/>
                <a:ea typeface="微软雅黑" panose="020B0503020204020204" charset="-122"/>
              </a:endParaRPr>
            </a:p>
          </p:txBody>
        </p:sp>
      </p:grpSp>
      <p:sp>
        <p:nvSpPr>
          <p:cNvPr id="63" name="圆角矩形 62"/>
          <p:cNvSpPr/>
          <p:nvPr>
            <p:custDataLst>
              <p:tags r:id="rId14"/>
            </p:custDataLst>
          </p:nvPr>
        </p:nvSpPr>
        <p:spPr>
          <a:xfrm>
            <a:off x="1501058" y="5088299"/>
            <a:ext cx="8640000" cy="1368000"/>
          </a:xfrm>
          <a:prstGeom prst="roundRect">
            <a:avLst>
              <a:gd name="adj" fmla="val 7037"/>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流程图: 离页连接符 63"/>
          <p:cNvSpPr/>
          <p:nvPr>
            <p:custDataLst>
              <p:tags r:id="rId15"/>
            </p:custDataLst>
          </p:nvPr>
        </p:nvSpPr>
        <p:spPr>
          <a:xfrm rot="16200000">
            <a:off x="1291871" y="5394298"/>
            <a:ext cx="851242" cy="756000"/>
          </a:xfrm>
          <a:prstGeom prst="flowChartOffpageConnector">
            <a:avLst/>
          </a:prstGeom>
          <a:solidFill>
            <a:srgbClr val="0070C0"/>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5" name="文本框 64"/>
          <p:cNvSpPr txBox="1"/>
          <p:nvPr>
            <p:custDataLst>
              <p:tags r:id="rId16"/>
            </p:custDataLst>
          </p:nvPr>
        </p:nvSpPr>
        <p:spPr>
          <a:xfrm>
            <a:off x="1394458" y="5572243"/>
            <a:ext cx="656484" cy="400110"/>
          </a:xfrm>
          <a:prstGeom prst="rect">
            <a:avLst/>
          </a:prstGeom>
          <a:noFill/>
        </p:spPr>
        <p:txBody>
          <a:bodyPr wrap="square" rtlCol="0">
            <a:spAutoFit/>
          </a:bodyPr>
          <a:lstStyle/>
          <a:p>
            <a:pPr algn="ctr"/>
            <a:r>
              <a:rPr lang="en-US" altLang="zh-CN" sz="2000" b="1" dirty="0">
                <a:solidFill>
                  <a:schemeClr val="bg1"/>
                </a:solidFill>
                <a:latin typeface="微软雅黑" panose="020B0503020204020204" charset="-122"/>
                <a:ea typeface="微软雅黑" panose="020B0503020204020204" charset="-122"/>
              </a:rPr>
              <a:t>03</a:t>
            </a:r>
            <a:endParaRPr lang="zh-CN" altLang="en-US" sz="2000" b="1" dirty="0">
              <a:solidFill>
                <a:schemeClr val="bg1"/>
              </a:solidFill>
              <a:latin typeface="微软雅黑" panose="020B0503020204020204" charset="-122"/>
              <a:ea typeface="微软雅黑" panose="020B0503020204020204" charset="-122"/>
            </a:endParaRPr>
          </a:p>
        </p:txBody>
      </p:sp>
      <p:sp>
        <p:nvSpPr>
          <p:cNvPr id="66" name="矩形 65"/>
          <p:cNvSpPr/>
          <p:nvPr>
            <p:custDataLst>
              <p:tags r:id="rId17"/>
            </p:custDataLst>
          </p:nvPr>
        </p:nvSpPr>
        <p:spPr>
          <a:xfrm>
            <a:off x="2159000" y="5346700"/>
            <a:ext cx="1524635" cy="934085"/>
          </a:xfrm>
          <a:prstGeom prst="rect">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rtlCol="0" anchor="ctr"/>
          <a:lstStyle/>
          <a:p>
            <a:pPr indent="0" algn="ctr">
              <a:lnSpc>
                <a:spcPct val="100000"/>
              </a:lnSpc>
              <a:defRPr/>
            </a:pPr>
            <a:r>
              <a:rPr lang="en-US" sz="2200" b="1">
                <a:solidFill>
                  <a:srgbClr val="00B0F0"/>
                </a:solidFill>
                <a:latin typeface="微软雅黑" panose="020B0503020204020204" charset="-122"/>
                <a:ea typeface="微软雅黑" panose="020B0503020204020204" charset="-122"/>
                <a:cs typeface="微软雅黑" panose="020B0503020204020204" charset="-122"/>
                <a:sym typeface="微软雅黑" panose="020B0503020204020204" charset="-122"/>
              </a:rPr>
              <a:t>手机APP交互</a:t>
            </a:r>
            <a:endParaRPr lang="zh-CN" altLang="en-US" sz="2200" spc="300" dirty="0">
              <a:solidFill>
                <a:srgbClr val="0070C0"/>
              </a:solidFill>
              <a:latin typeface="微软雅黑" panose="020B0503020204020204" charset="-122"/>
              <a:ea typeface="微软雅黑" panose="020B0503020204020204" charset="-122"/>
            </a:endParaRPr>
          </a:p>
        </p:txBody>
      </p:sp>
      <p:sp>
        <p:nvSpPr>
          <p:cNvPr id="67" name="矩形 66"/>
          <p:cNvSpPr/>
          <p:nvPr>
            <p:custDataLst>
              <p:tags r:id="rId18"/>
            </p:custDataLst>
          </p:nvPr>
        </p:nvSpPr>
        <p:spPr>
          <a:xfrm>
            <a:off x="3853180" y="5492750"/>
            <a:ext cx="6217285" cy="455930"/>
          </a:xfrm>
          <a:prstGeom prst="rect">
            <a:avLst/>
          </a:prstGeom>
        </p:spPr>
        <p:txBody>
          <a:bodyPr wrap="square">
            <a:noAutofit/>
          </a:bodyPr>
          <a:lstStyle/>
          <a:p>
            <a:pPr indent="0" algn="just">
              <a:lnSpc>
                <a:spcPct val="108000"/>
              </a:lnSpc>
              <a:defRPr/>
            </a:pPr>
            <a:r>
              <a:rPr lang="en-US" sz="150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开发配套的手机应用，方便用户通过手机随时随地查看数据、接收报警和远程设置。</a:t>
            </a:r>
            <a:endParaRPr lang="en-US" altLang="en-US" sz="1500" dirty="0">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8" name="Connector 13"/>
          <p:cNvCxnSpPr/>
          <p:nvPr/>
        </p:nvCxnSpPr>
        <p:spPr>
          <a:xfrm rot="5056725">
            <a:off x="3104999" y="400208"/>
            <a:ext cx="254317" cy="12700"/>
          </a:xfrm>
          <a:prstGeom prst="line">
            <a:avLst/>
          </a:prstGeom>
          <a:solidFill>
            <a:srgbClr val="DEE0E3">
              <a:alpha val="100000"/>
            </a:srgbClr>
          </a:solidFill>
          <a:ln w="12700" cap="flat" cmpd="sng">
            <a:solidFill>
              <a:srgbClr val="BFBFBF">
                <a:alpha val="100000"/>
              </a:srgbClr>
            </a:solidFill>
            <a:prstDash val="solid"/>
            <a:miter lim="10000000"/>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5118100" y="1397000"/>
            <a:ext cx="1955800" cy="914400"/>
          </a:xfrm>
          <a:prstGeom prst="rect">
            <a:avLst/>
          </a:prstGeom>
          <a:noFill/>
          <a:ln w="12700" cap="flat" cmpd="sng">
            <a:noFill/>
            <a:prstDash val="solid"/>
            <a:round/>
          </a:ln>
        </p:spPr>
        <p:txBody>
          <a:bodyPr vert="horz" wrap="square" lIns="88900" tIns="50800" rIns="88900" bIns="50800" rtlCol="0" anchor="ctr" anchorCtr="0"/>
          <a:lstStyle/>
          <a:p>
            <a:pPr indent="0" algn="ctr">
              <a:lnSpc>
                <a:spcPct val="100000"/>
              </a:lnSpc>
              <a:defRPr/>
            </a:pPr>
            <a:r>
              <a:rPr lang="en-US" sz="53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致 谢</a:t>
            </a:r>
            <a:endParaRPr lang="en-US" sz="1100"/>
          </a:p>
        </p:txBody>
      </p:sp>
      <p:sp>
        <p:nvSpPr>
          <p:cNvPr id="4" name="AutoShape 4"/>
          <p:cNvSpPr/>
          <p:nvPr/>
        </p:nvSpPr>
        <p:spPr>
          <a:xfrm>
            <a:off x="1143000" y="2667000"/>
            <a:ext cx="9906000" cy="3556000"/>
          </a:xfrm>
          <a:prstGeom prst="rect">
            <a:avLst/>
          </a:prstGeom>
          <a:noFill/>
          <a:ln w="12700" cap="flat" cmpd="sng">
            <a:noFill/>
            <a:prstDash val="solid"/>
            <a:round/>
          </a:ln>
        </p:spPr>
        <p:txBody>
          <a:bodyPr vert="horz" wrap="square" lIns="190500" tIns="127000" rIns="190500" bIns="127000" rtlCol="0" anchor="t" anchorCtr="0"/>
          <a:lstStyle/>
          <a:p>
            <a:pPr indent="0" algn="ctr">
              <a:lnSpc>
                <a:spcPct val="133000"/>
              </a:lnSpc>
              <a:defRPr/>
            </a:pPr>
            <a:r>
              <a:rPr lang="en-US" sz="22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感谢指导老师文乙茹讲师在方案设计、系统调试和论文撰写过程中给予的悉心指导和宝贵建议。</a:t>
            </a:r>
            <a:endParaRPr lang="en-US" sz="1100"/>
          </a:p>
          <a:p>
            <a:pPr indent="0" algn="ctr">
              <a:lnSpc>
                <a:spcPct val="133000"/>
              </a:lnSpc>
            </a:pPr>
            <a:r>
              <a:rPr lang="en-US" sz="22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感谢电子信息与光电技术学院提供的实验平台和良好的学习环境。</a:t>
            </a:r>
            <a:endParaRPr lang="en-US" sz="22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a:lnSpc>
                <a:spcPct val="133000"/>
              </a:lnSpc>
            </a:pPr>
            <a:r>
              <a:rPr lang="en-US" sz="22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感谢同学们在项目开发过程中的热心帮助和有益讨论。</a:t>
            </a:r>
            <a:endParaRPr lang="en-US" sz="22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2F2F2">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srcRect l="52173"/>
          <a:stretch>
            <a:fillRect/>
          </a:stretch>
        </p:blipFill>
        <p:spPr>
          <a:xfrm rot="-5400000" flipV="1">
            <a:off x="6019800" y="-3035300"/>
            <a:ext cx="139700" cy="10452100"/>
          </a:xfrm>
          <a:prstGeom prst="rect">
            <a:avLst/>
          </a:prstGeom>
          <a:noFill/>
          <a:ln w="25400" cap="flat" cmpd="sng">
            <a:noFill/>
            <a:prstDash val="solid"/>
            <a:round/>
          </a:ln>
        </p:spPr>
      </p:pic>
      <p:pic>
        <p:nvPicPr>
          <p:cNvPr id="4" name="Picture 4"/>
          <p:cNvPicPr>
            <a:picLocks noChangeAspect="1"/>
          </p:cNvPicPr>
          <p:nvPr/>
        </p:nvPicPr>
        <p:blipFill>
          <a:blip r:embed="rId1"/>
          <a:srcRect r="52173"/>
          <a:stretch>
            <a:fillRect/>
          </a:stretch>
        </p:blipFill>
        <p:spPr>
          <a:xfrm rot="5400000">
            <a:off x="6019800" y="-127000"/>
            <a:ext cx="139700" cy="10452100"/>
          </a:xfrm>
          <a:prstGeom prst="rect">
            <a:avLst/>
          </a:prstGeom>
          <a:noFill/>
          <a:ln w="25400" cap="flat" cmpd="sng">
            <a:noFill/>
            <a:prstDash val="solid"/>
            <a:round/>
          </a:ln>
        </p:spPr>
      </p:pic>
      <p:sp>
        <p:nvSpPr>
          <p:cNvPr id="5" name="AutoShape 5"/>
          <p:cNvSpPr/>
          <p:nvPr/>
        </p:nvSpPr>
        <p:spPr>
          <a:xfrm>
            <a:off x="0" y="2209800"/>
            <a:ext cx="12192000" cy="2857500"/>
          </a:xfrm>
          <a:prstGeom prst="roundRect">
            <a:avLst>
              <a:gd name="adj" fmla="val 0"/>
            </a:avLst>
          </a:prstGeom>
          <a:solidFill>
            <a:srgbClr val="7030A0"/>
          </a:solidFill>
          <a:ln w="25400" cap="flat" cmpd="sng">
            <a:solidFill>
              <a:srgbClr val="7030A0"/>
            </a:solidFill>
            <a:prstDash val="solid"/>
            <a:round/>
          </a:ln>
        </p:spPr>
        <p:txBody>
          <a:bodyPr vert="horz" wrap="square" lIns="63500" tIns="63500" rIns="63500" bIns="63500" rtlCol="0" anchor="ctr"/>
          <a:lstStyle/>
          <a:p>
            <a:pPr algn="ctr">
              <a:defRPr/>
            </a:pPr>
          </a:p>
        </p:txBody>
      </p:sp>
      <p:sp>
        <p:nvSpPr>
          <p:cNvPr id="6" name="AutoShape 6"/>
          <p:cNvSpPr/>
          <p:nvPr/>
        </p:nvSpPr>
        <p:spPr>
          <a:xfrm>
            <a:off x="2590800" y="3136900"/>
            <a:ext cx="7010400" cy="11049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00000"/>
              </a:lnSpc>
              <a:defRPr/>
            </a:pPr>
            <a:r>
              <a:rPr lang="en-US" sz="6600" b="1" i="0" u="none" strike="noStrike">
                <a:solidFill>
                  <a:srgbClr val="F2F2F2"/>
                </a:solidFill>
                <a:latin typeface="微软雅黑" panose="020B0503020204020204" charset="-122"/>
                <a:ea typeface="微软雅黑" panose="020B0503020204020204" charset="-122"/>
                <a:cs typeface="微软雅黑" panose="020B0503020204020204" charset="-122"/>
                <a:sym typeface="微软雅黑" panose="020B0503020204020204" charset="-122"/>
              </a:rPr>
              <a:t>请各位老师指正</a:t>
            </a:r>
            <a:endParaRPr lang="en-US" sz="1100"/>
          </a:p>
        </p:txBody>
      </p:sp>
      <p:sp>
        <p:nvSpPr>
          <p:cNvPr id="7" name="AutoShape 7"/>
          <p:cNvSpPr/>
          <p:nvPr/>
        </p:nvSpPr>
        <p:spPr>
          <a:xfrm>
            <a:off x="4089400" y="5638800"/>
            <a:ext cx="2209800" cy="3937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答辩人</a:t>
            </a:r>
            <a:r>
              <a:rPr lang="en-US" sz="2000" b="0"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陈李柱</a:t>
            </a:r>
            <a:endParaRPr lang="en-US" sz="1100"/>
          </a:p>
        </p:txBody>
      </p:sp>
      <p:sp>
        <p:nvSpPr>
          <p:cNvPr id="8" name="AutoShape 8"/>
          <p:cNvSpPr/>
          <p:nvPr/>
        </p:nvSpPr>
        <p:spPr>
          <a:xfrm>
            <a:off x="6921500" y="5638800"/>
            <a:ext cx="2921000" cy="393700"/>
          </a:xfrm>
          <a:prstGeom prst="rect">
            <a:avLst/>
          </a:prstGeom>
          <a:noFill/>
          <a:ln w="12700" cap="flat" cmpd="sng">
            <a:noFill/>
            <a:prstDash val="solid"/>
            <a:round/>
          </a:ln>
        </p:spPr>
        <p:txBody>
          <a:bodyPr vert="horz" wrap="none" lIns="88900" tIns="50800" rIns="88900" bIns="50800" rtlCol="0" anchor="t" anchorCtr="0"/>
          <a:lstStyle/>
          <a:p>
            <a:pPr indent="0" algn="l">
              <a:lnSpc>
                <a:spcPct val="100000"/>
              </a:lnSpc>
              <a:defRPr/>
            </a:pPr>
            <a:r>
              <a:rPr lang="en-US" sz="2000" b="1"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指导老师</a:t>
            </a:r>
            <a:r>
              <a:rPr lang="en-US" sz="2000" b="0" i="0" u="none" strike="noStrike">
                <a:solidFill>
                  <a:srgbClr val="0070C0"/>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en-US" sz="20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文乙茹 讲师</a:t>
            </a:r>
            <a:endParaRPr lang="en-US" sz="1100"/>
          </a:p>
        </p:txBody>
      </p:sp>
      <p:sp>
        <p:nvSpPr>
          <p:cNvPr id="9" name="Freeform 9"/>
          <p:cNvSpPr/>
          <p:nvPr/>
        </p:nvSpPr>
        <p:spPr>
          <a:xfrm>
            <a:off x="3594100" y="5613400"/>
            <a:ext cx="462900" cy="466244"/>
          </a:xfrm>
          <a:custGeom>
            <a:avLst/>
            <a:gdLst/>
            <a:ahLst/>
            <a:cxnLst/>
            <a:rect l="l" t="t" r="r" b="b"/>
            <a:pathLst>
              <a:path w="462900" h="466244">
                <a:moveTo>
                  <a:pt x="338470" y="237501"/>
                </a:moveTo>
                <a:lnTo>
                  <a:pt x="338470" y="174648"/>
                </a:lnTo>
                <a:cubicBezTo>
                  <a:pt x="338470" y="156616"/>
                  <a:pt x="309795" y="156616"/>
                  <a:pt x="309795" y="174648"/>
                </a:cubicBezTo>
                <a:lnTo>
                  <a:pt x="309795" y="237501"/>
                </a:lnTo>
                <a:cubicBezTo>
                  <a:pt x="309795" y="279747"/>
                  <a:pt x="275487" y="314264"/>
                  <a:pt x="233498" y="314264"/>
                </a:cubicBezTo>
                <a:cubicBezTo>
                  <a:pt x="232987" y="314264"/>
                  <a:pt x="232474" y="314264"/>
                  <a:pt x="231962" y="314264"/>
                </a:cubicBezTo>
                <a:lnTo>
                  <a:pt x="231450" y="314264"/>
                </a:lnTo>
                <a:lnTo>
                  <a:pt x="230938" y="314264"/>
                </a:lnTo>
                <a:cubicBezTo>
                  <a:pt x="230426" y="314264"/>
                  <a:pt x="229914" y="314264"/>
                  <a:pt x="229401" y="314264"/>
                </a:cubicBezTo>
                <a:cubicBezTo>
                  <a:pt x="187413" y="314264"/>
                  <a:pt x="153105" y="279747"/>
                  <a:pt x="153105" y="237501"/>
                </a:cubicBezTo>
                <a:lnTo>
                  <a:pt x="153105" y="174648"/>
                </a:lnTo>
                <a:cubicBezTo>
                  <a:pt x="153105" y="156616"/>
                  <a:pt x="124943" y="156616"/>
                  <a:pt x="124943" y="174648"/>
                </a:cubicBezTo>
                <a:cubicBezTo>
                  <a:pt x="124943" y="182891"/>
                  <a:pt x="124943" y="237501"/>
                  <a:pt x="124943" y="237501"/>
                </a:cubicBezTo>
                <a:cubicBezTo>
                  <a:pt x="124943" y="290566"/>
                  <a:pt x="163858" y="334871"/>
                  <a:pt x="214553" y="342083"/>
                </a:cubicBezTo>
                <a:lnTo>
                  <a:pt x="214553" y="387420"/>
                </a:lnTo>
                <a:lnTo>
                  <a:pt x="151056" y="405453"/>
                </a:lnTo>
                <a:lnTo>
                  <a:pt x="312355" y="405453"/>
                </a:lnTo>
                <a:lnTo>
                  <a:pt x="247835" y="386906"/>
                </a:lnTo>
                <a:lnTo>
                  <a:pt x="247835" y="342083"/>
                </a:lnTo>
                <a:cubicBezTo>
                  <a:pt x="299042" y="334871"/>
                  <a:pt x="338470" y="290566"/>
                  <a:pt x="338470" y="237501"/>
                </a:cubicBezTo>
                <a:close/>
                <a:moveTo>
                  <a:pt x="230426" y="287475"/>
                </a:moveTo>
                <a:cubicBezTo>
                  <a:pt x="230938" y="287475"/>
                  <a:pt x="230938" y="287475"/>
                  <a:pt x="231450" y="287475"/>
                </a:cubicBezTo>
                <a:cubicBezTo>
                  <a:pt x="231962" y="287475"/>
                  <a:pt x="231962" y="287475"/>
                  <a:pt x="232474" y="287475"/>
                </a:cubicBezTo>
                <a:cubicBezTo>
                  <a:pt x="260637" y="287475"/>
                  <a:pt x="283680" y="264806"/>
                  <a:pt x="283680" y="236470"/>
                </a:cubicBezTo>
                <a:lnTo>
                  <a:pt x="283680" y="112311"/>
                </a:lnTo>
                <a:cubicBezTo>
                  <a:pt x="283680" y="83975"/>
                  <a:pt x="260637" y="60792"/>
                  <a:pt x="232474" y="60792"/>
                </a:cubicBezTo>
                <a:cubicBezTo>
                  <a:pt x="231962" y="60792"/>
                  <a:pt x="231962" y="60792"/>
                  <a:pt x="231450" y="60792"/>
                </a:cubicBezTo>
                <a:cubicBezTo>
                  <a:pt x="231450" y="60792"/>
                  <a:pt x="230938" y="60792"/>
                  <a:pt x="230426" y="60792"/>
                </a:cubicBezTo>
                <a:cubicBezTo>
                  <a:pt x="202263" y="60792"/>
                  <a:pt x="179732" y="83975"/>
                  <a:pt x="179732" y="112311"/>
                </a:cubicBezTo>
                <a:lnTo>
                  <a:pt x="179732" y="236470"/>
                </a:lnTo>
                <a:cubicBezTo>
                  <a:pt x="179732" y="264806"/>
                  <a:pt x="202263" y="287475"/>
                  <a:pt x="230426" y="287475"/>
                </a:cubicBezTo>
                <a:close/>
                <a:moveTo>
                  <a:pt x="231450" y="0"/>
                </a:moveTo>
                <a:cubicBezTo>
                  <a:pt x="359465" y="0"/>
                  <a:pt x="462900" y="104583"/>
                  <a:pt x="462900" y="233379"/>
                </a:cubicBezTo>
                <a:cubicBezTo>
                  <a:pt x="462900" y="361662"/>
                  <a:pt x="359465" y="466244"/>
                  <a:pt x="231450" y="466244"/>
                </a:cubicBezTo>
                <a:cubicBezTo>
                  <a:pt x="103435" y="466244"/>
                  <a:pt x="0" y="361662"/>
                  <a:pt x="0" y="233379"/>
                </a:cubicBezTo>
                <a:cubicBezTo>
                  <a:pt x="0" y="104583"/>
                  <a:pt x="103435" y="0"/>
                  <a:pt x="231450" y="0"/>
                </a:cubicBezTo>
                <a:close/>
              </a:path>
            </a:pathLst>
          </a:cu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6438900" y="5613400"/>
            <a:ext cx="464288" cy="466246"/>
          </a:xfrm>
          <a:custGeom>
            <a:avLst/>
            <a:gdLst/>
            <a:ahLst/>
            <a:cxnLst/>
            <a:rect l="l" t="t" r="r" b="b"/>
            <a:pathLst>
              <a:path w="464288" h="466246">
                <a:moveTo>
                  <a:pt x="232145" y="0"/>
                </a:moveTo>
                <a:cubicBezTo>
                  <a:pt x="359768" y="0"/>
                  <a:pt x="464288" y="103856"/>
                  <a:pt x="464288" y="233122"/>
                </a:cubicBezTo>
                <a:cubicBezTo>
                  <a:pt x="464288" y="361286"/>
                  <a:pt x="359768" y="466246"/>
                  <a:pt x="232145" y="466246"/>
                </a:cubicBezTo>
                <a:cubicBezTo>
                  <a:pt x="103420" y="466246"/>
                  <a:pt x="0" y="361286"/>
                  <a:pt x="0" y="233122"/>
                </a:cubicBezTo>
                <a:cubicBezTo>
                  <a:pt x="0" y="103856"/>
                  <a:pt x="103420" y="0"/>
                  <a:pt x="232145" y="0"/>
                </a:cubicBezTo>
                <a:close/>
                <a:moveTo>
                  <a:pt x="374071" y="129267"/>
                </a:moveTo>
                <a:cubicBezTo>
                  <a:pt x="375171" y="129267"/>
                  <a:pt x="377372" y="130372"/>
                  <a:pt x="378471" y="131477"/>
                </a:cubicBezTo>
                <a:cubicBezTo>
                  <a:pt x="379573" y="132582"/>
                  <a:pt x="379573" y="133687"/>
                  <a:pt x="379573" y="135896"/>
                </a:cubicBezTo>
                <a:lnTo>
                  <a:pt x="379573" y="245276"/>
                </a:lnTo>
                <a:cubicBezTo>
                  <a:pt x="379573" y="246381"/>
                  <a:pt x="379573" y="248591"/>
                  <a:pt x="378471" y="249696"/>
                </a:cubicBezTo>
                <a:lnTo>
                  <a:pt x="378471" y="249696"/>
                </a:lnTo>
                <a:cubicBezTo>
                  <a:pt x="377372" y="250801"/>
                  <a:pt x="375171" y="250801"/>
                  <a:pt x="374071" y="250801"/>
                </a:cubicBezTo>
                <a:lnTo>
                  <a:pt x="242045" y="250801"/>
                </a:lnTo>
                <a:cubicBezTo>
                  <a:pt x="240946" y="250801"/>
                  <a:pt x="239846" y="250801"/>
                  <a:pt x="238745" y="249696"/>
                </a:cubicBezTo>
                <a:lnTo>
                  <a:pt x="238745" y="249696"/>
                </a:lnTo>
                <a:cubicBezTo>
                  <a:pt x="237645" y="248591"/>
                  <a:pt x="236545" y="246381"/>
                  <a:pt x="236545" y="245276"/>
                </a:cubicBezTo>
                <a:lnTo>
                  <a:pt x="236545" y="197768"/>
                </a:lnTo>
                <a:lnTo>
                  <a:pt x="314659" y="181195"/>
                </a:lnTo>
                <a:lnTo>
                  <a:pt x="314659" y="178985"/>
                </a:lnTo>
                <a:lnTo>
                  <a:pt x="236545" y="188929"/>
                </a:lnTo>
                <a:lnTo>
                  <a:pt x="236545" y="135896"/>
                </a:lnTo>
                <a:cubicBezTo>
                  <a:pt x="236545" y="133687"/>
                  <a:pt x="237645" y="132582"/>
                  <a:pt x="238745" y="131477"/>
                </a:cubicBezTo>
                <a:lnTo>
                  <a:pt x="238745" y="131477"/>
                </a:lnTo>
                <a:cubicBezTo>
                  <a:pt x="239846" y="130372"/>
                  <a:pt x="240946" y="129267"/>
                  <a:pt x="242045" y="129267"/>
                </a:cubicBezTo>
                <a:lnTo>
                  <a:pt x="374071" y="129267"/>
                </a:lnTo>
                <a:close/>
                <a:moveTo>
                  <a:pt x="242045" y="106065"/>
                </a:moveTo>
                <a:cubicBezTo>
                  <a:pt x="234344" y="106065"/>
                  <a:pt x="226643" y="109380"/>
                  <a:pt x="222242" y="114905"/>
                </a:cubicBezTo>
                <a:lnTo>
                  <a:pt x="222242" y="114905"/>
                </a:lnTo>
                <a:cubicBezTo>
                  <a:pt x="216741" y="120429"/>
                  <a:pt x="213440" y="127057"/>
                  <a:pt x="213440" y="135896"/>
                </a:cubicBezTo>
                <a:lnTo>
                  <a:pt x="213440" y="192244"/>
                </a:lnTo>
                <a:lnTo>
                  <a:pt x="204639" y="193349"/>
                </a:lnTo>
                <a:lnTo>
                  <a:pt x="204639" y="183405"/>
                </a:lnTo>
                <a:lnTo>
                  <a:pt x="178234" y="183405"/>
                </a:lnTo>
                <a:lnTo>
                  <a:pt x="150729" y="166832"/>
                </a:lnTo>
                <a:lnTo>
                  <a:pt x="84717" y="166832"/>
                </a:lnTo>
                <a:cubicBezTo>
                  <a:pt x="70414" y="166832"/>
                  <a:pt x="59412" y="177880"/>
                  <a:pt x="59412" y="191139"/>
                </a:cubicBezTo>
                <a:lnTo>
                  <a:pt x="59412" y="268478"/>
                </a:lnTo>
                <a:lnTo>
                  <a:pt x="84717" y="268478"/>
                </a:lnTo>
                <a:lnTo>
                  <a:pt x="84717" y="212131"/>
                </a:lnTo>
                <a:lnTo>
                  <a:pt x="89117" y="212131"/>
                </a:lnTo>
                <a:lnTo>
                  <a:pt x="89117" y="268478"/>
                </a:lnTo>
                <a:lnTo>
                  <a:pt x="89117" y="282842"/>
                </a:lnTo>
                <a:lnTo>
                  <a:pt x="89117" y="386697"/>
                </a:lnTo>
                <a:lnTo>
                  <a:pt x="116622" y="386697"/>
                </a:lnTo>
                <a:lnTo>
                  <a:pt x="116622" y="300519"/>
                </a:lnTo>
                <a:lnTo>
                  <a:pt x="123223" y="300519"/>
                </a:lnTo>
                <a:lnTo>
                  <a:pt x="123223" y="386697"/>
                </a:lnTo>
                <a:lnTo>
                  <a:pt x="150729" y="386697"/>
                </a:lnTo>
                <a:lnTo>
                  <a:pt x="150729" y="371229"/>
                </a:lnTo>
                <a:lnTo>
                  <a:pt x="150729" y="282842"/>
                </a:lnTo>
                <a:lnTo>
                  <a:pt x="150729" y="268478"/>
                </a:lnTo>
                <a:lnTo>
                  <a:pt x="150729" y="212131"/>
                </a:lnTo>
                <a:lnTo>
                  <a:pt x="150729" y="195558"/>
                </a:lnTo>
                <a:lnTo>
                  <a:pt x="178234" y="212131"/>
                </a:lnTo>
                <a:lnTo>
                  <a:pt x="204639" y="212131"/>
                </a:lnTo>
                <a:lnTo>
                  <a:pt x="204639" y="204396"/>
                </a:lnTo>
                <a:lnTo>
                  <a:pt x="213440" y="203293"/>
                </a:lnTo>
                <a:lnTo>
                  <a:pt x="213440" y="245276"/>
                </a:lnTo>
                <a:cubicBezTo>
                  <a:pt x="213440" y="253011"/>
                  <a:pt x="216741" y="260744"/>
                  <a:pt x="222242" y="265163"/>
                </a:cubicBezTo>
                <a:lnTo>
                  <a:pt x="222242" y="265163"/>
                </a:lnTo>
                <a:lnTo>
                  <a:pt x="222242" y="266268"/>
                </a:lnTo>
                <a:cubicBezTo>
                  <a:pt x="227743" y="270688"/>
                  <a:pt x="234344" y="274002"/>
                  <a:pt x="242045" y="274002"/>
                </a:cubicBezTo>
                <a:lnTo>
                  <a:pt x="374071" y="274002"/>
                </a:lnTo>
                <a:cubicBezTo>
                  <a:pt x="381772" y="274002"/>
                  <a:pt x="389473" y="270688"/>
                  <a:pt x="394975" y="265163"/>
                </a:cubicBezTo>
                <a:lnTo>
                  <a:pt x="394975" y="266268"/>
                </a:lnTo>
                <a:cubicBezTo>
                  <a:pt x="399376" y="260744"/>
                  <a:pt x="402676" y="253011"/>
                  <a:pt x="402676" y="245276"/>
                </a:cubicBezTo>
                <a:lnTo>
                  <a:pt x="402676" y="135896"/>
                </a:lnTo>
                <a:cubicBezTo>
                  <a:pt x="402676" y="127057"/>
                  <a:pt x="399376" y="120429"/>
                  <a:pt x="394975" y="114905"/>
                </a:cubicBezTo>
                <a:cubicBezTo>
                  <a:pt x="389473" y="109380"/>
                  <a:pt x="381772" y="106065"/>
                  <a:pt x="374071" y="106065"/>
                </a:cubicBezTo>
                <a:lnTo>
                  <a:pt x="242045" y="106065"/>
                </a:lnTo>
                <a:close/>
                <a:moveTo>
                  <a:pt x="378471" y="280632"/>
                </a:moveTo>
                <a:lnTo>
                  <a:pt x="378471" y="306043"/>
                </a:lnTo>
                <a:lnTo>
                  <a:pt x="357567" y="306043"/>
                </a:lnTo>
                <a:lnTo>
                  <a:pt x="380672" y="387802"/>
                </a:lnTo>
                <a:lnTo>
                  <a:pt x="350967" y="387802"/>
                </a:lnTo>
                <a:lnTo>
                  <a:pt x="327862" y="306043"/>
                </a:lnTo>
                <a:lnTo>
                  <a:pt x="298157" y="306043"/>
                </a:lnTo>
                <a:lnTo>
                  <a:pt x="275052" y="387802"/>
                </a:lnTo>
                <a:lnTo>
                  <a:pt x="245346" y="387802"/>
                </a:lnTo>
                <a:lnTo>
                  <a:pt x="268451" y="306043"/>
                </a:lnTo>
                <a:lnTo>
                  <a:pt x="243147" y="306043"/>
                </a:lnTo>
                <a:lnTo>
                  <a:pt x="243147" y="280632"/>
                </a:lnTo>
                <a:lnTo>
                  <a:pt x="378471" y="280632"/>
                </a:lnTo>
                <a:close/>
                <a:moveTo>
                  <a:pt x="119922" y="82864"/>
                </a:moveTo>
                <a:cubicBezTo>
                  <a:pt x="141926" y="82864"/>
                  <a:pt x="159530" y="100541"/>
                  <a:pt x="159530" y="122638"/>
                </a:cubicBezTo>
                <a:cubicBezTo>
                  <a:pt x="159530" y="143631"/>
                  <a:pt x="141926" y="161308"/>
                  <a:pt x="119922" y="161308"/>
                </a:cubicBezTo>
                <a:cubicBezTo>
                  <a:pt x="99019" y="161308"/>
                  <a:pt x="81416" y="143631"/>
                  <a:pt x="81416" y="122638"/>
                </a:cubicBezTo>
                <a:cubicBezTo>
                  <a:pt x="81416" y="100541"/>
                  <a:pt x="99019" y="82864"/>
                  <a:pt x="119922" y="82864"/>
                </a:cubicBezTo>
                <a:close/>
              </a:path>
            </a:pathLst>
          </a:custGeom>
          <a:solidFill>
            <a:srgbClr val="0070C0">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87" name="图片 1" descr="lQLPDhrGSL3Q8RPNAUXNB_Gw-UljzDPDeBW9Elf1rMOXFg_2033_325"/>
          <p:cNvPicPr>
            <a:picLocks noChangeAspect="1"/>
          </p:cNvPicPr>
          <p:nvPr/>
        </p:nvPicPr>
        <p:blipFill>
          <a:blip r:embed="rId2"/>
          <a:stretch>
            <a:fillRect/>
          </a:stretch>
        </p:blipFill>
        <p:spPr>
          <a:xfrm>
            <a:off x="2806700" y="699135"/>
            <a:ext cx="6272530" cy="1015365"/>
          </a:xfrm>
          <a:prstGeom prst="rect">
            <a:avLst/>
          </a:prstGeom>
          <a:noFill/>
          <a:ln>
            <a:noFill/>
          </a:ln>
        </p:spPr>
      </p:pic>
    </p:spTree>
  </p:cSld>
  <p:clrMapOvr>
    <a:masterClrMapping/>
  </p:clrMapOvr>
</p:sld>
</file>

<file path=ppt/tags/tag1.xml><?xml version="1.0" encoding="utf-8"?>
<p:tagLst xmlns:p="http://schemas.openxmlformats.org/presentationml/2006/main">
  <p:tag name="KSO_WM_DIAGRAM_VIRTUALLY_FRAME" val="{&quot;height&quot;:350,&quot;left&quot;:444,&quot;top&quot;:95,&quot;width&quot;:361}"/>
</p:tagLst>
</file>

<file path=ppt/tags/tag2.xml><?xml version="1.0" encoding="utf-8"?>
<p:tagLst xmlns:p="http://schemas.openxmlformats.org/presentationml/2006/main">
  <p:tag name="KSO_WM_DIAGRAM_VIRTUALLY_FRAME" val="{&quot;height&quot;:350,&quot;left&quot;:444,&quot;top&quot;:95,&quot;width&quot;:361}"/>
</p:tagLst>
</file>

<file path=ppt/tags/tag3.xml><?xml version="1.0" encoding="utf-8"?>
<p:tagLst xmlns:p="http://schemas.openxmlformats.org/presentationml/2006/main">
  <p:tag name="KSO_WM_DIAGRAM_VIRTUALLY_FRAME" val="{&quot;height&quot;:350,&quot;left&quot;:444,&quot;top&quot;:95,&quot;width&quot;:361}"/>
</p:tagLst>
</file>

<file path=ppt/tags/tag4.xml><?xml version="1.0" encoding="utf-8"?>
<p:tagLst xmlns:p="http://schemas.openxmlformats.org/presentationml/2006/main">
  <p:tag name="KSO_WM_DIAGRAM_VIRTUALLY_FRAME" val="{&quot;height&quot;:350,&quot;left&quot;:444,&quot;top&quot;:95,&quot;width&quot;:361}"/>
</p:tagLst>
</file>

<file path=ppt/tags/tag5.xml><?xml version="1.0" encoding="utf-8"?>
<p:tagLst xmlns:p="http://schemas.openxmlformats.org/presentationml/2006/main">
  <p:tag name="KSO_WM_DIAGRAM_VIRTUALLY_FRAME" val="{&quot;height&quot;:350,&quot;left&quot;:444,&quot;top&quot;:95,&quot;width&quot;:361}"/>
</p:tagLst>
</file>

<file path=ppt/tags/tag6.xml><?xml version="1.0" encoding="utf-8"?>
<p:tagLst xmlns:p="http://schemas.openxmlformats.org/presentationml/2006/main">
  <p:tag name="KSO_WM_DIAGRAM_VIRTUALLY_FRAME" val="{&quot;height&quot;:350,&quot;left&quot;:444,&quot;top&quot;:95,&quot;width&quot;:361}"/>
</p:tagLst>
</file>

<file path=ppt/tags/tag7.xml><?xml version="1.0" encoding="utf-8"?>
<p:tagLst xmlns:p="http://schemas.openxmlformats.org/presentationml/2006/main">
  <p:tag name="KSO_WM_DIAGRAM_VIRTUALLY_FRAME" val="{&quot;height&quot;:350,&quot;left&quot;:444,&quot;top&quot;:95,&quot;width&quot;:361}"/>
</p:tagLst>
</file>

<file path=ppt/tags/tag8.xml><?xml version="1.0" encoding="utf-8"?>
<p:tagLst xmlns:p="http://schemas.openxmlformats.org/presentationml/2006/main">
  <p:tag name="KSO_WM_DIAGRAM_VIRTUALLY_FRAME" val="{&quot;height&quot;:350,&quot;left&quot;:444,&quot;top&quot;:95,&quot;width&quot;:361}"/>
</p:tagLst>
</file>

<file path=ppt/tags/tag9.xml><?xml version="1.0" encoding="utf-8"?>
<p:tagLst xmlns:p="http://schemas.openxmlformats.org/presentationml/2006/main">
  <p:tag name="KSO_WM_DIAGRAM_VIRTUALLY_FRAME" val="{&quot;height&quot;:350,&quot;left&quot;:444,&quot;top&quot;:95,&quot;width&quot;:361}"/>
</p:tagLst>
</file>

<file path=ppt/tags/tag10.xml><?xml version="1.0" encoding="utf-8"?>
<p:tagLst xmlns:p="http://schemas.openxmlformats.org/presentationml/2006/main">
  <p:tag name="KSO_WM_DIAGRAM_VIRTUALLY_FRAME" val="{&quot;height&quot;:350,&quot;left&quot;:444,&quot;top&quot;:95,&quot;width&quot;:361}"/>
</p:tagLst>
</file>

<file path=ppt/tags/tag11.xml><?xml version="1.0" encoding="utf-8"?>
<p:tagLst xmlns:p="http://schemas.openxmlformats.org/presentationml/2006/main">
  <p:tag name="KSO_WM_DIAGRAM_VIRTUALLY_FRAME" val="{&quot;height&quot;:367,&quot;left&quot;:17,&quot;top&quot;:123,&quot;width&quot;:926}"/>
</p:tagLst>
</file>

<file path=ppt/tags/tag12.xml><?xml version="1.0" encoding="utf-8"?>
<p:tagLst xmlns:p="http://schemas.openxmlformats.org/presentationml/2006/main">
  <p:tag name="KSO_WM_DIAGRAM_VIRTUALLY_FRAME" val="{&quot;height&quot;:367,&quot;left&quot;:17,&quot;top&quot;:123,&quot;width&quot;:926}"/>
</p:tagLst>
</file>

<file path=ppt/tags/tag13.xml><?xml version="1.0" encoding="utf-8"?>
<p:tagLst xmlns:p="http://schemas.openxmlformats.org/presentationml/2006/main">
  <p:tag name="KSO_WM_DIAGRAM_VIRTUALLY_FRAME" val="{&quot;height&quot;:367,&quot;left&quot;:17,&quot;top&quot;:123,&quot;width&quot;:926}"/>
</p:tagLst>
</file>

<file path=ppt/tags/tag14.xml><?xml version="1.0" encoding="utf-8"?>
<p:tagLst xmlns:p="http://schemas.openxmlformats.org/presentationml/2006/main">
  <p:tag name="KSO_WM_DIAGRAM_VIRTUALLY_FRAME" val="{&quot;height&quot;:367,&quot;left&quot;:17,&quot;top&quot;:123,&quot;width&quot;:926}"/>
</p:tagLst>
</file>

<file path=ppt/tags/tag15.xml><?xml version="1.0" encoding="utf-8"?>
<p:tagLst xmlns:p="http://schemas.openxmlformats.org/presentationml/2006/main">
  <p:tag name="KSO_WM_DIAGRAM_VIRTUALLY_FRAME" val="{&quot;height&quot;:367,&quot;left&quot;:17,&quot;top&quot;:123,&quot;width&quot;:926}"/>
</p:tagLst>
</file>

<file path=ppt/tags/tag16.xml><?xml version="1.0" encoding="utf-8"?>
<p:tagLst xmlns:p="http://schemas.openxmlformats.org/presentationml/2006/main">
  <p:tag name="KSO_WM_DIAGRAM_VIRTUALLY_FRAME" val="{&quot;height&quot;:367,&quot;left&quot;:17,&quot;top&quot;:123,&quot;width&quot;:926}"/>
</p:tagLst>
</file>

<file path=ppt/tags/tag17.xml><?xml version="1.0" encoding="utf-8"?>
<p:tagLst xmlns:p="http://schemas.openxmlformats.org/presentationml/2006/main">
  <p:tag name="KSO_WM_DIAGRAM_VIRTUALLY_FRAME" val="{&quot;height&quot;:367,&quot;left&quot;:17,&quot;top&quot;:123,&quot;width&quot;:926}"/>
</p:tagLst>
</file>

<file path=ppt/tags/tag18.xml><?xml version="1.0" encoding="utf-8"?>
<p:tagLst xmlns:p="http://schemas.openxmlformats.org/presentationml/2006/main">
  <p:tag name="KSO_WM_DIAGRAM_VIRTUALLY_FRAME" val="{&quot;height&quot;:367,&quot;left&quot;:17,&quot;top&quot;:123,&quot;width&quot;:926}"/>
</p:tagLst>
</file>

<file path=ppt/tags/tag19.xml><?xml version="1.0" encoding="utf-8"?>
<p:tagLst xmlns:p="http://schemas.openxmlformats.org/presentationml/2006/main">
  <p:tag name="KSO_WM_DIAGRAM_VIRTUALLY_FRAME" val="{&quot;height&quot;:367,&quot;left&quot;:17,&quot;top&quot;:123,&quot;width&quot;:926}"/>
</p:tagLst>
</file>

<file path=ppt/tags/tag20.xml><?xml version="1.0" encoding="utf-8"?>
<p:tagLst xmlns:p="http://schemas.openxmlformats.org/presentationml/2006/main">
  <p:tag name="KSO_WM_DIAGRAM_VIRTUALLY_FRAME" val="{&quot;height&quot;:367,&quot;left&quot;:17,&quot;top&quot;:123,&quot;width&quot;:926}"/>
</p:tagLst>
</file>

<file path=ppt/tags/tag21.xml><?xml version="1.0" encoding="utf-8"?>
<p:tagLst xmlns:p="http://schemas.openxmlformats.org/presentationml/2006/main">
  <p:tag name="KSO_WM_DIAGRAM_VIRTUALLY_FRAME" val="{&quot;height&quot;:367,&quot;left&quot;:17,&quot;top&quot;:123,&quot;width&quot;:926}"/>
</p:tagLst>
</file>

<file path=ppt/tags/tag22.xml><?xml version="1.0" encoding="utf-8"?>
<p:tagLst xmlns:p="http://schemas.openxmlformats.org/presentationml/2006/main">
  <p:tag name="KSO_WM_DIAGRAM_VIRTUALLY_FRAME" val="{&quot;height&quot;:367,&quot;left&quot;:17,&quot;top&quot;:123,&quot;width&quot;:926}"/>
</p:tagLst>
</file>

<file path=ppt/tags/tag23.xml><?xml version="1.0" encoding="utf-8"?>
<p:tagLst xmlns:p="http://schemas.openxmlformats.org/presentationml/2006/main">
  <p:tag name="KSO_WM_DIAGRAM_VIRTUALLY_FRAME" val="{&quot;height&quot;:27,&quot;left&quot;:266,&quot;top&quot;:17,&quot;width&quot;:508}"/>
</p:tagLst>
</file>

<file path=ppt/tags/tag24.xml><?xml version="1.0" encoding="utf-8"?>
<p:tagLst xmlns:p="http://schemas.openxmlformats.org/presentationml/2006/main">
  <p:tag name="KSO_WM_DIAGRAM_VIRTUALLY_FRAME" val="{&quot;height&quot;:27,&quot;left&quot;:266,&quot;top&quot;:17,&quot;width&quot;:508}"/>
</p:tagLst>
</file>

<file path=ppt/tags/tag25.xml><?xml version="1.0" encoding="utf-8"?>
<p:tagLst xmlns:p="http://schemas.openxmlformats.org/presentationml/2006/main">
  <p:tag name="KSO_WM_DIAGRAM_VIRTUALLY_FRAME" val="{&quot;height&quot;:27,&quot;left&quot;:266,&quot;top&quot;:17,&quot;width&quot;:508}"/>
</p:tagLst>
</file>

<file path=ppt/tags/tag26.xml><?xml version="1.0" encoding="utf-8"?>
<p:tagLst xmlns:p="http://schemas.openxmlformats.org/presentationml/2006/main">
  <p:tag name="KSO_WM_DIAGRAM_VIRTUALLY_FRAME" val="{&quot;height&quot;:27,&quot;left&quot;:266,&quot;top&quot;:17,&quot;width&quot;:508}"/>
</p:tagLst>
</file>

<file path=ppt/tags/tag27.xml><?xml version="1.0" encoding="utf-8"?>
<p:tagLst xmlns:p="http://schemas.openxmlformats.org/presentationml/2006/main">
  <p:tag name="KSO_WM_DIAGRAM_VIRTUALLY_FRAME" val="{&quot;height&quot;:27,&quot;left&quot;:266,&quot;top&quot;:17,&quot;width&quot;:508}"/>
</p:tagLst>
</file>

<file path=ppt/tags/tag28.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29.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0.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1.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2.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3.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4.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5.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6.xml><?xml version="1.0" encoding="utf-8"?>
<p:tagLst xmlns:p="http://schemas.openxmlformats.org/presentationml/2006/main">
  <p:tag name="KSO_WM_DIAGRAM_VIRTUALLY_FRAME" val="{&quot;height&quot;:27,&quot;left&quot;:266,&quot;top&quot;:17,&quot;width&quot;:508}"/>
</p:tagLst>
</file>

<file path=ppt/tags/tag37.xml><?xml version="1.0" encoding="utf-8"?>
<p:tagLst xmlns:p="http://schemas.openxmlformats.org/presentationml/2006/main">
  <p:tag name="KSO_WM_DIAGRAM_VIRTUALLY_FRAME" val="{&quot;height&quot;:380.0249606299213,&quot;left&quot;:-0.02496062992122461,&quot;top&quot;:142.97503937007872,&quot;width&quot;:912.0249606299212}"/>
</p:tagLst>
</file>

<file path=ppt/tags/tag38.xml><?xml version="1.0" encoding="utf-8"?>
<p:tagLst xmlns:p="http://schemas.openxmlformats.org/presentationml/2006/main">
  <p:tag name="KSO_WM_DIAGRAM_VIRTUALLY_FRAME" val="{&quot;height&quot;:320.7,&quot;left&quot;:118,&quot;top&quot;:145.55,&quot;width&quot;:420.85}"/>
</p:tagLst>
</file>

<file path=ppt/tags/tag39.xml><?xml version="1.0" encoding="utf-8"?>
<p:tagLst xmlns:p="http://schemas.openxmlformats.org/presentationml/2006/main">
  <p:tag name="KSO_WM_DIAGRAM_VIRTUALLY_FRAME" val="{&quot;height&quot;:320.7,&quot;left&quot;:118,&quot;top&quot;:145.55,&quot;width&quot;:420.85}"/>
</p:tagLst>
</file>

<file path=ppt/tags/tag40.xml><?xml version="1.0" encoding="utf-8"?>
<p:tagLst xmlns:p="http://schemas.openxmlformats.org/presentationml/2006/main">
  <p:tag name="KSO_WM_DIAGRAM_VIRTUALLY_FRAME" val="{&quot;height&quot;:320.7,&quot;left&quot;:118,&quot;top&quot;:145.55,&quot;width&quot;:420.85}"/>
</p:tagLst>
</file>

<file path=ppt/tags/tag41.xml><?xml version="1.0" encoding="utf-8"?>
<p:tagLst xmlns:p="http://schemas.openxmlformats.org/presentationml/2006/main">
  <p:tag name="KSO_WM_DIAGRAM_VIRTUALLY_FRAME" val="{&quot;height&quot;:320.7,&quot;left&quot;:118,&quot;top&quot;:145.55,&quot;width&quot;:420.85}"/>
</p:tagLst>
</file>

<file path=ppt/tags/tag42.xml><?xml version="1.0" encoding="utf-8"?>
<p:tagLst xmlns:p="http://schemas.openxmlformats.org/presentationml/2006/main">
  <p:tag name="KSO_WM_DIAGRAM_VIRTUALLY_FRAME" val="{&quot;height&quot;:320.7,&quot;left&quot;:118,&quot;top&quot;:145.55,&quot;width&quot;:420.85}"/>
</p:tagLst>
</file>

<file path=ppt/tags/tag43.xml><?xml version="1.0" encoding="utf-8"?>
<p:tagLst xmlns:p="http://schemas.openxmlformats.org/presentationml/2006/main">
  <p:tag name="KSO_WM_DIAGRAM_VIRTUALLY_FRAME" val="{&quot;height&quot;:320.7,&quot;left&quot;:118,&quot;top&quot;:145.55,&quot;width&quot;:420.85}"/>
</p:tagLst>
</file>

<file path=ppt/tags/tag44.xml><?xml version="1.0" encoding="utf-8"?>
<p:tagLst xmlns:p="http://schemas.openxmlformats.org/presentationml/2006/main">
  <p:tag name="KSO_WM_DIAGRAM_VIRTUALLY_FRAME" val="{&quot;height&quot;:320.7,&quot;left&quot;:118,&quot;top&quot;:145.55,&quot;width&quot;:420.85}"/>
</p:tagLst>
</file>

<file path=ppt/tags/tag45.xml><?xml version="1.0" encoding="utf-8"?>
<p:tagLst xmlns:p="http://schemas.openxmlformats.org/presentationml/2006/main">
  <p:tag name="KSO_WM_DIAGRAM_VIRTUALLY_FRAME" val="{&quot;height&quot;:320.7,&quot;left&quot;:118,&quot;top&quot;:145.55,&quot;width&quot;:420.85}"/>
</p:tagLst>
</file>

<file path=ppt/tags/tag46.xml><?xml version="1.0" encoding="utf-8"?>
<p:tagLst xmlns:p="http://schemas.openxmlformats.org/presentationml/2006/main">
  <p:tag name="KSO_WM_DIAGRAM_VIRTUALLY_FRAME" val="{&quot;height&quot;:320.7,&quot;left&quot;:118,&quot;top&quot;:145.55,&quot;width&quot;:420.85}"/>
</p:tagLst>
</file>

<file path=ppt/tags/tag47.xml><?xml version="1.0" encoding="utf-8"?>
<p:tagLst xmlns:p="http://schemas.openxmlformats.org/presentationml/2006/main">
  <p:tag name="KSO_WM_DIAGRAM_VIRTUALLY_FRAME" val="{&quot;height&quot;:320.7,&quot;left&quot;:118,&quot;top&quot;:145.55,&quot;width&quot;:420.85}"/>
</p:tagLst>
</file>

<file path=ppt/tags/tag48.xml><?xml version="1.0" encoding="utf-8"?>
<p:tagLst xmlns:p="http://schemas.openxmlformats.org/presentationml/2006/main">
  <p:tag name="KSO_WM_DIAGRAM_VIRTUALLY_FRAME" val="{&quot;height&quot;:320.7,&quot;left&quot;:118,&quot;top&quot;:145.55,&quot;width&quot;:420.85}"/>
</p:tagLst>
</file>

<file path=ppt/tags/tag49.xml><?xml version="1.0" encoding="utf-8"?>
<p:tagLst xmlns:p="http://schemas.openxmlformats.org/presentationml/2006/main">
  <p:tag name="KSO_WM_DIAGRAM_VIRTUALLY_FRAME" val="{&quot;height&quot;:320.7,&quot;left&quot;:118,&quot;top&quot;:145.55,&quot;width&quot;:420.85}"/>
</p:tagLst>
</file>

<file path=ppt/tags/tag50.xml><?xml version="1.0" encoding="utf-8"?>
<p:tagLst xmlns:p="http://schemas.openxmlformats.org/presentationml/2006/main">
  <p:tag name="KSO_WM_DIAGRAM_VIRTUALLY_FRAME" val="{&quot;height&quot;:320.7,&quot;left&quot;:118,&quot;top&quot;:145.55,&quot;width&quot;:420.85}"/>
</p:tagLst>
</file>

<file path=ppt/tags/tag51.xml><?xml version="1.0" encoding="utf-8"?>
<p:tagLst xmlns:p="http://schemas.openxmlformats.org/presentationml/2006/main">
  <p:tag name="KSO_WM_DIAGRAM_VIRTUALLY_FRAME" val="{&quot;height&quot;:320.7,&quot;left&quot;:118,&quot;top&quot;:145.55,&quot;width&quot;:420.85}"/>
</p:tagLst>
</file>

<file path=ppt/tags/tag52.xml><?xml version="1.0" encoding="utf-8"?>
<p:tagLst xmlns:p="http://schemas.openxmlformats.org/presentationml/2006/main">
  <p:tag name="KSO_WM_DIAGRAM_VIRTUALLY_FRAME" val="{&quot;height&quot;:320.7,&quot;left&quot;:118,&quot;top&quot;:145.55,&quot;width&quot;:420.85}"/>
</p:tagLst>
</file>

<file path=ppt/tags/tag53.xml><?xml version="1.0" encoding="utf-8"?>
<p:tagLst xmlns:p="http://schemas.openxmlformats.org/presentationml/2006/main">
  <p:tag name="KSO_WM_DIAGRAM_VIRTUALLY_FRAME" val="{&quot;height&quot;:320.7,&quot;left&quot;:118,&quot;top&quot;:145.55,&quot;width&quot;:420.85}"/>
</p:tagLst>
</file>

<file path=ppt/tags/tag54.xml><?xml version="1.0" encoding="utf-8"?>
<p:tagLst xmlns:p="http://schemas.openxmlformats.org/presentationml/2006/main">
  <p:tag name="KSO_WM_DIAGRAM_VIRTUALLY_FRAME" val="{&quot;height&quot;:320.7,&quot;left&quot;:118,&quot;top&quot;:145.55,&quot;width&quot;:420.85}"/>
</p:tagLst>
</file>

<file path=ppt/tags/tag55.xml><?xml version="1.0" encoding="utf-8"?>
<p:tagLst xmlns:p="http://schemas.openxmlformats.org/presentationml/2006/main">
  <p:tag name="KSO_WM_DIAGRAM_VIRTUALLY_FRAME" val="{&quot;height&quot;:320.7,&quot;left&quot;:118,&quot;top&quot;:145.55,&quot;width&quot;:420.85}"/>
</p:tagLst>
</file>

<file path=ppt/tags/tag56.xml><?xml version="1.0" encoding="utf-8"?>
<p:tagLst xmlns:p="http://schemas.openxmlformats.org/presentationml/2006/main">
  <p:tag name="KSO_WM_DIAGRAM_VIRTUALLY_FRAME" val="{&quot;height&quot;:320.7,&quot;left&quot;:118,&quot;top&quot;:145.55,&quot;width&quot;:420.85}"/>
</p:tagLst>
</file>

<file path=ppt/tags/tag57.xml><?xml version="1.0" encoding="utf-8"?>
<p:tagLst xmlns:p="http://schemas.openxmlformats.org/presentationml/2006/main">
  <p:tag name="KSO_WM_DIAGRAM_VIRTUALLY_FRAME" val="{&quot;height&quot;:320.7,&quot;left&quot;:118,&quot;top&quot;:145.55,&quot;width&quot;:420.85}"/>
</p:tagLst>
</file>

<file path=ppt/tags/tag58.xml><?xml version="1.0" encoding="utf-8"?>
<p:tagLst xmlns:p="http://schemas.openxmlformats.org/presentationml/2006/main">
  <p:tag name="KSO_WM_DIAGRAM_VIRTUALLY_FRAME" val="{&quot;height&quot;:285,&quot;left&quot;:60,&quot;top&quot;:120,&quot;width&quot;:410}"/>
</p:tagLst>
</file>

<file path=ppt/tags/tag59.xml><?xml version="1.0" encoding="utf-8"?>
<p:tagLst xmlns:p="http://schemas.openxmlformats.org/presentationml/2006/main">
  <p:tag name="KSO_WM_DIAGRAM_VIRTUALLY_FRAME" val="{&quot;height&quot;:285,&quot;left&quot;:60,&quot;top&quot;:120,&quot;width&quot;:410}"/>
</p:tagLst>
</file>

<file path=ppt/tags/tag60.xml><?xml version="1.0" encoding="utf-8"?>
<p:tagLst xmlns:p="http://schemas.openxmlformats.org/presentationml/2006/main">
  <p:tag name="KSO_WM_DIAGRAM_VIRTUALLY_FRAME" val="{&quot;height&quot;:285,&quot;left&quot;:60,&quot;top&quot;:120,&quot;width&quot;:410}"/>
</p:tagLst>
</file>

<file path=ppt/tags/tag61.xml><?xml version="1.0" encoding="utf-8"?>
<p:tagLst xmlns:p="http://schemas.openxmlformats.org/presentationml/2006/main">
  <p:tag name="KSO_WM_DIAGRAM_VIRTUALLY_FRAME" val="{&quot;height&quot;:285,&quot;left&quot;:60,&quot;top&quot;:120,&quot;width&quot;:410}"/>
</p:tagLst>
</file>

<file path=ppt/tags/tag62.xml><?xml version="1.0" encoding="utf-8"?>
<p:tagLst xmlns:p="http://schemas.openxmlformats.org/presentationml/2006/main">
  <p:tag name="KSO_WM_DIAGRAM_VIRTUALLY_FRAME" val="{&quot;height&quot;:285,&quot;left&quot;:60,&quot;top&quot;:120,&quot;width&quot;:410}"/>
</p:tagLst>
</file>

<file path=ppt/tags/tag63.xml><?xml version="1.0" encoding="utf-8"?>
<p:tagLst xmlns:p="http://schemas.openxmlformats.org/presentationml/2006/main">
  <p:tag name="KSO_WM_DIAGRAM_VIRTUALLY_FRAME" val="{&quot;height&quot;:285,&quot;left&quot;:60,&quot;top&quot;:120,&quot;width&quot;:410}"/>
</p:tagLst>
</file>

<file path=ppt/tags/tag64.xml><?xml version="1.0" encoding="utf-8"?>
<p:tagLst xmlns:p="http://schemas.openxmlformats.org/presentationml/2006/main">
  <p:tag name="KSO_WM_DIAGRAM_VIRTUALLY_FRAME" val="{&quot;height&quot;:285,&quot;left&quot;:60,&quot;top&quot;:120,&quot;width&quot;:410}"/>
</p:tagLst>
</file>

<file path=ppt/tags/tag65.xml><?xml version="1.0" encoding="utf-8"?>
<p:tagLst xmlns:p="http://schemas.openxmlformats.org/presentationml/2006/main">
  <p:tag name="KSO_WM_DIAGRAM_VIRTUALLY_FRAME" val="{&quot;height&quot;:285,&quot;left&quot;:60,&quot;top&quot;:120,&quot;width&quot;:410}"/>
</p:tagLst>
</file>

<file path=ppt/tags/tag66.xml><?xml version="1.0" encoding="utf-8"?>
<p:tagLst xmlns:p="http://schemas.openxmlformats.org/presentationml/2006/main">
  <p:tag name="KSO_WM_DIAGRAM_VIRTUALLY_FRAME" val="{&quot;height&quot;:367,&quot;left&quot;:250,&quot;top&quot;:120,&quot;width&quot;:695}"/>
</p:tagLst>
</file>

<file path=ppt/tags/tag67.xml><?xml version="1.0" encoding="utf-8"?>
<p:tagLst xmlns:p="http://schemas.openxmlformats.org/presentationml/2006/main">
  <p:tag name="KSO_WM_DIAGRAM_VIRTUALLY_FRAME" val="{&quot;height&quot;:380,&quot;left&quot;:60,&quot;top&quot;:120,&quot;width&quot;:410}"/>
</p:tagLst>
</file>

<file path=ppt/tags/tag68.xml><?xml version="1.0" encoding="utf-8"?>
<p:tagLst xmlns:p="http://schemas.openxmlformats.org/presentationml/2006/main">
  <p:tag name="KSO_WM_DIAGRAM_VIRTUALLY_FRAME" val="{&quot;height&quot;:380,&quot;left&quot;:60,&quot;top&quot;:120,&quot;width&quot;:410}"/>
</p:tagLst>
</file>

<file path=ppt/tags/tag69.xml><?xml version="1.0" encoding="utf-8"?>
<p:tagLst xmlns:p="http://schemas.openxmlformats.org/presentationml/2006/main">
  <p:tag name="KSO_WM_DIAGRAM_VIRTUALLY_FRAME" val="{&quot;height&quot;:380,&quot;left&quot;:60,&quot;top&quot;:120,&quot;width&quot;:410}"/>
</p:tagLst>
</file>

<file path=ppt/tags/tag70.xml><?xml version="1.0" encoding="utf-8"?>
<p:tagLst xmlns:p="http://schemas.openxmlformats.org/presentationml/2006/main">
  <p:tag name="KSO_WM_DIAGRAM_VIRTUALLY_FRAME" val="{&quot;height&quot;:380,&quot;left&quot;:60,&quot;top&quot;:120,&quot;width&quot;:410}"/>
</p:tagLst>
</file>

<file path=ppt/tags/tag71.xml><?xml version="1.0" encoding="utf-8"?>
<p:tagLst xmlns:p="http://schemas.openxmlformats.org/presentationml/2006/main">
  <p:tag name="KSO_WM_DIAGRAM_VIRTUALLY_FRAME" val="{&quot;height&quot;:380,&quot;left&quot;:60,&quot;top&quot;:120,&quot;width&quot;:410}"/>
</p:tagLst>
</file>

<file path=ppt/tags/tag72.xml><?xml version="1.0" encoding="utf-8"?>
<p:tagLst xmlns:p="http://schemas.openxmlformats.org/presentationml/2006/main">
  <p:tag name="KSO_WM_DIAGRAM_VIRTUALLY_FRAME" val="{&quot;height&quot;:380,&quot;left&quot;:60,&quot;top&quot;:120,&quot;width&quot;:410}"/>
</p:tagLst>
</file>

<file path=ppt/tags/tag73.xml><?xml version="1.0" encoding="utf-8"?>
<p:tagLst xmlns:p="http://schemas.openxmlformats.org/presentationml/2006/main">
  <p:tag name="KSO_WM_DIAGRAM_VIRTUALLY_FRAME" val="{&quot;height&quot;:380,&quot;left&quot;:60,&quot;top&quot;:120,&quot;width&quot;:410}"/>
</p:tagLst>
</file>

<file path=ppt/tags/tag74.xml><?xml version="1.0" encoding="utf-8"?>
<p:tagLst xmlns:p="http://schemas.openxmlformats.org/presentationml/2006/main">
  <p:tag name="KSO_WM_DIAGRAM_VIRTUALLY_FRAME" val="{&quot;height&quot;:380,&quot;left&quot;:60,&quot;top&quot;:120,&quot;width&quot;:410}"/>
</p:tagLst>
</file>

<file path=ppt/tags/tag75.xml><?xml version="1.0" encoding="utf-8"?>
<p:tagLst xmlns:p="http://schemas.openxmlformats.org/presentationml/2006/main">
  <p:tag name="KSO_WM_DIAGRAM_VIRTUALLY_FRAME" val="{&quot;height&quot;:380,&quot;left&quot;:60,&quot;top&quot;:120,&quot;width&quot;:410}"/>
</p:tagLst>
</file>

<file path=ppt/tags/tag76.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77.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78.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79.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0.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1.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2.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3.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4.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5.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6.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7.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8.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89.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90.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91.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ags/tag92.xml><?xml version="1.0" encoding="utf-8"?>
<p:tagLst xmlns:p="http://schemas.openxmlformats.org/presentationml/2006/main">
  <p:tag name="KSO_WM_DIAGRAM_VIRTUALLY_FRAME" val="{&quot;height&quot;:375.82417322834647,&quot;left&quot;:105.47181102362204,&quot;top&quot;:132.54582677165354,&quot;width&quot;:749.1063779527559}"/>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4061</Words>
  <Application>WPS 演示</Application>
  <PresentationFormat/>
  <Paragraphs>672</Paragraphs>
  <Slides>22</Slides>
  <Notes>0</Notes>
  <HiddenSlides>0</HiddenSlides>
  <MMClips>0</MMClips>
  <ScaleCrop>false</ScaleCrop>
  <HeadingPairs>
    <vt:vector size="6" baseType="variant">
      <vt:variant>
        <vt:lpstr>已用的字体</vt:lpstr>
      </vt:variant>
      <vt:variant>
        <vt:i4>12</vt:i4>
      </vt:variant>
      <vt:variant>
        <vt:lpstr>主题</vt:lpstr>
      </vt:variant>
      <vt:variant>
        <vt:i4>4</vt:i4>
      </vt:variant>
      <vt:variant>
        <vt:lpstr>幻灯片标题</vt:lpstr>
      </vt:variant>
      <vt:variant>
        <vt:i4>22</vt:i4>
      </vt:variant>
    </vt:vector>
  </HeadingPairs>
  <TitlesOfParts>
    <vt:vector size="38" baseType="lpstr">
      <vt:lpstr>Arial</vt:lpstr>
      <vt:lpstr>宋体</vt:lpstr>
      <vt:lpstr>Wingdings</vt:lpstr>
      <vt:lpstr>Arial</vt:lpstr>
      <vt:lpstr>微软雅黑</vt:lpstr>
      <vt:lpstr>等线</vt:lpstr>
      <vt:lpstr>Impact MT Std</vt:lpstr>
      <vt:lpstr>Noto Sans SC</vt:lpstr>
      <vt:lpstr>Times New Roman</vt:lpstr>
      <vt:lpstr>Arial Unicode MS</vt:lpstr>
      <vt:lpstr>Impact</vt:lpstr>
      <vt:lpstr>黑体</vt:lpstr>
      <vt:lpstr>Office 主题​​</vt:lpstr>
      <vt:lpstr>默认主题</vt:lpstr>
      <vt:lpstr>1_默认主题</vt:lpstr>
      <vt:lpstr>2_默认主题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WPS_1663687568</cp:lastModifiedBy>
  <cp:revision>19</cp:revision>
  <dcterms:created xsi:type="dcterms:W3CDTF">2026-05-02T04:14:00Z</dcterms:created>
  <dcterms:modified xsi:type="dcterms:W3CDTF">2026-05-13T11:49:05Z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2052-12.1.0.25865</vt:lpwstr>
  </property>
  <property fmtid="{D5CDD505-2E9C-101B-9397-08002B2CF9AE}" pid="3" name="ICV">
    <vt:lpwstr>937A889208B848E1B61003DF4E6C9711_12</vt:lpwstr>
  </property>
</Properties>
</file>